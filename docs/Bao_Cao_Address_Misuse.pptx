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7" r:id="rId7"/>
    <p:sldId id="261" r:id="rId8"/>
    <p:sldId id="263" r:id="rId9"/>
    <p:sldId id="266"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napToObjects="1">
      <p:cViewPr varScale="1">
        <p:scale>
          <a:sx n="75" d="100"/>
          <a:sy n="75" d="100"/>
        </p:scale>
        <p:origin x="739"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4823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Kính</a:t>
            </a:r>
            <a:r>
              <a:rPr dirty="0"/>
              <a:t> </a:t>
            </a:r>
            <a:r>
              <a:rPr dirty="0" err="1"/>
              <a:t>chào</a:t>
            </a:r>
            <a:r>
              <a:rPr dirty="0"/>
              <a:t> </a:t>
            </a:r>
            <a:r>
              <a:rPr dirty="0" err="1"/>
              <a:t>Thầy</a:t>
            </a:r>
            <a:r>
              <a:rPr dirty="0"/>
              <a:t> </a:t>
            </a:r>
            <a:r>
              <a:rPr dirty="0" err="1"/>
              <a:t>Trần</a:t>
            </a:r>
            <a:r>
              <a:rPr dirty="0"/>
              <a:t> Tuấn Dũng </a:t>
            </a:r>
            <a:r>
              <a:rPr dirty="0" err="1"/>
              <a:t>và</a:t>
            </a:r>
            <a:r>
              <a:rPr dirty="0"/>
              <a:t> </a:t>
            </a:r>
            <a:r>
              <a:rPr dirty="0" err="1"/>
              <a:t>các</a:t>
            </a:r>
            <a:r>
              <a:rPr dirty="0"/>
              <a:t> </a:t>
            </a:r>
            <a:r>
              <a:rPr dirty="0" err="1"/>
              <a:t>bạn</a:t>
            </a:r>
            <a:r>
              <a:rPr dirty="0"/>
              <a:t>. </a:t>
            </a:r>
            <a:r>
              <a:rPr dirty="0" err="1"/>
              <a:t>Chúng</a:t>
            </a:r>
            <a:r>
              <a:rPr dirty="0"/>
              <a:t> </a:t>
            </a:r>
            <a:r>
              <a:rPr dirty="0" err="1"/>
              <a:t>em</a:t>
            </a:r>
            <a:r>
              <a:rPr dirty="0"/>
              <a:t> </a:t>
            </a:r>
            <a:r>
              <a:rPr dirty="0" err="1"/>
              <a:t>gồm</a:t>
            </a:r>
            <a:r>
              <a:rPr dirty="0"/>
              <a:t> 3 </a:t>
            </a:r>
            <a:r>
              <a:rPr dirty="0" err="1"/>
              <a:t>thành</a:t>
            </a:r>
            <a:r>
              <a:rPr dirty="0"/>
              <a:t> </a:t>
            </a:r>
            <a:r>
              <a:rPr dirty="0" err="1"/>
              <a:t>viên</a:t>
            </a:r>
            <a:r>
              <a:rPr dirty="0"/>
              <a:t>: Lâm Tú Lan, Nguyễn Hoàng Long </a:t>
            </a:r>
            <a:r>
              <a:rPr dirty="0" err="1"/>
              <a:t>và</a:t>
            </a:r>
            <a:r>
              <a:rPr dirty="0"/>
              <a:t> Nguyễn Lê Thành Nam, </a:t>
            </a:r>
            <a:r>
              <a:rPr dirty="0" err="1"/>
              <a:t>xin</a:t>
            </a:r>
            <a:r>
              <a:rPr dirty="0"/>
              <a:t> </a:t>
            </a:r>
            <a:r>
              <a:rPr dirty="0" err="1"/>
              <a:t>đại</a:t>
            </a:r>
            <a:r>
              <a:rPr dirty="0"/>
              <a:t> </a:t>
            </a:r>
            <a:r>
              <a:rPr dirty="0" err="1"/>
              <a:t>diện</a:t>
            </a:r>
            <a:r>
              <a:rPr dirty="0"/>
              <a:t> </a:t>
            </a:r>
            <a:r>
              <a:rPr dirty="0" err="1"/>
              <a:t>nhóm</a:t>
            </a:r>
            <a:r>
              <a:rPr dirty="0"/>
              <a:t> </a:t>
            </a:r>
            <a:r>
              <a:rPr dirty="0" err="1"/>
              <a:t>báo</a:t>
            </a:r>
            <a:r>
              <a:rPr dirty="0"/>
              <a:t> </a:t>
            </a:r>
            <a:r>
              <a:rPr dirty="0" err="1"/>
              <a:t>cáo</a:t>
            </a:r>
            <a:r>
              <a:rPr dirty="0"/>
              <a:t> paper “Lost in Blockchain Address Misuse: Hidden Cross-Platform Risks and Their Security Impact”, </a:t>
            </a:r>
            <a:r>
              <a:rPr dirty="0" err="1"/>
              <a:t>công</a:t>
            </a:r>
            <a:r>
              <a:rPr dirty="0"/>
              <a:t> </a:t>
            </a:r>
            <a:r>
              <a:rPr dirty="0" err="1"/>
              <a:t>bố</a:t>
            </a:r>
            <a:r>
              <a:rPr dirty="0"/>
              <a:t> </a:t>
            </a:r>
            <a:r>
              <a:rPr dirty="0" err="1"/>
              <a:t>tại</a:t>
            </a:r>
            <a:r>
              <a:rPr dirty="0"/>
              <a:t> USENIX Security 2026.</a:t>
            </a:r>
          </a:p>
          <a:p>
            <a:r>
              <a:rPr dirty="0"/>
              <a:t>Paper </a:t>
            </a:r>
            <a:r>
              <a:rPr dirty="0" err="1"/>
              <a:t>nghiên</a:t>
            </a:r>
            <a:r>
              <a:rPr dirty="0"/>
              <a:t> </a:t>
            </a:r>
            <a:r>
              <a:rPr dirty="0" err="1"/>
              <a:t>cứu</a:t>
            </a:r>
            <a:r>
              <a:rPr dirty="0"/>
              <a:t> </a:t>
            </a:r>
            <a:r>
              <a:rPr dirty="0" err="1"/>
              <a:t>một</a:t>
            </a:r>
            <a:r>
              <a:rPr dirty="0"/>
              <a:t> </a:t>
            </a:r>
            <a:r>
              <a:rPr dirty="0" err="1"/>
              <a:t>lớp</a:t>
            </a:r>
            <a:r>
              <a:rPr dirty="0"/>
              <a:t> </a:t>
            </a:r>
            <a:r>
              <a:rPr dirty="0" err="1"/>
              <a:t>rủi</a:t>
            </a:r>
            <a:r>
              <a:rPr dirty="0"/>
              <a:t> </a:t>
            </a:r>
            <a:r>
              <a:rPr dirty="0" err="1"/>
              <a:t>ro</a:t>
            </a:r>
            <a:r>
              <a:rPr dirty="0"/>
              <a:t> </a:t>
            </a:r>
            <a:r>
              <a:rPr dirty="0" err="1"/>
              <a:t>trong</a:t>
            </a:r>
            <a:r>
              <a:rPr dirty="0"/>
              <a:t> </a:t>
            </a:r>
            <a:r>
              <a:rPr dirty="0" err="1"/>
              <a:t>hệ</a:t>
            </a:r>
            <a:r>
              <a:rPr dirty="0"/>
              <a:t> </a:t>
            </a:r>
            <a:r>
              <a:rPr dirty="0" err="1"/>
              <a:t>sinh</a:t>
            </a:r>
            <a:r>
              <a:rPr dirty="0"/>
              <a:t> </a:t>
            </a:r>
            <a:r>
              <a:rPr dirty="0" err="1"/>
              <a:t>thái</a:t>
            </a:r>
            <a:r>
              <a:rPr dirty="0"/>
              <a:t> EVM: CA Misuse </a:t>
            </a:r>
            <a:r>
              <a:rPr dirty="0" err="1"/>
              <a:t>và</a:t>
            </a:r>
            <a:r>
              <a:rPr dirty="0"/>
              <a:t> EOA Misuse, </a:t>
            </a:r>
            <a:r>
              <a:rPr dirty="0" err="1"/>
              <a:t>cùng</a:t>
            </a:r>
            <a:r>
              <a:rPr dirty="0"/>
              <a:t> </a:t>
            </a:r>
            <a:r>
              <a:rPr dirty="0" err="1"/>
              <a:t>các</a:t>
            </a:r>
            <a:r>
              <a:rPr dirty="0"/>
              <a:t> vector </a:t>
            </a:r>
            <a:r>
              <a:rPr dirty="0" err="1"/>
              <a:t>tấn</a:t>
            </a:r>
            <a:r>
              <a:rPr dirty="0"/>
              <a:t> </a:t>
            </a:r>
            <a:r>
              <a:rPr dirty="0" err="1"/>
              <a:t>công</a:t>
            </a:r>
            <a:r>
              <a:rPr dirty="0"/>
              <a:t> </a:t>
            </a:r>
            <a:r>
              <a:rPr dirty="0" err="1"/>
              <a:t>mới</a:t>
            </a:r>
            <a:r>
              <a:rPr dirty="0"/>
              <a:t> </a:t>
            </a:r>
            <a:r>
              <a:rPr dirty="0" err="1"/>
              <a:t>và</a:t>
            </a:r>
            <a:r>
              <a:rPr dirty="0"/>
              <a:t> </a:t>
            </a:r>
            <a:r>
              <a:rPr dirty="0" err="1"/>
              <a:t>tác</a:t>
            </a:r>
            <a:r>
              <a:rPr dirty="0"/>
              <a:t> </a:t>
            </a:r>
            <a:r>
              <a:rPr dirty="0" err="1"/>
              <a:t>động</a:t>
            </a:r>
            <a:r>
              <a:rPr dirty="0"/>
              <a:t> </a:t>
            </a:r>
            <a:r>
              <a:rPr dirty="0" err="1"/>
              <a:t>tài</a:t>
            </a:r>
            <a:r>
              <a:rPr dirty="0"/>
              <a:t> </a:t>
            </a:r>
            <a:r>
              <a:rPr dirty="0" err="1"/>
              <a:t>sản</a:t>
            </a:r>
            <a:r>
              <a:rPr dirty="0"/>
              <a:t> </a:t>
            </a:r>
            <a:r>
              <a:rPr dirty="0" err="1"/>
              <a:t>đo</a:t>
            </a:r>
            <a:r>
              <a:rPr dirty="0"/>
              <a:t> </a:t>
            </a:r>
            <a:r>
              <a:rPr dirty="0" err="1"/>
              <a:t>lường</a:t>
            </a:r>
            <a:r>
              <a:rPr dirty="0"/>
              <a:t> </a:t>
            </a:r>
            <a:r>
              <a:rPr dirty="0" err="1"/>
              <a:t>được</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báo cáo gồm 6 phần: động lực và quy mô; hai cơ chế Address Misuse; hai vector tấn công mới; phương pháp phát hiện của bài báo; các research gaps/limitations; và hai hướng cải tiến tiếp theo cùng lộ trình.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Động lực của paper nằm ở việc address vừa là định danh tài khoản vừa gắn với tài sản, trong khi cùng một chuỗi 0x... có thể có semantics khác nhau giữa các network. Paper đo lường rủi ro này trên Ethereum và BSC và cho thấy quy mô tổn thất đáng kể.</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hiểu rõ bản chất, bài báo phân tách thành 2 cơ chế độc lập:</a:t>
            </a:r>
          </a:p>
          <a:p>
            <a:r>
              <a:t>1. CA Misuse: Người dùng muốn gọi smart contract nhưng gửi nhầm vào địa chỉ chưa có mã bytecode (NCA). EVM có thiết kế ngầm là 'Silent Success' - không ném lỗi mà coi đó là giao dịch gửi Ether đơn thuần, lờ đi phần dữ liệu gọi hàm, dẫn tới tiền bị kẹt.</a:t>
            </a:r>
          </a:p>
          <a:p>
            <a:r>
              <a:t>2. EOA Misuse: Người dùng lấy phải private key công khai từ mạng internet, chuyển tài sản vào ví đó. Kẻ tấn công cắm sẵn bot quét mempool, ngay khi thấy số dư là gửi giao dịch rút tiền với phí gas cao ngất ngưởng để ẵm trọn.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báo chỉ ra hai vector tấn công tinh vi mang tính đón đầu:</a:t>
            </a:r>
          </a:p>
          <a:p>
            <a:r>
              <a:t>Vector 1 là CREATE Trap: Công thức tính địa chỉ của lệnh CREATE trong EVM chỉ phụ thuộc vào Deployer và Nonce mà không phụ thuộc chainId. Kẻ tấn công tạo hợp đồng ở Testnet, chờ người dùng gửi nhầm vào Mainnet tích lũy tiền, sau đó deploy đúng nonce ở Mainnet để rút tiền.</a:t>
            </a:r>
          </a:p>
          <a:p>
            <a:r>
              <a:t>Vector 2 là vũ khí hóa chuẩn mới EIP-7702: Kẻ tấn công gắn logic rút tiền trực tiếp vào tài khoản EOA, biến giao dịch nạp tiền và rút tiền thành một chu kỳ nguyên tử (atomic transaction), vô hiệu hóa hoàn toàn cơ hội cứu tài sản của nạn nhân.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94E3C-7E5E-2C93-54EB-E66292CEC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56DEA-3EDF-667B-9276-BFE5B62F471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21A581A-711A-89AC-2712-B0B35FBB437C}"/>
              </a:ext>
            </a:extLst>
          </p:cNvPr>
          <p:cNvSpPr>
            <a:spLocks noGrp="1"/>
          </p:cNvSpPr>
          <p:nvPr>
            <p:ph type="body" sz="quarter" idx="3"/>
          </p:nvPr>
        </p:nvSpPr>
        <p:spPr/>
        <p:txBody>
          <a:bodyPr/>
          <a:lstStyle/>
          <a:p>
            <a:r>
              <a:t>Bài báo chỉ ra hai vector tấn công tinh vi mang tính đón đầu:</a:t>
            </a:r>
          </a:p>
          <a:p>
            <a:r>
              <a:t>Vector 1 là CREATE Trap: Công thức tính địa chỉ của lệnh CREATE trong EVM chỉ phụ thuộc vào Deployer và Nonce mà không phụ thuộc chainId. Kẻ tấn công tạo hợp đồng ở Testnet, chờ người dùng gửi nhầm vào Mainnet tích lũy tiền, sau đó deploy đúng nonce ở Mainnet để rút tiền.</a:t>
            </a:r>
          </a:p>
          <a:p>
            <a:r>
              <a:t>Vector 2 là vũ khí hóa chuẩn mới EIP-7702: Kẻ tấn công gắn logic rút tiền trực tiếp vào tài khoản EOA, biến giao dịch nạp tiền và rút tiền thành một chu kỳ nguyên tử (atomic transaction), vô hiệu hóa hoàn toàn cơ hội cứu tài sản của nạn nhân.</a:t>
            </a:r>
          </a:p>
        </p:txBody>
      </p:sp>
      <p:sp>
        <p:nvSpPr>
          <p:cNvPr id="4" name="Slide Number Placeholder 3">
            <a:extLst>
              <a:ext uri="{FF2B5EF4-FFF2-40B4-BE49-F238E27FC236}">
                <a16:creationId xmlns:a16="http://schemas.microsoft.com/office/drawing/2014/main" id="{6BF49DE6-F50B-EB47-D795-ECD14BFC379A}"/>
              </a:ext>
            </a:extLst>
          </p:cNvPr>
          <p:cNvSpPr>
            <a:spLocks noGrp="1"/>
          </p:cNvSpPr>
          <p:nvPr>
            <p:ph type="sldNum" sz="quarter" idx="5"/>
          </p:nvPr>
        </p:nvSpPr>
        <p:spPr/>
      </p:sp>
    </p:spTree>
    <p:extLst>
      <p:ext uri="{BB962C8B-B14F-4D97-AF65-F5344CB8AC3E}">
        <p14:creationId xmlns:p14="http://schemas.microsoft.com/office/powerpoint/2010/main" val="802657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Phương pháp luận bài báo gồm 4 giai đoạn: (1) thu thập dữ liệu nguồn mở từ GitHub và Stack Exchange; (2) truy vấn dữ liệu on-chain bằng Etherscan API trên Ethereum và BSC; (3) kết hợp heuristic rules, transaction pattern analysis và lightweight symbolic execution; (4) lấy mẫu phân tầng và manual audit để đánh giá độ chính xác.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báo xây dựng bộ detector gồm hai module chính.</a:t>
            </a:r>
          </a:p>
          <a:p>
            <a:r>
              <a:t>Module CA Misuse kiểm tra trạng thái code của target address và calldata để nhận diện giao dịch hướng tới NCA; đồng thời lọc các trường hợp dễ gây false positive.</a:t>
            </a:r>
          </a:p>
          <a:p>
            <a:r>
              <a:t>Module EOA Misuse đối soát private key bị lộ, phân tích transaction sweep, và kiểm tra prefix 0xef0100 cho EIP-7702.</a:t>
            </a:r>
          </a:p>
          <a:p>
            <a:r>
              <a:t>Các kết quả được xác nhận bằng sampling và manual audit.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Từ các khoảng trống trên, nhóm dự kiến tập trung vào hai hướng liên kết với nhau.</a:t>
            </a:r>
          </a:p>
          <a:p>
            <a:r>
              <a:t>Một là Cross-chain Guard: kiểm tra address consistency giữa các chain và phân tích khả năng tái triển khai bằng CREATE/CREATE2.</a:t>
            </a:r>
          </a:p>
          <a:p>
            <a:r>
              <a:t>Hai là Wallet-side Warning: đưa kết quả kiểm tra lên phía ví để cảnh báo trước khi người dùng ký giao dịch.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Sau khi xác định hai hướng cải tiến, lộ trình dự kiến gồm bốn bước: chuẩn bị các case cross-chain và dữ liệu testnet; xây Cross-chain Guard; tích hợp Wallet-side Warning; sau đó kiểm thử và đánh giá false positives/negatives để hoàn thiện demo.</a:t>
            </a:r>
          </a:p>
          <a:p>
            <a:r>
              <a:t>Thông điệp kết luận: paper cho thấy Address Misuse là một rủi ro thực tế trên hệ sinh thái EVM; hướng tiếp theo của nhóm là chuyển từ phát hiện sang kiểm tra cross-chain và phòng vệ trước khi ký giao dịch.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2959" y="828115"/>
            <a:ext cx="6217920" cy="1477328"/>
          </a:xfrm>
          <a:prstGeom prst="rect">
            <a:avLst/>
          </a:prstGeom>
          <a:noFill/>
        </p:spPr>
        <p:txBody>
          <a:bodyPr wrap="square" lIns="0" tIns="0" rIns="0" bIns="0">
            <a:spAutoFit/>
          </a:bodyPr>
          <a:lstStyle/>
          <a:p>
            <a:pPr>
              <a:defRPr sz="4600" b="1">
                <a:solidFill>
                  <a:srgbClr val="0F172A"/>
                </a:solidFill>
                <a:latin typeface="Arial"/>
              </a:defRPr>
            </a:pPr>
            <a:r>
              <a:rPr lang="en-US" sz="3200" b="1" dirty="0">
                <a:solidFill>
                  <a:srgbClr val="0F172A"/>
                </a:solidFill>
                <a:latin typeface="Arial"/>
              </a:rPr>
              <a:t>Lost in Blockchain Address Misuse: Hidden Cross-Platform Risks and Their Security Impact</a:t>
            </a:r>
            <a:endParaRPr sz="3200" dirty="0"/>
          </a:p>
        </p:txBody>
      </p:sp>
      <p:sp>
        <p:nvSpPr>
          <p:cNvPr id="103" name="WavyLine_103"/>
          <p:cNvSpPr/>
          <p:nvPr/>
        </p:nvSpPr>
        <p:spPr>
          <a:xfrm>
            <a:off x="822959" y="2598841"/>
            <a:ext cx="5486400" cy="182880"/>
          </a:xfrm>
          <a:custGeom>
            <a:avLst/>
            <a:gdLst/>
            <a:ahLst/>
            <a:cxnLst/>
            <a:rect l="0" t="0" r="5486400" b="182880"/>
            <a:pathLst>
              <a:path w="5486400" h="182880" fill="none">
                <a:moveTo>
                  <a:pt x="0" y="91440"/>
                </a:moveTo>
                <a:cubicBezTo>
                  <a:pt x="59436" y="15240"/>
                  <a:pt x="59436" y="15240"/>
                  <a:pt x="118872" y="91440"/>
                </a:cubicBezTo>
                <a:cubicBezTo>
                  <a:pt x="178308" y="167640"/>
                  <a:pt x="178308" y="167640"/>
                  <a:pt x="237744" y="91440"/>
                </a:cubicBezTo>
                <a:cubicBezTo>
                  <a:pt x="297180" y="15240"/>
                  <a:pt x="297180" y="15240"/>
                  <a:pt x="356616" y="91440"/>
                </a:cubicBezTo>
                <a:cubicBezTo>
                  <a:pt x="416052" y="167640"/>
                  <a:pt x="416052" y="167640"/>
                  <a:pt x="475488" y="91440"/>
                </a:cubicBezTo>
                <a:cubicBezTo>
                  <a:pt x="534924" y="15240"/>
                  <a:pt x="534924" y="15240"/>
                  <a:pt x="594360" y="91440"/>
                </a:cubicBezTo>
                <a:cubicBezTo>
                  <a:pt x="653796" y="167640"/>
                  <a:pt x="653796" y="167640"/>
                  <a:pt x="713232" y="91440"/>
                </a:cubicBezTo>
                <a:cubicBezTo>
                  <a:pt x="772668" y="15240"/>
                  <a:pt x="772668" y="15240"/>
                  <a:pt x="832104" y="91440"/>
                </a:cubicBezTo>
                <a:cubicBezTo>
                  <a:pt x="891540" y="167640"/>
                  <a:pt x="891540" y="167640"/>
                  <a:pt x="950976" y="91440"/>
                </a:cubicBezTo>
                <a:cubicBezTo>
                  <a:pt x="1010412" y="15240"/>
                  <a:pt x="1010412" y="15240"/>
                  <a:pt x="1069848" y="91440"/>
                </a:cubicBezTo>
                <a:cubicBezTo>
                  <a:pt x="1129284" y="167640"/>
                  <a:pt x="1129284" y="167640"/>
                  <a:pt x="1188720" y="91440"/>
                </a:cubicBezTo>
                <a:cubicBezTo>
                  <a:pt x="1248156" y="15240"/>
                  <a:pt x="1248156" y="15240"/>
                  <a:pt x="1307592" y="91440"/>
                </a:cubicBezTo>
                <a:cubicBezTo>
                  <a:pt x="1367028" y="167640"/>
                  <a:pt x="1367028" y="167640"/>
                  <a:pt x="1426464" y="91440"/>
                </a:cubicBezTo>
                <a:cubicBezTo>
                  <a:pt x="1485900" y="15240"/>
                  <a:pt x="1485900" y="15240"/>
                  <a:pt x="1545336" y="91440"/>
                </a:cubicBezTo>
                <a:cubicBezTo>
                  <a:pt x="1604772" y="167640"/>
                  <a:pt x="1604772" y="167640"/>
                  <a:pt x="1664208" y="91440"/>
                </a:cubicBezTo>
                <a:cubicBezTo>
                  <a:pt x="1723644" y="15240"/>
                  <a:pt x="1723644" y="15240"/>
                  <a:pt x="1783080" y="91440"/>
                </a:cubicBezTo>
                <a:cubicBezTo>
                  <a:pt x="1842516" y="167640"/>
                  <a:pt x="1842516" y="167640"/>
                  <a:pt x="1901952" y="91440"/>
                </a:cubicBezTo>
                <a:cubicBezTo>
                  <a:pt x="1961388" y="15240"/>
                  <a:pt x="1961388" y="15240"/>
                  <a:pt x="2020824" y="91440"/>
                </a:cubicBezTo>
                <a:cubicBezTo>
                  <a:pt x="2080260" y="167640"/>
                  <a:pt x="2080260" y="167640"/>
                  <a:pt x="2139696" y="91440"/>
                </a:cubicBezTo>
                <a:cubicBezTo>
                  <a:pt x="2199132" y="15240"/>
                  <a:pt x="2199132" y="15240"/>
                  <a:pt x="2258568" y="91440"/>
                </a:cubicBezTo>
                <a:cubicBezTo>
                  <a:pt x="2318004" y="167640"/>
                  <a:pt x="2318004" y="167640"/>
                  <a:pt x="2377440" y="91440"/>
                </a:cubicBezTo>
                <a:cubicBezTo>
                  <a:pt x="2436876" y="15240"/>
                  <a:pt x="2436876" y="15240"/>
                  <a:pt x="2496312" y="91440"/>
                </a:cubicBezTo>
                <a:cubicBezTo>
                  <a:pt x="2555748" y="167640"/>
                  <a:pt x="2555748" y="167640"/>
                  <a:pt x="2615184" y="91440"/>
                </a:cubicBezTo>
                <a:cubicBezTo>
                  <a:pt x="2674620" y="15240"/>
                  <a:pt x="2674620" y="15240"/>
                  <a:pt x="2734056" y="91440"/>
                </a:cubicBezTo>
                <a:cubicBezTo>
                  <a:pt x="2793492" y="167640"/>
                  <a:pt x="2793492" y="167640"/>
                  <a:pt x="2852928" y="91440"/>
                </a:cubicBezTo>
                <a:cubicBezTo>
                  <a:pt x="2912364" y="15240"/>
                  <a:pt x="2912364" y="15240"/>
                  <a:pt x="2971800" y="91440"/>
                </a:cubicBezTo>
                <a:cubicBezTo>
                  <a:pt x="3031236" y="167640"/>
                  <a:pt x="3031236" y="167640"/>
                  <a:pt x="3090672" y="91440"/>
                </a:cubicBezTo>
                <a:cubicBezTo>
                  <a:pt x="3150108" y="15240"/>
                  <a:pt x="3150108" y="15240"/>
                  <a:pt x="3209544" y="91440"/>
                </a:cubicBezTo>
                <a:cubicBezTo>
                  <a:pt x="3268980" y="167640"/>
                  <a:pt x="3268980" y="167640"/>
                  <a:pt x="3328416" y="91440"/>
                </a:cubicBezTo>
                <a:cubicBezTo>
                  <a:pt x="3387852" y="15240"/>
                  <a:pt x="3387852" y="15240"/>
                  <a:pt x="3447288" y="91440"/>
                </a:cubicBezTo>
                <a:cubicBezTo>
                  <a:pt x="3506724" y="167640"/>
                  <a:pt x="3506724" y="167640"/>
                  <a:pt x="3566160" y="91440"/>
                </a:cubicBezTo>
                <a:cubicBezTo>
                  <a:pt x="3625596" y="15240"/>
                  <a:pt x="3625596" y="15240"/>
                  <a:pt x="3685032" y="91440"/>
                </a:cubicBezTo>
                <a:cubicBezTo>
                  <a:pt x="3744468" y="167640"/>
                  <a:pt x="3744468" y="167640"/>
                  <a:pt x="3803904" y="91440"/>
                </a:cubicBezTo>
                <a:cubicBezTo>
                  <a:pt x="3863340" y="15240"/>
                  <a:pt x="3863340" y="15240"/>
                  <a:pt x="3922776" y="91440"/>
                </a:cubicBezTo>
                <a:cubicBezTo>
                  <a:pt x="3982212" y="167640"/>
                  <a:pt x="3982212" y="167640"/>
                  <a:pt x="4041648" y="91440"/>
                </a:cubicBezTo>
                <a:cubicBezTo>
                  <a:pt x="4101084" y="15240"/>
                  <a:pt x="4101084" y="15240"/>
                  <a:pt x="4160520" y="91440"/>
                </a:cubicBezTo>
                <a:cubicBezTo>
                  <a:pt x="4219956" y="167640"/>
                  <a:pt x="4219956" y="167640"/>
                  <a:pt x="4279392" y="91440"/>
                </a:cubicBezTo>
                <a:cubicBezTo>
                  <a:pt x="4338828" y="15240"/>
                  <a:pt x="4338828" y="15240"/>
                  <a:pt x="4398264" y="91440"/>
                </a:cubicBezTo>
                <a:cubicBezTo>
                  <a:pt x="4457700" y="167640"/>
                  <a:pt x="4457700" y="167640"/>
                  <a:pt x="4517136" y="91440"/>
                </a:cubicBezTo>
                <a:cubicBezTo>
                  <a:pt x="4576572" y="15240"/>
                  <a:pt x="4576572" y="15240"/>
                  <a:pt x="4636008" y="91440"/>
                </a:cubicBezTo>
                <a:cubicBezTo>
                  <a:pt x="4695444" y="167640"/>
                  <a:pt x="4695444" y="167640"/>
                  <a:pt x="4754880" y="91440"/>
                </a:cubicBezTo>
                <a:cubicBezTo>
                  <a:pt x="4814316" y="15240"/>
                  <a:pt x="4814316" y="15240"/>
                  <a:pt x="4873752" y="91440"/>
                </a:cubicBezTo>
                <a:cubicBezTo>
                  <a:pt x="4933188" y="167640"/>
                  <a:pt x="4933188" y="167640"/>
                  <a:pt x="4992624" y="91440"/>
                </a:cubicBezTo>
                <a:cubicBezTo>
                  <a:pt x="5052060" y="15240"/>
                  <a:pt x="5052060" y="15240"/>
                  <a:pt x="5111496" y="91440"/>
                </a:cubicBezTo>
                <a:cubicBezTo>
                  <a:pt x="5170932" y="167640"/>
                  <a:pt x="5170932" y="167640"/>
                  <a:pt x="5230368" y="91440"/>
                </a:cubicBezTo>
                <a:cubicBezTo>
                  <a:pt x="5289804" y="15240"/>
                  <a:pt x="5289804" y="15240"/>
                  <a:pt x="5349240" y="91440"/>
                </a:cubicBezTo>
                <a:cubicBezTo>
                  <a:pt x="5408676" y="167640"/>
                  <a:pt x="5408676" y="167640"/>
                  <a:pt x="5468112" y="91440"/>
                </a:cubicBezTo>
              </a:path>
            </a:pathLst>
          </a:custGeom>
          <a:ln w="42000">
            <a:solidFill>
              <a:srgbClr val="4F46E5"/>
            </a:solidFill>
            <a:round/>
          </a:ln>
        </p:spPr>
        <p:txBody>
          <a:bodyPr/>
          <a:lstStyle/>
          <a:p>
            <a:endParaRPr lang="en-US"/>
          </a:p>
        </p:txBody>
      </p:sp>
      <p:sp>
        <p:nvSpPr>
          <p:cNvPr id="104" name="TextBox 103"/>
          <p:cNvSpPr txBox="1"/>
          <p:nvPr/>
        </p:nvSpPr>
        <p:spPr>
          <a:xfrm>
            <a:off x="822959" y="2931235"/>
            <a:ext cx="6462064" cy="1077218"/>
          </a:xfrm>
          <a:prstGeom prst="rect">
            <a:avLst/>
          </a:prstGeom>
          <a:noFill/>
        </p:spPr>
        <p:txBody>
          <a:bodyPr wrap="square">
            <a:spAutoFit/>
          </a:bodyPr>
          <a:lstStyle/>
          <a:p>
            <a:pPr>
              <a:defRPr sz="2200" b="1">
                <a:solidFill>
                  <a:srgbClr val="1E293B"/>
                </a:solidFill>
                <a:latin typeface="Arial"/>
              </a:defRPr>
            </a:pPr>
            <a:r>
              <a:rPr sz="2400" dirty="0" err="1"/>
              <a:t>Rủi</a:t>
            </a:r>
            <a:r>
              <a:rPr sz="2400" dirty="0"/>
              <a:t> </a:t>
            </a:r>
            <a:r>
              <a:rPr sz="2400" dirty="0" err="1"/>
              <a:t>ro</a:t>
            </a:r>
            <a:r>
              <a:rPr sz="2400" dirty="0"/>
              <a:t> </a:t>
            </a:r>
            <a:r>
              <a:rPr sz="2400" dirty="0" err="1"/>
              <a:t>ẩn</a:t>
            </a:r>
            <a:r>
              <a:rPr sz="2400" dirty="0"/>
              <a:t> </a:t>
            </a:r>
            <a:r>
              <a:rPr sz="2400" dirty="0" err="1"/>
              <a:t>và</a:t>
            </a:r>
            <a:r>
              <a:rPr sz="2400" dirty="0"/>
              <a:t> </a:t>
            </a:r>
            <a:r>
              <a:rPr sz="2400" dirty="0" err="1"/>
              <a:t>tác</a:t>
            </a:r>
            <a:r>
              <a:rPr sz="2400" dirty="0"/>
              <a:t> </a:t>
            </a:r>
            <a:r>
              <a:rPr sz="2400" dirty="0" err="1"/>
              <a:t>động</a:t>
            </a:r>
            <a:r>
              <a:rPr sz="2400" dirty="0"/>
              <a:t> an </a:t>
            </a:r>
            <a:r>
              <a:rPr sz="2400" dirty="0" err="1"/>
              <a:t>ninh</a:t>
            </a:r>
            <a:r>
              <a:rPr sz="2400" dirty="0"/>
              <a:t> </a:t>
            </a:r>
            <a:r>
              <a:rPr sz="2400" dirty="0" err="1"/>
              <a:t>đa</a:t>
            </a:r>
            <a:r>
              <a:rPr sz="2400" dirty="0"/>
              <a:t> </a:t>
            </a:r>
            <a:r>
              <a:rPr sz="2400" dirty="0" err="1"/>
              <a:t>nền</a:t>
            </a:r>
            <a:r>
              <a:rPr sz="2400" dirty="0"/>
              <a:t> </a:t>
            </a:r>
            <a:r>
              <a:rPr sz="2400" dirty="0" err="1"/>
              <a:t>tảng</a:t>
            </a:r>
            <a:r>
              <a:rPr sz="2400" dirty="0"/>
              <a:t> </a:t>
            </a:r>
            <a:r>
              <a:rPr sz="2400" dirty="0" err="1"/>
              <a:t>trong</a:t>
            </a:r>
            <a:r>
              <a:rPr sz="2400" dirty="0"/>
              <a:t> EVM</a:t>
            </a:r>
          </a:p>
          <a:p>
            <a:pPr>
              <a:defRPr sz="1600">
                <a:solidFill>
                  <a:srgbClr val="475569"/>
                </a:solidFill>
                <a:latin typeface="Arial"/>
              </a:defRPr>
            </a:pPr>
            <a:r>
              <a:rPr dirty="0" err="1"/>
              <a:t>Cơ chế Address Misuse, hai vector tấn công và hướng cải tiến</a:t>
            </a:r>
            <a:endParaRPr dirty="0"/>
          </a:p>
        </p:txBody>
      </p:sp>
      <p:sp>
        <p:nvSpPr>
          <p:cNvPr id="105" name="Rounded Rectangle 104"/>
          <p:cNvSpPr/>
          <p:nvPr/>
        </p:nvSpPr>
        <p:spPr>
          <a:xfrm>
            <a:off x="822959" y="4394275"/>
            <a:ext cx="6035040" cy="16916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09728" rIns="182880" rtlCol="0" anchor="ctr"/>
          <a:lstStyle/>
          <a:p>
            <a:pPr algn="ctr">
              <a:spcAft>
                <a:spcPts val="400"/>
              </a:spcAft>
              <a:defRPr sz="1550" b="1">
                <a:solidFill>
                  <a:srgbClr val="4F46E5"/>
                </a:solidFill>
                <a:latin typeface="Arial"/>
              </a:defRPr>
            </a:pPr>
            <a:r>
              <a:rPr dirty="0"/>
              <a:t>GVHD: </a:t>
            </a:r>
            <a:r>
              <a:rPr dirty="0" err="1"/>
              <a:t>ThS</a:t>
            </a:r>
            <a:r>
              <a:rPr dirty="0"/>
              <a:t>. </a:t>
            </a:r>
            <a:r>
              <a:rPr dirty="0" err="1"/>
              <a:t>Trần</a:t>
            </a:r>
            <a:r>
              <a:rPr dirty="0"/>
              <a:t> </a:t>
            </a:r>
            <a:r>
              <a:rPr dirty="0" err="1"/>
              <a:t>Tuấn</a:t>
            </a:r>
            <a:r>
              <a:rPr dirty="0"/>
              <a:t> </a:t>
            </a:r>
            <a:r>
              <a:rPr dirty="0" err="1"/>
              <a:t>Dũng</a:t>
            </a:r>
            <a:endParaRPr dirty="0"/>
          </a:p>
          <a:p>
            <a:pPr>
              <a:spcAft>
                <a:spcPts val="200"/>
              </a:spcAft>
              <a:defRPr sz="1350" b="1">
                <a:solidFill>
                  <a:srgbClr val="1E293B"/>
                </a:solidFill>
                <a:latin typeface="Arial"/>
              </a:defRPr>
            </a:pPr>
            <a:r>
              <a:rPr dirty="0" err="1"/>
              <a:t>Sinh</a:t>
            </a:r>
            <a:r>
              <a:rPr dirty="0"/>
              <a:t> </a:t>
            </a:r>
            <a:r>
              <a:rPr dirty="0" err="1"/>
              <a:t>viên</a:t>
            </a:r>
            <a:r>
              <a:rPr dirty="0"/>
              <a:t> </a:t>
            </a:r>
            <a:r>
              <a:rPr dirty="0" err="1"/>
              <a:t>thực</a:t>
            </a:r>
            <a:r>
              <a:rPr dirty="0"/>
              <a:t> </a:t>
            </a:r>
            <a:r>
              <a:rPr dirty="0" err="1"/>
              <a:t>hiện</a:t>
            </a:r>
            <a:r>
              <a:rPr dirty="0"/>
              <a:t> </a:t>
            </a:r>
            <a:r>
              <a:rPr dirty="0" err="1"/>
              <a:t>đề</a:t>
            </a:r>
            <a:r>
              <a:rPr dirty="0"/>
              <a:t> </a:t>
            </a:r>
            <a:r>
              <a:rPr dirty="0" err="1"/>
              <a:t>tài</a:t>
            </a:r>
            <a:r>
              <a:rPr dirty="0"/>
              <a:t>:</a:t>
            </a:r>
          </a:p>
          <a:p>
            <a:pPr>
              <a:spcAft>
                <a:spcPts val="200"/>
              </a:spcAft>
              <a:defRPr sz="1300">
                <a:solidFill>
                  <a:srgbClr val="1E293B"/>
                </a:solidFill>
                <a:latin typeface="Arial"/>
              </a:defRPr>
            </a:pPr>
            <a:r>
              <a:rPr dirty="0">
                <a:solidFill>
                  <a:schemeClr val="tx1"/>
                </a:solidFill>
              </a:rPr>
              <a:t>• </a:t>
            </a:r>
            <a:r>
              <a:rPr dirty="0" err="1">
                <a:solidFill>
                  <a:schemeClr val="tx1"/>
                </a:solidFill>
              </a:rPr>
              <a:t>Lâm</a:t>
            </a:r>
            <a:r>
              <a:rPr dirty="0">
                <a:solidFill>
                  <a:schemeClr val="tx1"/>
                </a:solidFill>
              </a:rPr>
              <a:t> </a:t>
            </a:r>
            <a:r>
              <a:rPr dirty="0" err="1">
                <a:solidFill>
                  <a:schemeClr val="tx1"/>
                </a:solidFill>
              </a:rPr>
              <a:t>Tú</a:t>
            </a:r>
            <a:r>
              <a:rPr dirty="0">
                <a:solidFill>
                  <a:schemeClr val="tx1"/>
                </a:solidFill>
              </a:rPr>
              <a:t> Lan — MSSV: 24520943</a:t>
            </a:r>
          </a:p>
          <a:p>
            <a:pPr>
              <a:spcAft>
                <a:spcPts val="200"/>
              </a:spcAft>
              <a:defRPr sz="1300">
                <a:solidFill>
                  <a:srgbClr val="1E293B"/>
                </a:solidFill>
                <a:latin typeface="Arial"/>
              </a:defRPr>
            </a:pPr>
            <a:r>
              <a:rPr dirty="0">
                <a:solidFill>
                  <a:schemeClr val="tx1"/>
                </a:solidFill>
              </a:rPr>
              <a:t>• </a:t>
            </a:r>
            <a:r>
              <a:rPr dirty="0" err="1">
                <a:solidFill>
                  <a:schemeClr val="tx1"/>
                </a:solidFill>
              </a:rPr>
              <a:t>Nguyễn</a:t>
            </a:r>
            <a:r>
              <a:rPr dirty="0">
                <a:solidFill>
                  <a:schemeClr val="tx1"/>
                </a:solidFill>
              </a:rPr>
              <a:t> </a:t>
            </a:r>
            <a:r>
              <a:rPr dirty="0" err="1">
                <a:solidFill>
                  <a:schemeClr val="tx1"/>
                </a:solidFill>
              </a:rPr>
              <a:t>Hoàng</a:t>
            </a:r>
            <a:r>
              <a:rPr dirty="0">
                <a:solidFill>
                  <a:schemeClr val="tx1"/>
                </a:solidFill>
              </a:rPr>
              <a:t> Long — MSSV: 24521005</a:t>
            </a:r>
          </a:p>
          <a:p>
            <a:pPr>
              <a:defRPr sz="1300">
                <a:solidFill>
                  <a:srgbClr val="1E293B"/>
                </a:solidFill>
                <a:latin typeface="Arial"/>
              </a:defRPr>
            </a:pPr>
            <a:r>
              <a:rPr dirty="0">
                <a:solidFill>
                  <a:schemeClr val="tx1"/>
                </a:solidFill>
              </a:rPr>
              <a:t>• </a:t>
            </a:r>
            <a:r>
              <a:rPr dirty="0" err="1">
                <a:solidFill>
                  <a:schemeClr val="tx1"/>
                </a:solidFill>
              </a:rPr>
              <a:t>Nguyễn</a:t>
            </a:r>
            <a:r>
              <a:rPr dirty="0">
                <a:solidFill>
                  <a:schemeClr val="tx1"/>
                </a:solidFill>
              </a:rPr>
              <a:t> </a:t>
            </a:r>
            <a:r>
              <a:rPr dirty="0" err="1">
                <a:solidFill>
                  <a:schemeClr val="tx1"/>
                </a:solidFill>
              </a:rPr>
              <a:t>Lê</a:t>
            </a:r>
            <a:r>
              <a:rPr dirty="0">
                <a:solidFill>
                  <a:schemeClr val="tx1"/>
                </a:solidFill>
              </a:rPr>
              <a:t> </a:t>
            </a:r>
            <a:r>
              <a:rPr dirty="0" err="1">
                <a:solidFill>
                  <a:schemeClr val="tx1"/>
                </a:solidFill>
              </a:rPr>
              <a:t>Thành</a:t>
            </a:r>
            <a:r>
              <a:rPr dirty="0">
                <a:solidFill>
                  <a:schemeClr val="tx1"/>
                </a:solidFill>
              </a:rPr>
              <a:t> Nam — MSSV: 24521113</a:t>
            </a:r>
          </a:p>
        </p:txBody>
      </p:sp>
      <p:sp>
        <p:nvSpPr>
          <p:cNvPr id="106" name="Rounded Rectangle 105"/>
          <p:cNvSpPr/>
          <p:nvPr/>
        </p:nvSpPr>
        <p:spPr>
          <a:xfrm>
            <a:off x="7467447" y="685800"/>
            <a:ext cx="4389120" cy="5715000"/>
          </a:xfrm>
          <a:prstGeom prst="roundRect">
            <a:avLst/>
          </a:prstGeom>
          <a:solidFill>
            <a:srgbClr val="EEF2FF"/>
          </a:solidFill>
          <a:ln w="254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7955279" y="1070821"/>
            <a:ext cx="3474720" cy="438912"/>
          </a:xfrm>
          <a:prstGeom prst="roundRect">
            <a:avLst/>
          </a:prstGeom>
          <a:solidFill>
            <a:srgbClr val="FFFFFF"/>
          </a:solidFill>
          <a:ln>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4F46E5"/>
                </a:solidFill>
                <a:latin typeface="Arial"/>
              </a:defRPr>
            </a:pPr>
            <a:r>
              <a:rPr dirty="0"/>
              <a:t>WEB3 SECURITY AUDIT LAB</a:t>
            </a:r>
          </a:p>
        </p:txBody>
      </p:sp>
      <p:sp>
        <p:nvSpPr>
          <p:cNvPr id="108" name="Rounded Rectangle 107"/>
          <p:cNvSpPr/>
          <p:nvPr/>
        </p:nvSpPr>
        <p:spPr>
          <a:xfrm>
            <a:off x="8518779" y="1640861"/>
            <a:ext cx="2560320" cy="155448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8BDF8"/>
                </a:solidFill>
                <a:latin typeface="Arial"/>
              </a:defRPr>
            </a:pPr>
            <a:r>
              <a:t>[ EVM MEMPOOL ]</a:t>
            </a:r>
            <a:br/>
            <a:r>
              <a:t>&gt; Scanning for Misuse...</a:t>
            </a:r>
          </a:p>
        </p:txBody>
      </p:sp>
      <p:sp>
        <p:nvSpPr>
          <p:cNvPr id="109" name="Rounded Rectangle 108"/>
          <p:cNvSpPr/>
          <p:nvPr/>
        </p:nvSpPr>
        <p:spPr>
          <a:xfrm>
            <a:off x="8275319" y="3326470"/>
            <a:ext cx="3108960" cy="182880"/>
          </a:xfrm>
          <a:prstGeom prst="round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ounded Rectangle 109"/>
          <p:cNvSpPr/>
          <p:nvPr/>
        </p:nvSpPr>
        <p:spPr>
          <a:xfrm>
            <a:off x="7894471" y="3662755"/>
            <a:ext cx="3749039" cy="2423160"/>
          </a:xfrm>
          <a:prstGeom prst="roundRect">
            <a:avLst/>
          </a:prstGeom>
          <a:solidFill>
            <a:srgbClr val="FFFFFF"/>
          </a:solidFill>
          <a:ln w="25400">
            <a:solidFill>
              <a:srgbClr val="FCD34D"/>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sz="1200" b="1">
                <a:solidFill>
                  <a:srgbClr val="D97706"/>
                </a:solidFill>
                <a:latin typeface="Arial"/>
              </a:defRPr>
            </a:pPr>
            <a:r>
              <a:rPr dirty="0"/>
              <a:t>TỔNG THIỆT HẠI BÀI BÁO PHÁT HIỆN</a:t>
            </a:r>
          </a:p>
          <a:p>
            <a:pPr algn="ctr">
              <a:defRPr sz="4000" b="1">
                <a:solidFill>
                  <a:srgbClr val="EF4444"/>
                </a:solidFill>
                <a:latin typeface="Arial"/>
              </a:defRPr>
            </a:pPr>
            <a:r>
              <a:rPr dirty="0"/>
              <a:t>&gt; $574.8M</a:t>
            </a:r>
          </a:p>
          <a:p>
            <a:pPr algn="ctr">
              <a:defRPr sz="1300">
                <a:solidFill>
                  <a:srgbClr val="475569"/>
                </a:solidFill>
                <a:latin typeface="Arial"/>
              </a:defRPr>
            </a:pPr>
            <a:r>
              <a:rPr dirty="0">
                <a:solidFill>
                  <a:schemeClr val="tx1"/>
                </a:solidFill>
              </a:rPr>
              <a:t>127.000 ETH &amp; 17.700 BNB </a:t>
            </a:r>
            <a:r>
              <a:rPr dirty="0" err="1">
                <a:solidFill>
                  <a:schemeClr val="tx1"/>
                </a:solidFill>
              </a:rPr>
              <a:t>bị</a:t>
            </a:r>
            <a:r>
              <a:rPr dirty="0">
                <a:solidFill>
                  <a:schemeClr val="tx1"/>
                </a:solidFill>
              </a:rPr>
              <a:t> </a:t>
            </a:r>
            <a:r>
              <a:rPr dirty="0" err="1">
                <a:solidFill>
                  <a:schemeClr val="tx1"/>
                </a:solidFill>
              </a:rPr>
              <a:t>thất</a:t>
            </a:r>
            <a:r>
              <a:rPr dirty="0">
                <a:solidFill>
                  <a:schemeClr val="tx1"/>
                </a:solidFill>
              </a:rPr>
              <a:t> </a:t>
            </a:r>
            <a:r>
              <a:rPr dirty="0" err="1">
                <a:solidFill>
                  <a:schemeClr val="tx1"/>
                </a:solidFill>
              </a:rPr>
              <a:t>thoát</a:t>
            </a:r>
            <a:br>
              <a:rPr dirty="0">
                <a:solidFill>
                  <a:schemeClr val="tx1"/>
                </a:solidFill>
              </a:rPr>
            </a:br>
            <a:r>
              <a:rPr dirty="0">
                <a:solidFill>
                  <a:schemeClr val="tx1"/>
                </a:solidFill>
              </a:rPr>
              <a:t>65.340 </a:t>
            </a:r>
            <a:r>
              <a:rPr dirty="0" err="1">
                <a:solidFill>
                  <a:schemeClr val="tx1"/>
                </a:solidFill>
              </a:rPr>
              <a:t>địa</a:t>
            </a:r>
            <a:r>
              <a:rPr dirty="0">
                <a:solidFill>
                  <a:schemeClr val="tx1"/>
                </a:solidFill>
              </a:rPr>
              <a:t> </a:t>
            </a:r>
            <a:r>
              <a:rPr dirty="0" err="1">
                <a:solidFill>
                  <a:schemeClr val="tx1"/>
                </a:solidFill>
              </a:rPr>
              <a:t>chỉ</a:t>
            </a:r>
            <a:r>
              <a:rPr dirty="0">
                <a:solidFill>
                  <a:schemeClr val="tx1"/>
                </a:solidFill>
              </a:rPr>
              <a:t> </a:t>
            </a:r>
            <a:r>
              <a:rPr dirty="0" err="1">
                <a:solidFill>
                  <a:schemeClr val="tx1"/>
                </a:solidFill>
              </a:rPr>
              <a:t>rủi</a:t>
            </a:r>
            <a:r>
              <a:rPr dirty="0">
                <a:solidFill>
                  <a:schemeClr val="tx1"/>
                </a:solidFill>
              </a:rPr>
              <a:t> </a:t>
            </a:r>
            <a:r>
              <a:rPr dirty="0" err="1">
                <a:solidFill>
                  <a:schemeClr val="tx1"/>
                </a:solidFill>
              </a:rPr>
              <a:t>ro</a:t>
            </a:r>
            <a:r>
              <a:rPr dirty="0">
                <a:solidFill>
                  <a:schemeClr val="tx1"/>
                </a:solidFill>
              </a:rPr>
              <a:t> </a:t>
            </a:r>
            <a:r>
              <a:rPr dirty="0" err="1">
                <a:solidFill>
                  <a:schemeClr val="tx1"/>
                </a:solidFill>
              </a:rPr>
              <a:t>cao</a:t>
            </a:r>
            <a:r>
              <a:rPr dirty="0">
                <a:solidFill>
                  <a:schemeClr val="tx1"/>
                </a:solidFill>
              </a:rPr>
              <a:t> </a:t>
            </a:r>
            <a:r>
              <a:rPr dirty="0" err="1">
                <a:solidFill>
                  <a:schemeClr val="tx1"/>
                </a:solidFill>
              </a:rPr>
              <a:t>trên</a:t>
            </a:r>
            <a:r>
              <a:rPr dirty="0">
                <a:solidFill>
                  <a:schemeClr val="tx1"/>
                </a:solidFill>
              </a:rPr>
              <a:t> </a:t>
            </a:r>
            <a:r>
              <a:rPr dirty="0" err="1">
                <a:solidFill>
                  <a:schemeClr val="tx1"/>
                </a:solidFill>
              </a:rPr>
              <a:t>Ethereum</a:t>
            </a:r>
            <a:r>
              <a:rPr dirty="0">
                <a:solidFill>
                  <a:schemeClr val="tx1"/>
                </a:solidFill>
              </a:rPr>
              <a:t> &amp; BSC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dirty="0">
                <a:solidFill>
                  <a:srgbClr val="4F46E5"/>
                </a:solidFill>
                <a:latin typeface="Arial"/>
              </a:rPr>
              <a:t>[#]  AGENDA</a:t>
            </a:r>
          </a:p>
        </p:txBody>
      </p:sp>
      <p:sp>
        <p:nvSpPr>
          <p:cNvPr id="4" name="TextBox 3"/>
          <p:cNvSpPr txBox="1"/>
          <p:nvPr/>
        </p:nvSpPr>
        <p:spPr>
          <a:xfrm>
            <a:off x="731520" y="713232"/>
            <a:ext cx="10789920" cy="777240"/>
          </a:xfrm>
          <a:prstGeom prst="rect">
            <a:avLst/>
          </a:prstGeom>
          <a:noFill/>
        </p:spPr>
        <p:txBody>
          <a:bodyPr wrap="square" lIns="0" tIns="0" rIns="0" bIns="0">
            <a:spAutoFit/>
          </a:bodyPr>
          <a:lstStyle/>
          <a:p>
            <a:r>
              <a:rPr sz="2400" b="1">
                <a:solidFill>
                  <a:srgbClr val="0F172A"/>
                </a:solidFill>
                <a:latin typeface="Arial"/>
              </a:rPr>
              <a:t>Nội dung báo cáo</a:t>
            </a:r>
          </a:p>
        </p:txBody>
      </p:sp>
      <p:sp>
        <p:nvSpPr>
          <p:cNvPr id="103" name="WavyLine_103"/>
          <p:cNvSpPr/>
          <p:nvPr/>
        </p:nvSpPr>
        <p:spPr>
          <a:xfrm>
            <a:off x="731520" y="1536192"/>
            <a:ext cx="3364992" cy="152400"/>
          </a:xfrm>
          <a:custGeom>
            <a:avLst/>
            <a:gdLst/>
            <a:ahLst/>
            <a:cxnLst/>
            <a:rect l="0" t="0" r="3364992" b="152400"/>
            <a:pathLst>
              <a:path w="3364992"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path>
            </a:pathLst>
          </a:custGeom>
          <a:ln w="42000">
            <a:solidFill>
              <a:srgbClr val="4F46E5"/>
            </a:solidFill>
            <a:round/>
          </a:ln>
        </p:spPr>
        <p:txBody>
          <a:bodyPr/>
          <a:lstStyle/>
          <a:p>
            <a:endParaRPr lang="en-US"/>
          </a:p>
        </p:txBody>
      </p:sp>
      <p:sp>
        <p:nvSpPr>
          <p:cNvPr id="104" name="Rounded Rectangle 103"/>
          <p:cNvSpPr/>
          <p:nvPr/>
        </p:nvSpPr>
        <p:spPr>
          <a:xfrm>
            <a:off x="731520" y="1920240"/>
            <a:ext cx="5212080" cy="1261872"/>
          </a:xfrm>
          <a:prstGeom prst="roundRect">
            <a:avLst/>
          </a:prstGeom>
          <a:solidFill>
            <a:srgbClr val="EEF2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960120" y="2139696"/>
            <a:ext cx="822960" cy="822960"/>
          </a:xfrm>
          <a:prstGeom prst="roundRect">
            <a:avLst/>
          </a:prstGeom>
          <a:solidFill>
            <a:srgbClr val="FFFF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2400" b="1">
                <a:solidFill>
                  <a:srgbClr val="4F46E5"/>
                </a:solidFill>
                <a:latin typeface="Arial"/>
              </a:defRPr>
            </a:pPr>
            <a:r>
              <a:rPr sz="2400" b="1">
                <a:solidFill>
                  <a:srgbClr val="4F46E5"/>
                </a:solidFill>
                <a:latin typeface="Arial"/>
              </a:rPr>
              <a:t>01</a:t>
            </a:r>
          </a:p>
        </p:txBody>
      </p:sp>
      <p:sp>
        <p:nvSpPr>
          <p:cNvPr id="106" name="TextBox 105"/>
          <p:cNvSpPr txBox="1"/>
          <p:nvPr/>
        </p:nvSpPr>
        <p:spPr>
          <a:xfrm>
            <a:off x="1874520" y="2084832"/>
            <a:ext cx="3977639" cy="615553"/>
          </a:xfrm>
          <a:prstGeom prst="rect">
            <a:avLst/>
          </a:prstGeom>
          <a:noFill/>
        </p:spPr>
        <p:txBody>
          <a:bodyPr wrap="square">
            <a:spAutoFit/>
          </a:bodyPr>
          <a:lstStyle/>
          <a:p>
            <a:r>
              <a:rPr sz="2000" b="1" dirty="0" err="1">
                <a:latin typeface="Arial"/>
              </a:rPr>
              <a:t>Động</a:t>
            </a:r>
            <a:r>
              <a:rPr sz="2000" b="1" dirty="0">
                <a:latin typeface="Arial"/>
              </a:rPr>
              <a:t> </a:t>
            </a:r>
            <a:r>
              <a:rPr sz="2000" b="1" dirty="0" err="1">
                <a:latin typeface="Arial"/>
              </a:rPr>
              <a:t>lực</a:t>
            </a:r>
            <a:r>
              <a:rPr sz="2000" b="1" dirty="0">
                <a:latin typeface="Arial"/>
              </a:rPr>
              <a:t> </a:t>
            </a:r>
            <a:r>
              <a:rPr sz="2000" b="1" dirty="0" err="1">
                <a:latin typeface="Arial"/>
              </a:rPr>
              <a:t>nghiên</a:t>
            </a:r>
            <a:r>
              <a:rPr sz="2000" b="1" dirty="0">
                <a:latin typeface="Arial"/>
              </a:rPr>
              <a:t> </a:t>
            </a:r>
            <a:r>
              <a:rPr sz="2000" b="1" dirty="0" err="1">
                <a:latin typeface="Arial"/>
              </a:rPr>
              <a:t>cứu</a:t>
            </a:r>
            <a:endParaRPr sz="2000" b="1" dirty="0">
              <a:latin typeface="Arial"/>
            </a:endParaRPr>
          </a:p>
          <a:p>
            <a:r>
              <a:rPr sz="1400" b="0" dirty="0" err="1">
                <a:latin typeface="Arial"/>
              </a:rPr>
              <a:t>Đặc</a:t>
            </a:r>
            <a:r>
              <a:rPr sz="1400" b="0" dirty="0">
                <a:latin typeface="Arial"/>
              </a:rPr>
              <a:t> </a:t>
            </a:r>
            <a:r>
              <a:rPr sz="1400" b="0" dirty="0" err="1">
                <a:latin typeface="Arial"/>
              </a:rPr>
              <a:t>thù</a:t>
            </a:r>
            <a:r>
              <a:rPr sz="1400" b="0" dirty="0">
                <a:latin typeface="Arial"/>
              </a:rPr>
              <a:t> EVM &amp; </a:t>
            </a:r>
            <a:r>
              <a:rPr sz="1400" b="0" dirty="0" err="1">
                <a:latin typeface="Arial"/>
              </a:rPr>
              <a:t>Thiệt</a:t>
            </a:r>
            <a:r>
              <a:rPr sz="1400" b="0" dirty="0">
                <a:latin typeface="Arial"/>
              </a:rPr>
              <a:t> </a:t>
            </a:r>
            <a:r>
              <a:rPr sz="1400" b="0" dirty="0" err="1">
                <a:latin typeface="Arial"/>
              </a:rPr>
              <a:t>hại</a:t>
            </a:r>
            <a:r>
              <a:rPr sz="1400" b="0" dirty="0">
                <a:latin typeface="Arial"/>
              </a:rPr>
              <a:t> $574.8M</a:t>
            </a:r>
          </a:p>
        </p:txBody>
      </p:sp>
      <p:sp>
        <p:nvSpPr>
          <p:cNvPr id="107" name="Rounded Rectangle 106"/>
          <p:cNvSpPr/>
          <p:nvPr/>
        </p:nvSpPr>
        <p:spPr>
          <a:xfrm>
            <a:off x="731520" y="3401568"/>
            <a:ext cx="5212080" cy="1261872"/>
          </a:xfrm>
          <a:prstGeom prst="roundRect">
            <a:avLst/>
          </a:prstGeom>
          <a:solidFill>
            <a:srgbClr val="FEE2E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107"/>
          <p:cNvSpPr/>
          <p:nvPr/>
        </p:nvSpPr>
        <p:spPr>
          <a:xfrm>
            <a:off x="960120" y="3621024"/>
            <a:ext cx="822960" cy="822960"/>
          </a:xfrm>
          <a:prstGeom prst="roundRect">
            <a:avLst/>
          </a:prstGeom>
          <a:solidFill>
            <a:srgbClr val="FFFFFF"/>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2400" b="1">
                <a:solidFill>
                  <a:srgbClr val="EF4444"/>
                </a:solidFill>
                <a:latin typeface="Arial"/>
              </a:defRPr>
            </a:pPr>
            <a:r>
              <a:rPr sz="2400" b="1">
                <a:solidFill>
                  <a:srgbClr val="EF4444"/>
                </a:solidFill>
                <a:latin typeface="Arial"/>
              </a:rPr>
              <a:t>02</a:t>
            </a:r>
          </a:p>
        </p:txBody>
      </p:sp>
      <p:sp>
        <p:nvSpPr>
          <p:cNvPr id="109" name="TextBox 108"/>
          <p:cNvSpPr txBox="1"/>
          <p:nvPr/>
        </p:nvSpPr>
        <p:spPr>
          <a:xfrm>
            <a:off x="1874520" y="3566160"/>
            <a:ext cx="3977639" cy="615553"/>
          </a:xfrm>
          <a:prstGeom prst="rect">
            <a:avLst/>
          </a:prstGeom>
          <a:noFill/>
        </p:spPr>
        <p:txBody>
          <a:bodyPr wrap="square">
            <a:spAutoFit/>
          </a:bodyPr>
          <a:lstStyle/>
          <a:p>
            <a:r>
              <a:rPr sz="2000" b="1" dirty="0" err="1">
                <a:latin typeface="Arial"/>
              </a:rPr>
              <a:t>Bản</a:t>
            </a:r>
            <a:r>
              <a:rPr sz="2000" b="1" dirty="0">
                <a:latin typeface="Arial"/>
              </a:rPr>
              <a:t> </a:t>
            </a:r>
            <a:r>
              <a:rPr sz="2000" b="1" dirty="0" err="1">
                <a:latin typeface="Arial"/>
              </a:rPr>
              <a:t>chất</a:t>
            </a:r>
            <a:r>
              <a:rPr sz="2000" b="1" dirty="0">
                <a:latin typeface="Arial"/>
              </a:rPr>
              <a:t> </a:t>
            </a:r>
            <a:r>
              <a:rPr sz="2000" b="1" dirty="0" err="1">
                <a:latin typeface="Arial"/>
              </a:rPr>
              <a:t>hai</a:t>
            </a:r>
            <a:r>
              <a:rPr sz="2000" b="1" dirty="0">
                <a:latin typeface="Arial"/>
              </a:rPr>
              <a:t> </a:t>
            </a:r>
            <a:r>
              <a:rPr sz="2000" b="1" dirty="0" err="1">
                <a:latin typeface="Arial"/>
              </a:rPr>
              <a:t>cơ</a:t>
            </a:r>
            <a:r>
              <a:rPr sz="2000" b="1" dirty="0">
                <a:latin typeface="Arial"/>
              </a:rPr>
              <a:t> </a:t>
            </a:r>
            <a:r>
              <a:rPr sz="2000" b="1" dirty="0" err="1">
                <a:latin typeface="Arial"/>
              </a:rPr>
              <a:t>chế</a:t>
            </a:r>
            <a:endParaRPr sz="2000" b="1" dirty="0">
              <a:latin typeface="Arial"/>
            </a:endParaRPr>
          </a:p>
          <a:p>
            <a:r>
              <a:rPr sz="1400" b="0" dirty="0">
                <a:latin typeface="Arial"/>
              </a:rPr>
              <a:t>CA Misuse (Silent Success) vs EOA Misuse</a:t>
            </a:r>
          </a:p>
        </p:txBody>
      </p:sp>
      <p:sp>
        <p:nvSpPr>
          <p:cNvPr id="110" name="Rounded Rectangle 109"/>
          <p:cNvSpPr/>
          <p:nvPr/>
        </p:nvSpPr>
        <p:spPr>
          <a:xfrm>
            <a:off x="731520" y="4882896"/>
            <a:ext cx="5212080" cy="1261872"/>
          </a:xfrm>
          <a:prstGeom prst="roundRect">
            <a:avLst/>
          </a:prstGeom>
          <a:solidFill>
            <a:srgbClr val="FEF3C7"/>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ounded Rectangle 110"/>
          <p:cNvSpPr/>
          <p:nvPr/>
        </p:nvSpPr>
        <p:spPr>
          <a:xfrm>
            <a:off x="960120" y="5102352"/>
            <a:ext cx="822960" cy="822960"/>
          </a:xfrm>
          <a:prstGeom prst="roundRect">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dirty="0">
                <a:solidFill>
                  <a:srgbClr val="D97706"/>
                </a:solidFill>
                <a:latin typeface="Arial"/>
              </a:rPr>
              <a:t>03</a:t>
            </a:r>
          </a:p>
        </p:txBody>
      </p:sp>
      <p:sp>
        <p:nvSpPr>
          <p:cNvPr id="112" name="TextBox 111"/>
          <p:cNvSpPr txBox="1"/>
          <p:nvPr/>
        </p:nvSpPr>
        <p:spPr>
          <a:xfrm>
            <a:off x="1874520" y="5047488"/>
            <a:ext cx="3977639" cy="615553"/>
          </a:xfrm>
          <a:prstGeom prst="rect">
            <a:avLst/>
          </a:prstGeom>
          <a:noFill/>
        </p:spPr>
        <p:txBody>
          <a:bodyPr wrap="square">
            <a:spAutoFit/>
          </a:bodyPr>
          <a:lstStyle/>
          <a:p>
            <a:r>
              <a:rPr sz="2000" b="1" dirty="0" err="1">
                <a:latin typeface="Arial"/>
              </a:rPr>
              <a:t>Bẫy</a:t>
            </a:r>
            <a:r>
              <a:rPr sz="2000" b="1" dirty="0">
                <a:latin typeface="Arial"/>
              </a:rPr>
              <a:t> </a:t>
            </a:r>
            <a:r>
              <a:rPr sz="2000" b="1" dirty="0" err="1">
                <a:latin typeface="Arial"/>
              </a:rPr>
              <a:t>tấn</a:t>
            </a:r>
            <a:r>
              <a:rPr sz="2000" b="1" dirty="0">
                <a:latin typeface="Arial"/>
              </a:rPr>
              <a:t> </a:t>
            </a:r>
            <a:r>
              <a:rPr sz="2000" b="1" dirty="0" err="1">
                <a:latin typeface="Arial"/>
              </a:rPr>
              <a:t>công</a:t>
            </a:r>
            <a:r>
              <a:rPr sz="2000" b="1" dirty="0">
                <a:latin typeface="Arial"/>
              </a:rPr>
              <a:t> </a:t>
            </a:r>
            <a:r>
              <a:rPr sz="2000" b="1" dirty="0" err="1">
                <a:latin typeface="Arial"/>
              </a:rPr>
              <a:t>mới</a:t>
            </a:r>
            <a:endParaRPr sz="2000" b="1" dirty="0">
              <a:latin typeface="Arial"/>
            </a:endParaRPr>
          </a:p>
          <a:p>
            <a:r>
              <a:rPr sz="1400" b="0" dirty="0">
                <a:latin typeface="Arial"/>
              </a:rPr>
              <a:t>CREATE Trap &amp; Vũ </a:t>
            </a:r>
            <a:r>
              <a:rPr sz="1400" b="0" dirty="0" err="1">
                <a:latin typeface="Arial"/>
              </a:rPr>
              <a:t>khí</a:t>
            </a:r>
            <a:r>
              <a:rPr sz="1400" b="0" dirty="0">
                <a:latin typeface="Arial"/>
              </a:rPr>
              <a:t> </a:t>
            </a:r>
            <a:r>
              <a:rPr sz="1400" b="0" dirty="0" err="1">
                <a:latin typeface="Arial"/>
              </a:rPr>
              <a:t>hóa</a:t>
            </a:r>
            <a:r>
              <a:rPr sz="1400" b="0" dirty="0">
                <a:latin typeface="Arial"/>
              </a:rPr>
              <a:t> EIP-7702</a:t>
            </a:r>
          </a:p>
        </p:txBody>
      </p:sp>
      <p:sp>
        <p:nvSpPr>
          <p:cNvPr id="113" name="Rounded Rectangle 112"/>
          <p:cNvSpPr/>
          <p:nvPr/>
        </p:nvSpPr>
        <p:spPr>
          <a:xfrm>
            <a:off x="6217920" y="1920240"/>
            <a:ext cx="5212080" cy="1261872"/>
          </a:xfrm>
          <a:prstGeom prst="roundRect">
            <a:avLst/>
          </a:prstGeom>
          <a:solidFill>
            <a:srgbClr val="E0F2FE"/>
          </a:solidFill>
          <a:ln w="1905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p:cNvSpPr/>
          <p:nvPr/>
        </p:nvSpPr>
        <p:spPr>
          <a:xfrm>
            <a:off x="6446520" y="2139696"/>
            <a:ext cx="822960" cy="822960"/>
          </a:xfrm>
          <a:prstGeom prst="roundRect">
            <a:avLst/>
          </a:prstGeom>
          <a:solidFill>
            <a:srgbClr val="FFFFFF"/>
          </a:solidFill>
          <a:ln w="19050">
            <a:solidFill>
              <a:srgbClr val="7DD3F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dirty="0">
                <a:solidFill>
                  <a:srgbClr val="0EA5E9"/>
                </a:solidFill>
                <a:latin typeface="Arial"/>
              </a:rPr>
              <a:t>04</a:t>
            </a:r>
          </a:p>
        </p:txBody>
      </p:sp>
      <p:sp>
        <p:nvSpPr>
          <p:cNvPr id="115" name="TextBox 114"/>
          <p:cNvSpPr txBox="1"/>
          <p:nvPr/>
        </p:nvSpPr>
        <p:spPr>
          <a:xfrm>
            <a:off x="7360920" y="2084832"/>
            <a:ext cx="3977639" cy="707886"/>
          </a:xfrm>
          <a:prstGeom prst="rect">
            <a:avLst/>
          </a:prstGeom>
          <a:noFill/>
        </p:spPr>
        <p:txBody>
          <a:bodyPr wrap="square">
            <a:spAutoFit/>
          </a:bodyPr>
          <a:lstStyle/>
          <a:p>
            <a:r>
              <a:rPr sz="2400" b="1" dirty="0">
                <a:latin typeface="Arial"/>
              </a:rPr>
              <a:t>Phương </a:t>
            </a:r>
            <a:r>
              <a:rPr sz="2400" b="1" dirty="0" err="1">
                <a:latin typeface="Arial"/>
              </a:rPr>
              <a:t>pháp</a:t>
            </a:r>
            <a:r>
              <a:rPr sz="2400" b="1" dirty="0">
                <a:latin typeface="Arial"/>
              </a:rPr>
              <a:t> </a:t>
            </a:r>
            <a:r>
              <a:rPr sz="2400" b="1" dirty="0" err="1">
                <a:latin typeface="Arial"/>
              </a:rPr>
              <a:t>luận</a:t>
            </a:r>
            <a:r>
              <a:rPr sz="2400" b="1" dirty="0">
                <a:latin typeface="Arial"/>
              </a:rPr>
              <a:t> </a:t>
            </a:r>
            <a:r>
              <a:rPr sz="2400" b="1" dirty="0" err="1">
                <a:latin typeface="Arial"/>
              </a:rPr>
              <a:t>gốc</a:t>
            </a:r>
            <a:endParaRPr sz="2400" b="1" dirty="0">
              <a:latin typeface="Arial"/>
            </a:endParaRPr>
          </a:p>
          <a:p>
            <a:r>
              <a:rPr sz="1600" b="0" dirty="0">
                <a:latin typeface="Arial"/>
              </a:rPr>
              <a:t>Quy </a:t>
            </a:r>
            <a:r>
              <a:rPr sz="1600" b="0" dirty="0" err="1">
                <a:latin typeface="Arial"/>
              </a:rPr>
              <a:t>trình</a:t>
            </a:r>
            <a:r>
              <a:rPr sz="1600" b="0" dirty="0">
                <a:latin typeface="Arial"/>
              </a:rPr>
              <a:t> </a:t>
            </a:r>
            <a:r>
              <a:rPr sz="1600" b="0" dirty="0" err="1">
                <a:latin typeface="Arial"/>
              </a:rPr>
              <a:t>phát</a:t>
            </a:r>
            <a:r>
              <a:rPr sz="1600" b="0" dirty="0">
                <a:latin typeface="Arial"/>
              </a:rPr>
              <a:t> </a:t>
            </a:r>
            <a:r>
              <a:rPr sz="1600" b="0" dirty="0" err="1">
                <a:latin typeface="Arial"/>
              </a:rPr>
              <a:t>hiện</a:t>
            </a:r>
            <a:r>
              <a:rPr sz="1600" b="0" dirty="0">
                <a:latin typeface="Arial"/>
              </a:rPr>
              <a:t> &amp; </a:t>
            </a:r>
            <a:r>
              <a:rPr sz="1600" b="0" dirty="0" err="1">
                <a:latin typeface="Arial"/>
              </a:rPr>
              <a:t>đánh</a:t>
            </a:r>
            <a:r>
              <a:rPr sz="1600" b="0" dirty="0">
                <a:latin typeface="Arial"/>
              </a:rPr>
              <a:t> </a:t>
            </a:r>
            <a:r>
              <a:rPr sz="1600" b="0" dirty="0" err="1">
                <a:latin typeface="Arial"/>
              </a:rPr>
              <a:t>giá</a:t>
            </a:r>
            <a:endParaRPr sz="1600" b="0" dirty="0">
              <a:latin typeface="Arial"/>
            </a:endParaRPr>
          </a:p>
        </p:txBody>
      </p:sp>
      <p:sp>
        <p:nvSpPr>
          <p:cNvPr id="116" name="Rounded Rectangle 115"/>
          <p:cNvSpPr/>
          <p:nvPr/>
        </p:nvSpPr>
        <p:spPr>
          <a:xfrm>
            <a:off x="6217920" y="3401568"/>
            <a:ext cx="5212080" cy="1261872"/>
          </a:xfrm>
          <a:prstGeom prst="roundRect">
            <a:avLst/>
          </a:prstGeom>
          <a:solidFill>
            <a:srgbClr val="D1FAE5"/>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ounded Rectangle 116"/>
          <p:cNvSpPr/>
          <p:nvPr/>
        </p:nvSpPr>
        <p:spPr>
          <a:xfrm>
            <a:off x="6446520" y="3621024"/>
            <a:ext cx="822960" cy="822960"/>
          </a:xfrm>
          <a:prstGeom prst="roundRect">
            <a:avLst/>
          </a:prstGeom>
          <a:solidFill>
            <a:srgbClr val="FFFFFF"/>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dirty="0">
                <a:solidFill>
                  <a:srgbClr val="10B981"/>
                </a:solidFill>
                <a:latin typeface="Arial"/>
              </a:rPr>
              <a:t>05</a:t>
            </a:r>
          </a:p>
        </p:txBody>
      </p:sp>
      <p:sp>
        <p:nvSpPr>
          <p:cNvPr id="118" name="TextBox 117"/>
          <p:cNvSpPr txBox="1"/>
          <p:nvPr/>
        </p:nvSpPr>
        <p:spPr>
          <a:xfrm>
            <a:off x="7360920" y="3566160"/>
            <a:ext cx="3977639" cy="615553"/>
          </a:xfrm>
          <a:prstGeom prst="rect">
            <a:avLst/>
          </a:prstGeom>
          <a:noFill/>
        </p:spPr>
        <p:txBody>
          <a:bodyPr wrap="square">
            <a:spAutoFit/>
          </a:bodyPr>
          <a:lstStyle/>
          <a:p>
            <a:r>
              <a:rPr sz="2000" b="1" dirty="0">
                <a:latin typeface="Arial"/>
              </a:rPr>
              <a:t>Research gaps / limitations</a:t>
            </a:r>
          </a:p>
          <a:p>
            <a:r>
              <a:rPr sz="1400" b="0" dirty="0" err="1">
                <a:latin typeface="Arial"/>
              </a:rPr>
              <a:t>Dữ</a:t>
            </a:r>
            <a:r>
              <a:rPr sz="1400" b="0" dirty="0">
                <a:latin typeface="Arial"/>
              </a:rPr>
              <a:t> </a:t>
            </a:r>
            <a:r>
              <a:rPr sz="1400" b="0" dirty="0" err="1">
                <a:latin typeface="Arial"/>
              </a:rPr>
              <a:t>liệu</a:t>
            </a:r>
            <a:r>
              <a:rPr sz="1400" b="0" dirty="0">
                <a:latin typeface="Arial"/>
              </a:rPr>
              <a:t>, </a:t>
            </a:r>
            <a:r>
              <a:rPr sz="1400" b="0" dirty="0" err="1">
                <a:latin typeface="Arial"/>
              </a:rPr>
              <a:t>độ</a:t>
            </a:r>
            <a:r>
              <a:rPr sz="1400" b="0" dirty="0">
                <a:latin typeface="Arial"/>
              </a:rPr>
              <a:t> bao </a:t>
            </a:r>
            <a:r>
              <a:rPr sz="1400" b="0" dirty="0" err="1">
                <a:latin typeface="Arial"/>
              </a:rPr>
              <a:t>phủ</a:t>
            </a:r>
            <a:r>
              <a:rPr sz="1400" b="0" dirty="0">
                <a:latin typeface="Arial"/>
              </a:rPr>
              <a:t> &amp; </a:t>
            </a:r>
            <a:r>
              <a:rPr sz="1400" b="0" dirty="0" err="1">
                <a:latin typeface="Arial"/>
              </a:rPr>
              <a:t>phòng</a:t>
            </a:r>
            <a:r>
              <a:rPr sz="1400" b="0" dirty="0">
                <a:latin typeface="Arial"/>
              </a:rPr>
              <a:t> </a:t>
            </a:r>
            <a:r>
              <a:rPr sz="1400" b="0" dirty="0" err="1">
                <a:latin typeface="Arial"/>
              </a:rPr>
              <a:t>vệ</a:t>
            </a:r>
            <a:endParaRPr sz="1400" b="0" dirty="0">
              <a:latin typeface="Arial"/>
            </a:endParaRPr>
          </a:p>
        </p:txBody>
      </p:sp>
      <p:sp>
        <p:nvSpPr>
          <p:cNvPr id="119" name="Rounded Rectangle 118"/>
          <p:cNvSpPr/>
          <p:nvPr/>
        </p:nvSpPr>
        <p:spPr>
          <a:xfrm>
            <a:off x="6217920" y="4882896"/>
            <a:ext cx="5212080" cy="1261872"/>
          </a:xfrm>
          <a:prstGeom prst="roundRect">
            <a:avLst/>
          </a:prstGeom>
          <a:solidFill>
            <a:srgbClr val="EEF2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ounded Rectangle 116"/>
          <p:cNvSpPr/>
          <p:nvPr/>
        </p:nvSpPr>
        <p:spPr>
          <a:xfrm>
            <a:off x="6446520" y="5102352"/>
            <a:ext cx="822960" cy="822960"/>
          </a:xfrm>
          <a:prstGeom prst="roundRect">
            <a:avLst/>
          </a:prstGeom>
          <a:solidFill>
            <a:srgbClr val="FFFF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dirty="0">
                <a:solidFill>
                  <a:srgbClr val="4F46E5"/>
                </a:solidFill>
                <a:latin typeface="Arial"/>
              </a:rPr>
              <a:t>06</a:t>
            </a:r>
          </a:p>
        </p:txBody>
      </p:sp>
      <p:sp>
        <p:nvSpPr>
          <p:cNvPr id="5" name="TextBox 117"/>
          <p:cNvSpPr txBox="1"/>
          <p:nvPr/>
        </p:nvSpPr>
        <p:spPr>
          <a:xfrm>
            <a:off x="7360920" y="5047488"/>
            <a:ext cx="3977639" cy="615553"/>
          </a:xfrm>
          <a:prstGeom prst="rect">
            <a:avLst/>
          </a:prstGeom>
          <a:noFill/>
        </p:spPr>
        <p:txBody>
          <a:bodyPr wrap="square">
            <a:spAutoFit/>
          </a:bodyPr>
          <a:lstStyle/>
          <a:p>
            <a:r>
              <a:rPr sz="2000" b="1" dirty="0" err="1">
                <a:latin typeface="Arial"/>
              </a:rPr>
              <a:t>Hướng</a:t>
            </a:r>
            <a:r>
              <a:rPr sz="2000" b="1" dirty="0">
                <a:latin typeface="Arial"/>
              </a:rPr>
              <a:t> </a:t>
            </a:r>
            <a:r>
              <a:rPr sz="2000" b="1" dirty="0" err="1">
                <a:latin typeface="Arial"/>
              </a:rPr>
              <a:t>cải</a:t>
            </a:r>
            <a:r>
              <a:rPr sz="2000" b="1" dirty="0">
                <a:latin typeface="Arial"/>
              </a:rPr>
              <a:t> </a:t>
            </a:r>
            <a:r>
              <a:rPr sz="2000" b="1" dirty="0" err="1">
                <a:latin typeface="Arial"/>
              </a:rPr>
              <a:t>tiến</a:t>
            </a:r>
            <a:r>
              <a:rPr sz="2000" b="1" dirty="0">
                <a:latin typeface="Arial"/>
              </a:rPr>
              <a:t> </a:t>
            </a:r>
            <a:r>
              <a:rPr sz="2000" b="1" dirty="0" err="1">
                <a:latin typeface="Arial"/>
              </a:rPr>
              <a:t>tiếp</a:t>
            </a:r>
            <a:r>
              <a:rPr sz="2000" b="1" dirty="0">
                <a:latin typeface="Arial"/>
              </a:rPr>
              <a:t> </a:t>
            </a:r>
            <a:r>
              <a:rPr sz="2000" b="1" dirty="0" err="1">
                <a:latin typeface="Arial"/>
              </a:rPr>
              <a:t>theo</a:t>
            </a:r>
            <a:endParaRPr sz="2000" b="1" dirty="0">
              <a:latin typeface="Arial"/>
            </a:endParaRPr>
          </a:p>
          <a:p>
            <a:r>
              <a:rPr sz="1400" b="0" dirty="0">
                <a:latin typeface="Arial"/>
              </a:rPr>
              <a:t>Cross-chain Guard + Wallet-side Warning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4F46E5"/>
                </a:solidFill>
                <a:latin typeface="Arial"/>
              </a:defRPr>
            </a:pPr>
            <a:r>
              <a:t>[#]  MOTIVATION &amp; SCALE</a:t>
            </a:r>
          </a:p>
        </p:txBody>
      </p:sp>
      <p:sp>
        <p:nvSpPr>
          <p:cNvPr id="4" name="TextBox 3"/>
          <p:cNvSpPr txBox="1"/>
          <p:nvPr/>
        </p:nvSpPr>
        <p:spPr>
          <a:xfrm>
            <a:off x="731520" y="713232"/>
            <a:ext cx="10789920" cy="777240"/>
          </a:xfrm>
          <a:prstGeom prst="rect">
            <a:avLst/>
          </a:prstGeom>
          <a:noFill/>
        </p:spPr>
        <p:txBody>
          <a:bodyPr wrap="square" lIns="0" tIns="0" rIns="0" bIns="0">
            <a:spAutoFit/>
          </a:bodyPr>
          <a:lstStyle/>
          <a:p>
            <a:pPr>
              <a:defRPr sz="3000" b="1">
                <a:solidFill>
                  <a:srgbClr val="0F172A"/>
                </a:solidFill>
                <a:latin typeface="Arial"/>
              </a:defRPr>
            </a:pPr>
            <a:r>
              <a:t>01. Động lực nghiên cứu &amp; Quy mô thiệt hại</a:t>
            </a:r>
          </a:p>
        </p:txBody>
      </p:sp>
      <p:sp>
        <p:nvSpPr>
          <p:cNvPr id="103" name="WavyLine_103"/>
          <p:cNvSpPr/>
          <p:nvPr/>
        </p:nvSpPr>
        <p:spPr>
          <a:xfrm>
            <a:off x="731520" y="1536192"/>
            <a:ext cx="8833104" cy="152400"/>
          </a:xfrm>
          <a:custGeom>
            <a:avLst/>
            <a:gdLst/>
            <a:ahLst/>
            <a:cxnLst/>
            <a:rect l="0" t="0" r="8833104" b="152400"/>
            <a:pathLst>
              <a:path w="8833104"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cubicBezTo>
                  <a:pt x="5527548" y="12700"/>
                  <a:pt x="5527548" y="12700"/>
                  <a:pt x="5586984" y="76200"/>
                </a:cubicBezTo>
                <a:cubicBezTo>
                  <a:pt x="5646420" y="139700"/>
                  <a:pt x="5646420" y="139700"/>
                  <a:pt x="5705856" y="76200"/>
                </a:cubicBezTo>
                <a:cubicBezTo>
                  <a:pt x="5765292" y="12700"/>
                  <a:pt x="5765292" y="12700"/>
                  <a:pt x="5824728" y="76200"/>
                </a:cubicBezTo>
                <a:cubicBezTo>
                  <a:pt x="5884164" y="139700"/>
                  <a:pt x="5884164" y="139700"/>
                  <a:pt x="5943600" y="76200"/>
                </a:cubicBezTo>
                <a:cubicBezTo>
                  <a:pt x="6003036" y="12700"/>
                  <a:pt x="6003036" y="12700"/>
                  <a:pt x="6062472" y="76200"/>
                </a:cubicBezTo>
                <a:cubicBezTo>
                  <a:pt x="6121908" y="139700"/>
                  <a:pt x="6121908" y="139700"/>
                  <a:pt x="6181344" y="76200"/>
                </a:cubicBezTo>
                <a:cubicBezTo>
                  <a:pt x="6240780" y="12700"/>
                  <a:pt x="6240780" y="12700"/>
                  <a:pt x="6300216" y="76200"/>
                </a:cubicBezTo>
                <a:cubicBezTo>
                  <a:pt x="6359652" y="139700"/>
                  <a:pt x="6359652" y="139700"/>
                  <a:pt x="6419088" y="76200"/>
                </a:cubicBezTo>
                <a:cubicBezTo>
                  <a:pt x="6478524" y="12700"/>
                  <a:pt x="6478524" y="12700"/>
                  <a:pt x="6537960" y="76200"/>
                </a:cubicBezTo>
                <a:cubicBezTo>
                  <a:pt x="6597396" y="139700"/>
                  <a:pt x="6597396" y="139700"/>
                  <a:pt x="6656832" y="76200"/>
                </a:cubicBezTo>
                <a:cubicBezTo>
                  <a:pt x="6716268" y="12700"/>
                  <a:pt x="6716268" y="12700"/>
                  <a:pt x="6775704" y="76200"/>
                </a:cubicBezTo>
                <a:cubicBezTo>
                  <a:pt x="6835140" y="139700"/>
                  <a:pt x="6835140" y="139700"/>
                  <a:pt x="6894576" y="76200"/>
                </a:cubicBezTo>
                <a:cubicBezTo>
                  <a:pt x="6954012" y="12700"/>
                  <a:pt x="6954012" y="12700"/>
                  <a:pt x="7013448" y="76200"/>
                </a:cubicBezTo>
                <a:cubicBezTo>
                  <a:pt x="7072884" y="139700"/>
                  <a:pt x="7072884" y="139700"/>
                  <a:pt x="7132320" y="76200"/>
                </a:cubicBezTo>
                <a:cubicBezTo>
                  <a:pt x="7191756" y="12700"/>
                  <a:pt x="7191756" y="12700"/>
                  <a:pt x="7251192" y="76200"/>
                </a:cubicBezTo>
                <a:cubicBezTo>
                  <a:pt x="7310628" y="139700"/>
                  <a:pt x="7310628" y="139700"/>
                  <a:pt x="7370064" y="76200"/>
                </a:cubicBezTo>
                <a:cubicBezTo>
                  <a:pt x="7429500" y="12700"/>
                  <a:pt x="7429500" y="12700"/>
                  <a:pt x="7488936" y="76200"/>
                </a:cubicBezTo>
                <a:cubicBezTo>
                  <a:pt x="7548372" y="139700"/>
                  <a:pt x="7548372" y="139700"/>
                  <a:pt x="7607808" y="76200"/>
                </a:cubicBezTo>
                <a:cubicBezTo>
                  <a:pt x="7667244" y="12700"/>
                  <a:pt x="7667244" y="12700"/>
                  <a:pt x="7726680" y="76200"/>
                </a:cubicBezTo>
                <a:cubicBezTo>
                  <a:pt x="7786116" y="139700"/>
                  <a:pt x="7786116" y="139700"/>
                  <a:pt x="7845552" y="76200"/>
                </a:cubicBezTo>
                <a:cubicBezTo>
                  <a:pt x="7904988" y="12700"/>
                  <a:pt x="7904988" y="12700"/>
                  <a:pt x="7964424" y="76200"/>
                </a:cubicBezTo>
                <a:cubicBezTo>
                  <a:pt x="8023860" y="139700"/>
                  <a:pt x="8023860" y="139700"/>
                  <a:pt x="8083296" y="76200"/>
                </a:cubicBezTo>
                <a:cubicBezTo>
                  <a:pt x="8142732" y="12700"/>
                  <a:pt x="8142732" y="12700"/>
                  <a:pt x="8202168" y="76200"/>
                </a:cubicBezTo>
                <a:cubicBezTo>
                  <a:pt x="8261604" y="139700"/>
                  <a:pt x="8261604" y="139700"/>
                  <a:pt x="8321040" y="76200"/>
                </a:cubicBezTo>
                <a:cubicBezTo>
                  <a:pt x="8380476" y="12700"/>
                  <a:pt x="8380476" y="12700"/>
                  <a:pt x="8439912" y="76200"/>
                </a:cubicBezTo>
                <a:cubicBezTo>
                  <a:pt x="8499348" y="139700"/>
                  <a:pt x="8499348" y="139700"/>
                  <a:pt x="8558784" y="76200"/>
                </a:cubicBezTo>
                <a:cubicBezTo>
                  <a:pt x="8618220" y="12700"/>
                  <a:pt x="8618220" y="12700"/>
                  <a:pt x="8677656" y="76200"/>
                </a:cubicBezTo>
                <a:cubicBezTo>
                  <a:pt x="8737092" y="139700"/>
                  <a:pt x="8737092" y="139700"/>
                  <a:pt x="8796528" y="76200"/>
                </a:cubicBezTo>
              </a:path>
            </a:pathLst>
          </a:custGeom>
          <a:ln w="42000">
            <a:solidFill>
              <a:srgbClr val="4F46E5"/>
            </a:solidFill>
            <a:round/>
          </a:ln>
        </p:spPr>
        <p:txBody>
          <a:bodyPr/>
          <a:lstStyle/>
          <a:p>
            <a:endParaRPr lang="en-US"/>
          </a:p>
        </p:txBody>
      </p:sp>
      <p:sp>
        <p:nvSpPr>
          <p:cNvPr id="104" name="Rounded Rectangle 103"/>
          <p:cNvSpPr/>
          <p:nvPr/>
        </p:nvSpPr>
        <p:spPr>
          <a:xfrm>
            <a:off x="731520" y="1920240"/>
            <a:ext cx="5486400" cy="4434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1005840" y="2148840"/>
            <a:ext cx="4937760" cy="438912"/>
          </a:xfrm>
          <a:prstGeom prst="roundRect">
            <a:avLst/>
          </a:prstGeom>
          <a:solidFill>
            <a:srgbClr val="EEF2FF"/>
          </a:solidFill>
          <a:ln>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F46E5"/>
                </a:solidFill>
                <a:latin typeface="Arial"/>
              </a:defRPr>
            </a:pPr>
            <a:r>
              <a:rPr sz="1600" dirty="0"/>
              <a:t>ĐẶC THÙ NGUY CƠ TRONG HỆ THỐNG EVM</a:t>
            </a:r>
          </a:p>
        </p:txBody>
      </p:sp>
      <p:sp>
        <p:nvSpPr>
          <p:cNvPr id="106" name="TextBox 105"/>
          <p:cNvSpPr txBox="1"/>
          <p:nvPr/>
        </p:nvSpPr>
        <p:spPr>
          <a:xfrm>
            <a:off x="1005840" y="2788920"/>
            <a:ext cx="4937760" cy="2872581"/>
          </a:xfrm>
          <a:prstGeom prst="rect">
            <a:avLst/>
          </a:prstGeom>
          <a:noFill/>
        </p:spPr>
        <p:txBody>
          <a:bodyPr wrap="square">
            <a:spAutoFit/>
          </a:bodyPr>
          <a:lstStyle/>
          <a:p>
            <a:pPr algn="just">
              <a:spcAft>
                <a:spcPts val="1600"/>
              </a:spcAft>
            </a:pPr>
            <a:r>
              <a:rPr sz="1800" b="1" dirty="0">
                <a:latin typeface="Arial"/>
              </a:rPr>
              <a:t>• </a:t>
            </a:r>
            <a:r>
              <a:rPr sz="2000" b="1" dirty="0" err="1">
                <a:latin typeface="Arial"/>
              </a:rPr>
              <a:t>Địa</a:t>
            </a:r>
            <a:r>
              <a:rPr sz="2000" b="1" dirty="0">
                <a:latin typeface="Arial"/>
              </a:rPr>
              <a:t> </a:t>
            </a:r>
            <a:r>
              <a:rPr sz="2000" b="1" dirty="0" err="1">
                <a:latin typeface="Arial"/>
              </a:rPr>
              <a:t>chỉ</a:t>
            </a:r>
            <a:r>
              <a:rPr sz="2000" b="1" dirty="0">
                <a:latin typeface="Arial"/>
              </a:rPr>
              <a:t> </a:t>
            </a:r>
            <a:r>
              <a:rPr sz="2000" b="1" dirty="0" err="1">
                <a:latin typeface="Arial"/>
              </a:rPr>
              <a:t>làm</a:t>
            </a:r>
            <a:r>
              <a:rPr sz="2000" b="1" dirty="0">
                <a:latin typeface="Arial"/>
              </a:rPr>
              <a:t> </a:t>
            </a:r>
            <a:r>
              <a:rPr sz="2000" b="1" dirty="0" err="1">
                <a:latin typeface="Arial"/>
              </a:rPr>
              <a:t>két</a:t>
            </a:r>
            <a:r>
              <a:rPr sz="2000" b="1" dirty="0">
                <a:latin typeface="Arial"/>
              </a:rPr>
              <a:t> </a:t>
            </a:r>
            <a:r>
              <a:rPr sz="2000" b="1" dirty="0" err="1">
                <a:latin typeface="Arial"/>
              </a:rPr>
              <a:t>sắt</a:t>
            </a:r>
            <a:r>
              <a:rPr sz="2000" b="1" dirty="0">
                <a:latin typeface="Arial"/>
              </a:rPr>
              <a:t>: </a:t>
            </a:r>
            <a:r>
              <a:rPr dirty="0" err="1">
                <a:latin typeface="Arial"/>
              </a:rPr>
              <a:t>Vừa</a:t>
            </a:r>
            <a:r>
              <a:rPr dirty="0">
                <a:latin typeface="Arial"/>
              </a:rPr>
              <a:t> </a:t>
            </a:r>
            <a:r>
              <a:rPr dirty="0" err="1">
                <a:latin typeface="Arial"/>
              </a:rPr>
              <a:t>là</a:t>
            </a:r>
            <a:r>
              <a:rPr dirty="0">
                <a:latin typeface="Arial"/>
              </a:rPr>
              <a:t> </a:t>
            </a:r>
            <a:r>
              <a:rPr dirty="0" err="1">
                <a:latin typeface="Arial"/>
              </a:rPr>
              <a:t>định</a:t>
            </a:r>
            <a:r>
              <a:rPr dirty="0">
                <a:latin typeface="Arial"/>
              </a:rPr>
              <a:t> </a:t>
            </a:r>
            <a:r>
              <a:rPr dirty="0" err="1">
                <a:latin typeface="Arial"/>
              </a:rPr>
              <a:t>danh</a:t>
            </a:r>
            <a:r>
              <a:rPr dirty="0">
                <a:latin typeface="Arial"/>
              </a:rPr>
              <a:t> </a:t>
            </a:r>
            <a:r>
              <a:rPr dirty="0" err="1">
                <a:latin typeface="Arial"/>
              </a:rPr>
              <a:t>tài</a:t>
            </a:r>
            <a:r>
              <a:rPr dirty="0">
                <a:latin typeface="Arial"/>
              </a:rPr>
              <a:t> </a:t>
            </a:r>
            <a:r>
              <a:rPr dirty="0" err="1">
                <a:latin typeface="Arial"/>
              </a:rPr>
              <a:t>khoản</a:t>
            </a:r>
            <a:r>
              <a:rPr dirty="0">
                <a:latin typeface="Arial"/>
              </a:rPr>
              <a:t>, </a:t>
            </a:r>
            <a:r>
              <a:rPr dirty="0" err="1">
                <a:latin typeface="Arial"/>
              </a:rPr>
              <a:t>vừa</a:t>
            </a:r>
            <a:r>
              <a:rPr dirty="0">
                <a:latin typeface="Arial"/>
              </a:rPr>
              <a:t> </a:t>
            </a:r>
            <a:r>
              <a:rPr dirty="0" err="1">
                <a:latin typeface="Arial"/>
              </a:rPr>
              <a:t>là</a:t>
            </a:r>
            <a:r>
              <a:rPr dirty="0">
                <a:latin typeface="Arial"/>
              </a:rPr>
              <a:t> </a:t>
            </a:r>
            <a:r>
              <a:rPr dirty="0" err="1">
                <a:latin typeface="Arial"/>
              </a:rPr>
              <a:t>nơi</a:t>
            </a:r>
            <a:r>
              <a:rPr dirty="0">
                <a:latin typeface="Arial"/>
              </a:rPr>
              <a:t> </a:t>
            </a:r>
            <a:r>
              <a:rPr dirty="0" err="1">
                <a:latin typeface="Arial"/>
              </a:rPr>
              <a:t>trực</a:t>
            </a:r>
            <a:r>
              <a:rPr dirty="0">
                <a:latin typeface="Arial"/>
              </a:rPr>
              <a:t> </a:t>
            </a:r>
            <a:r>
              <a:rPr dirty="0" err="1">
                <a:latin typeface="Arial"/>
              </a:rPr>
              <a:t>tiếp</a:t>
            </a:r>
            <a:r>
              <a:rPr dirty="0">
                <a:latin typeface="Arial"/>
              </a:rPr>
              <a:t> </a:t>
            </a:r>
            <a:r>
              <a:rPr dirty="0" err="1">
                <a:latin typeface="Arial"/>
              </a:rPr>
              <a:t>lưu</a:t>
            </a:r>
            <a:r>
              <a:rPr dirty="0">
                <a:latin typeface="Arial"/>
              </a:rPr>
              <a:t> </a:t>
            </a:r>
            <a:r>
              <a:rPr dirty="0" err="1">
                <a:latin typeface="Arial"/>
              </a:rPr>
              <a:t>trữ</a:t>
            </a:r>
            <a:r>
              <a:rPr dirty="0">
                <a:latin typeface="Arial"/>
              </a:rPr>
              <a:t> </a:t>
            </a:r>
            <a:r>
              <a:rPr dirty="0" err="1">
                <a:latin typeface="Arial"/>
              </a:rPr>
              <a:t>tài</a:t>
            </a:r>
            <a:r>
              <a:rPr dirty="0">
                <a:latin typeface="Arial"/>
              </a:rPr>
              <a:t> </a:t>
            </a:r>
            <a:r>
              <a:rPr dirty="0" err="1">
                <a:latin typeface="Arial"/>
              </a:rPr>
              <a:t>sản</a:t>
            </a:r>
            <a:r>
              <a:rPr dirty="0">
                <a:latin typeface="Arial"/>
              </a:rPr>
              <a:t>.</a:t>
            </a:r>
          </a:p>
          <a:p>
            <a:pPr algn="just">
              <a:spcAft>
                <a:spcPts val="1600"/>
              </a:spcAft>
            </a:pPr>
            <a:r>
              <a:rPr lang="en-US" b="1" dirty="0">
                <a:latin typeface="Arial"/>
              </a:rPr>
              <a:t>•</a:t>
            </a:r>
            <a:r>
              <a:rPr lang="vi-VN" b="1" dirty="0">
                <a:latin typeface="Arial"/>
              </a:rPr>
              <a:t> </a:t>
            </a:r>
            <a:r>
              <a:rPr lang="en-US" b="1" dirty="0" err="1">
                <a:latin typeface="Arial"/>
              </a:rPr>
              <a:t>Nhầm</a:t>
            </a:r>
            <a:r>
              <a:rPr lang="en-US" b="1" dirty="0">
                <a:latin typeface="Arial"/>
              </a:rPr>
              <a:t> </a:t>
            </a:r>
            <a:r>
              <a:rPr lang="en-US" b="1" dirty="0" err="1">
                <a:latin typeface="Arial"/>
              </a:rPr>
              <a:t>lẫn</a:t>
            </a:r>
            <a:r>
              <a:rPr lang="en-US" b="1" dirty="0">
                <a:latin typeface="Arial"/>
              </a:rPr>
              <a:t> </a:t>
            </a:r>
            <a:r>
              <a:rPr lang="en-US" b="1" dirty="0" err="1">
                <a:latin typeface="Arial"/>
              </a:rPr>
              <a:t>ngữ</a:t>
            </a:r>
            <a:r>
              <a:rPr lang="en-US" b="1" dirty="0">
                <a:latin typeface="Arial"/>
              </a:rPr>
              <a:t> </a:t>
            </a:r>
            <a:r>
              <a:rPr lang="en-US" b="1" dirty="0" err="1">
                <a:latin typeface="Arial"/>
              </a:rPr>
              <a:t>cảnh</a:t>
            </a:r>
            <a:r>
              <a:rPr lang="en-US" b="1" dirty="0">
                <a:latin typeface="Arial"/>
              </a:rPr>
              <a:t> chain: </a:t>
            </a:r>
            <a:r>
              <a:rPr lang="en-US" dirty="0" err="1">
                <a:latin typeface="Arial"/>
              </a:rPr>
              <a:t>Cùng</a:t>
            </a:r>
            <a:r>
              <a:rPr lang="en-US" dirty="0">
                <a:latin typeface="Arial"/>
              </a:rPr>
              <a:t> </a:t>
            </a:r>
            <a:r>
              <a:rPr lang="en-US" dirty="0" err="1">
                <a:latin typeface="Arial"/>
              </a:rPr>
              <a:t>một</a:t>
            </a:r>
            <a:r>
              <a:rPr lang="en-US" dirty="0">
                <a:latin typeface="Arial"/>
              </a:rPr>
              <a:t> address </a:t>
            </a:r>
            <a:r>
              <a:rPr lang="en-US" dirty="0" err="1">
                <a:latin typeface="Arial"/>
              </a:rPr>
              <a:t>có</a:t>
            </a:r>
            <a:r>
              <a:rPr lang="en-US" dirty="0">
                <a:latin typeface="Arial"/>
              </a:rPr>
              <a:t> </a:t>
            </a:r>
            <a:r>
              <a:rPr lang="en-US" dirty="0" err="1">
                <a:latin typeface="Arial"/>
              </a:rPr>
              <a:t>thể</a:t>
            </a:r>
            <a:r>
              <a:rPr lang="en-US" dirty="0">
                <a:latin typeface="Arial"/>
              </a:rPr>
              <a:t> </a:t>
            </a:r>
            <a:r>
              <a:rPr lang="en-US" dirty="0" err="1">
                <a:latin typeface="Arial"/>
              </a:rPr>
              <a:t>là</a:t>
            </a:r>
            <a:r>
              <a:rPr lang="en-US" dirty="0">
                <a:latin typeface="Arial"/>
              </a:rPr>
              <a:t> contract </a:t>
            </a:r>
            <a:r>
              <a:rPr lang="en-US" dirty="0" err="1">
                <a:latin typeface="Arial"/>
              </a:rPr>
              <a:t>trên</a:t>
            </a:r>
            <a:r>
              <a:rPr lang="en-US" dirty="0">
                <a:latin typeface="Arial"/>
              </a:rPr>
              <a:t> chain </a:t>
            </a:r>
            <a:r>
              <a:rPr lang="en-US" dirty="0" err="1">
                <a:latin typeface="Arial"/>
              </a:rPr>
              <a:t>này</a:t>
            </a:r>
            <a:r>
              <a:rPr lang="en-US" dirty="0">
                <a:latin typeface="Arial"/>
              </a:rPr>
              <a:t> </a:t>
            </a:r>
            <a:r>
              <a:rPr lang="en-US" dirty="0" err="1">
                <a:latin typeface="Arial"/>
              </a:rPr>
              <a:t>nhưng</a:t>
            </a:r>
            <a:r>
              <a:rPr lang="en-US" dirty="0">
                <a:latin typeface="Arial"/>
              </a:rPr>
              <a:t> </a:t>
            </a:r>
            <a:r>
              <a:rPr lang="en-US" dirty="0" err="1">
                <a:latin typeface="Arial"/>
              </a:rPr>
              <a:t>không</a:t>
            </a:r>
            <a:r>
              <a:rPr lang="en-US" dirty="0">
                <a:latin typeface="Arial"/>
              </a:rPr>
              <a:t> </a:t>
            </a:r>
            <a:r>
              <a:rPr lang="en-US" dirty="0" err="1">
                <a:latin typeface="Arial"/>
              </a:rPr>
              <a:t>có</a:t>
            </a:r>
            <a:r>
              <a:rPr lang="en-US" dirty="0">
                <a:latin typeface="Arial"/>
              </a:rPr>
              <a:t> code </a:t>
            </a:r>
            <a:r>
              <a:rPr lang="en-US" dirty="0" err="1">
                <a:latin typeface="Arial"/>
              </a:rPr>
              <a:t>trên</a:t>
            </a:r>
            <a:r>
              <a:rPr lang="en-US" dirty="0">
                <a:latin typeface="Arial"/>
              </a:rPr>
              <a:t> chain </a:t>
            </a:r>
            <a:r>
              <a:rPr lang="en-US" dirty="0" err="1">
                <a:latin typeface="Arial"/>
              </a:rPr>
              <a:t>khác</a:t>
            </a:r>
            <a:r>
              <a:rPr lang="en-US" dirty="0">
                <a:latin typeface="Arial"/>
              </a:rPr>
              <a:t>.</a:t>
            </a:r>
            <a:endParaRPr lang="vi-VN" dirty="0">
              <a:latin typeface="Arial"/>
            </a:endParaRPr>
          </a:p>
          <a:p>
            <a:pPr algn="just">
              <a:spcAft>
                <a:spcPts val="1600"/>
              </a:spcAft>
            </a:pPr>
            <a:r>
              <a:rPr sz="2000" b="1" dirty="0">
                <a:latin typeface="Arial"/>
              </a:rPr>
              <a:t>• </a:t>
            </a:r>
            <a:r>
              <a:rPr sz="2000" b="1" dirty="0" err="1">
                <a:latin typeface="Arial"/>
              </a:rPr>
              <a:t>Tính</a:t>
            </a:r>
            <a:r>
              <a:rPr sz="2000" b="1" dirty="0">
                <a:latin typeface="Arial"/>
              </a:rPr>
              <a:t> </a:t>
            </a:r>
            <a:r>
              <a:rPr sz="2000" b="1" dirty="0" err="1">
                <a:latin typeface="Arial"/>
              </a:rPr>
              <a:t>bất</a:t>
            </a:r>
            <a:r>
              <a:rPr lang="vi-VN" sz="2000" b="1" dirty="0">
                <a:latin typeface="Arial"/>
              </a:rPr>
              <a:t> biến</a:t>
            </a:r>
            <a:r>
              <a:rPr sz="2000" b="1" dirty="0">
                <a:latin typeface="Arial"/>
              </a:rPr>
              <a:t>: </a:t>
            </a:r>
            <a:r>
              <a:rPr dirty="0">
                <a:latin typeface="Arial"/>
              </a:rPr>
              <a:t>EVM </a:t>
            </a:r>
            <a:r>
              <a:rPr dirty="0" err="1">
                <a:latin typeface="Arial"/>
              </a:rPr>
              <a:t>không</a:t>
            </a:r>
            <a:r>
              <a:rPr dirty="0">
                <a:latin typeface="Arial"/>
              </a:rPr>
              <a:t> </a:t>
            </a:r>
            <a:r>
              <a:rPr dirty="0" err="1">
                <a:latin typeface="Arial"/>
              </a:rPr>
              <a:t>thể</a:t>
            </a:r>
            <a:r>
              <a:rPr dirty="0">
                <a:latin typeface="Arial"/>
              </a:rPr>
              <a:t> </a:t>
            </a:r>
            <a:r>
              <a:rPr dirty="0" err="1">
                <a:latin typeface="Arial"/>
              </a:rPr>
              <a:t>hoàn</a:t>
            </a:r>
            <a:r>
              <a:rPr dirty="0">
                <a:latin typeface="Arial"/>
              </a:rPr>
              <a:t> </a:t>
            </a:r>
            <a:r>
              <a:rPr dirty="0" err="1">
                <a:latin typeface="Arial"/>
              </a:rPr>
              <a:t>tác</a:t>
            </a:r>
            <a:r>
              <a:rPr dirty="0">
                <a:latin typeface="Arial"/>
              </a:rPr>
              <a:t> </a:t>
            </a:r>
            <a:r>
              <a:rPr dirty="0" err="1">
                <a:latin typeface="Arial"/>
              </a:rPr>
              <a:t>giao</a:t>
            </a:r>
            <a:r>
              <a:rPr dirty="0">
                <a:latin typeface="Arial"/>
              </a:rPr>
              <a:t> </a:t>
            </a:r>
            <a:r>
              <a:rPr dirty="0" err="1">
                <a:latin typeface="Arial"/>
              </a:rPr>
              <a:t>dịch</a:t>
            </a:r>
            <a:r>
              <a:rPr dirty="0">
                <a:latin typeface="Arial"/>
              </a:rPr>
              <a:t> — </a:t>
            </a:r>
            <a:r>
              <a:rPr dirty="0" err="1">
                <a:latin typeface="Arial"/>
              </a:rPr>
              <a:t>chuyển</a:t>
            </a:r>
            <a:r>
              <a:rPr dirty="0">
                <a:latin typeface="Arial"/>
              </a:rPr>
              <a:t> </a:t>
            </a:r>
            <a:r>
              <a:rPr dirty="0" err="1">
                <a:latin typeface="Arial"/>
              </a:rPr>
              <a:t>nhầm</a:t>
            </a:r>
            <a:r>
              <a:rPr dirty="0">
                <a:latin typeface="Arial"/>
              </a:rPr>
              <a:t> </a:t>
            </a:r>
            <a:r>
              <a:rPr dirty="0" err="1">
                <a:latin typeface="Arial"/>
              </a:rPr>
              <a:t>là</a:t>
            </a:r>
            <a:r>
              <a:rPr dirty="0">
                <a:latin typeface="Arial"/>
              </a:rPr>
              <a:t> </a:t>
            </a:r>
            <a:r>
              <a:rPr dirty="0" err="1">
                <a:latin typeface="Arial"/>
              </a:rPr>
              <a:t>mất</a:t>
            </a:r>
            <a:r>
              <a:rPr dirty="0">
                <a:latin typeface="Arial"/>
              </a:rPr>
              <a:t> </a:t>
            </a:r>
            <a:r>
              <a:rPr dirty="0" err="1">
                <a:latin typeface="Arial"/>
              </a:rPr>
              <a:t>vĩnh</a:t>
            </a:r>
            <a:r>
              <a:rPr dirty="0">
                <a:latin typeface="Arial"/>
              </a:rPr>
              <a:t> </a:t>
            </a:r>
            <a:r>
              <a:rPr dirty="0" err="1">
                <a:latin typeface="Arial"/>
              </a:rPr>
              <a:t>viễn</a:t>
            </a:r>
            <a:r>
              <a:rPr dirty="0">
                <a:latin typeface="Arial"/>
              </a:rPr>
              <a:t> </a:t>
            </a:r>
            <a:r>
              <a:rPr dirty="0" err="1">
                <a:latin typeface="Arial"/>
              </a:rPr>
              <a:t>tài</a:t>
            </a:r>
            <a:r>
              <a:rPr dirty="0">
                <a:latin typeface="Arial"/>
              </a:rPr>
              <a:t> </a:t>
            </a:r>
            <a:r>
              <a:rPr dirty="0" err="1">
                <a:latin typeface="Arial"/>
              </a:rPr>
              <a:t>sản</a:t>
            </a:r>
            <a:r>
              <a:rPr dirty="0">
                <a:latin typeface="Arial"/>
              </a:rPr>
              <a:t>.</a:t>
            </a:r>
          </a:p>
        </p:txBody>
      </p:sp>
      <p:sp>
        <p:nvSpPr>
          <p:cNvPr id="107" name="Rounded Rectangle 106"/>
          <p:cNvSpPr/>
          <p:nvPr/>
        </p:nvSpPr>
        <p:spPr>
          <a:xfrm>
            <a:off x="6492240" y="1920240"/>
            <a:ext cx="4937760" cy="1298448"/>
          </a:xfrm>
          <a:prstGeom prst="roundRect">
            <a:avLst/>
          </a:prstGeom>
          <a:solidFill>
            <a:srgbClr val="E0F2FE"/>
          </a:solidFill>
          <a:ln w="1905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6675120" y="2084832"/>
            <a:ext cx="4572000" cy="960120"/>
          </a:xfrm>
          <a:prstGeom prst="rect">
            <a:avLst/>
          </a:prstGeom>
          <a:noFill/>
        </p:spPr>
        <p:txBody>
          <a:bodyPr wrap="square">
            <a:spAutoFit/>
          </a:bodyPr>
          <a:lstStyle/>
          <a:p>
            <a:pPr>
              <a:defRPr sz="2100" b="1">
                <a:solidFill>
                  <a:srgbClr val="0EA5E9"/>
                </a:solidFill>
                <a:latin typeface="Arial"/>
              </a:defRPr>
            </a:pPr>
            <a:r>
              <a:t>65.340 ĐỊA CHỈ RỦI RO CAO</a:t>
            </a:r>
          </a:p>
          <a:p>
            <a:pPr>
              <a:defRPr sz="1600">
                <a:solidFill>
                  <a:srgbClr val="1E293B"/>
                </a:solidFill>
                <a:latin typeface="Arial"/>
              </a:defRPr>
            </a:pPr>
            <a:r>
              <a:t>Phát hiện tồn tại trên Ethereum &amp; BSC</a:t>
            </a:r>
          </a:p>
        </p:txBody>
      </p:sp>
      <p:sp>
        <p:nvSpPr>
          <p:cNvPr id="109" name="Rounded Rectangle 108"/>
          <p:cNvSpPr/>
          <p:nvPr/>
        </p:nvSpPr>
        <p:spPr>
          <a:xfrm>
            <a:off x="6492240" y="3401568"/>
            <a:ext cx="4937760" cy="1298448"/>
          </a:xfrm>
          <a:prstGeom prst="roundRect">
            <a:avLst/>
          </a:prstGeom>
          <a:solidFill>
            <a:srgbClr val="FEF3C7"/>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675120" y="3566160"/>
            <a:ext cx="4572000" cy="960120"/>
          </a:xfrm>
          <a:prstGeom prst="rect">
            <a:avLst/>
          </a:prstGeom>
          <a:noFill/>
        </p:spPr>
        <p:txBody>
          <a:bodyPr wrap="square">
            <a:spAutoFit/>
          </a:bodyPr>
          <a:lstStyle/>
          <a:p>
            <a:pPr>
              <a:defRPr sz="2100" b="1">
                <a:solidFill>
                  <a:srgbClr val="D97706"/>
                </a:solidFill>
                <a:latin typeface="Arial"/>
              </a:defRPr>
            </a:pPr>
            <a:r>
              <a:t>2.500.000+ GIAO DỊCH</a:t>
            </a:r>
          </a:p>
          <a:p>
            <a:pPr>
              <a:defRPr sz="1600">
                <a:solidFill>
                  <a:srgbClr val="1E293B"/>
                </a:solidFill>
                <a:latin typeface="Arial"/>
              </a:defRPr>
            </a:pPr>
            <a:r>
              <a:t>Các giao dịch liên quan đến Address Misuse được phát hiện</a:t>
            </a:r>
          </a:p>
        </p:txBody>
      </p:sp>
      <p:sp>
        <p:nvSpPr>
          <p:cNvPr id="111" name="Rounded Rectangle 110"/>
          <p:cNvSpPr/>
          <p:nvPr/>
        </p:nvSpPr>
        <p:spPr>
          <a:xfrm>
            <a:off x="6492240" y="4882896"/>
            <a:ext cx="4937760" cy="1298448"/>
          </a:xfrm>
          <a:prstGeom prst="roundRect">
            <a:avLst/>
          </a:prstGeom>
          <a:solidFill>
            <a:srgbClr val="FEE2E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6675120" y="5047488"/>
            <a:ext cx="4572000" cy="960120"/>
          </a:xfrm>
          <a:prstGeom prst="rect">
            <a:avLst/>
          </a:prstGeom>
          <a:noFill/>
        </p:spPr>
        <p:txBody>
          <a:bodyPr wrap="square">
            <a:spAutoFit/>
          </a:bodyPr>
          <a:lstStyle/>
          <a:p>
            <a:pPr>
              <a:defRPr sz="2100" b="1">
                <a:solidFill>
                  <a:srgbClr val="EF4444"/>
                </a:solidFill>
                <a:latin typeface="Arial"/>
              </a:defRPr>
            </a:pPr>
            <a:r>
              <a:t>&gt; $574.8M TỔNG THIỆT HẠI</a:t>
            </a:r>
          </a:p>
          <a:p>
            <a:pPr>
              <a:defRPr sz="1600">
                <a:solidFill>
                  <a:srgbClr val="1E293B"/>
                </a:solidFill>
                <a:latin typeface="Arial"/>
              </a:defRPr>
            </a:pPr>
            <a:r>
              <a:t>Gồm ~126.983 ETH và 17.727 BNB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4F46E5"/>
                </a:solidFill>
                <a:latin typeface="Arial"/>
              </a:defRPr>
            </a:pPr>
            <a:r>
              <a:t>[#]  CORE TECHNICAL MECHANISM</a:t>
            </a:r>
          </a:p>
        </p:txBody>
      </p:sp>
      <p:sp>
        <p:nvSpPr>
          <p:cNvPr id="4" name="TextBox 3"/>
          <p:cNvSpPr txBox="1"/>
          <p:nvPr/>
        </p:nvSpPr>
        <p:spPr>
          <a:xfrm>
            <a:off x="731520" y="713232"/>
            <a:ext cx="10789920" cy="777240"/>
          </a:xfrm>
          <a:prstGeom prst="rect">
            <a:avLst/>
          </a:prstGeom>
          <a:noFill/>
        </p:spPr>
        <p:txBody>
          <a:bodyPr wrap="square" lIns="0" tIns="0" rIns="0" bIns="0">
            <a:spAutoFit/>
          </a:bodyPr>
          <a:lstStyle/>
          <a:p>
            <a:pPr>
              <a:defRPr sz="3000" b="1">
                <a:solidFill>
                  <a:srgbClr val="0F172A"/>
                </a:solidFill>
                <a:latin typeface="Arial"/>
              </a:defRPr>
            </a:pPr>
            <a:r>
              <a:rPr dirty="0"/>
              <a:t>02. </a:t>
            </a:r>
            <a:r>
              <a:rPr dirty="0" err="1"/>
              <a:t>Bản</a:t>
            </a:r>
            <a:r>
              <a:rPr dirty="0"/>
              <a:t> </a:t>
            </a:r>
            <a:r>
              <a:rPr dirty="0" err="1"/>
              <a:t>chất</a:t>
            </a:r>
            <a:r>
              <a:rPr dirty="0"/>
              <a:t> </a:t>
            </a:r>
            <a:r>
              <a:rPr dirty="0" err="1"/>
              <a:t>kỹ</a:t>
            </a:r>
            <a:r>
              <a:rPr dirty="0"/>
              <a:t> </a:t>
            </a:r>
            <a:r>
              <a:rPr dirty="0" err="1"/>
              <a:t>thuật</a:t>
            </a:r>
            <a:r>
              <a:rPr dirty="0"/>
              <a:t>: Hai </a:t>
            </a:r>
            <a:r>
              <a:rPr dirty="0" err="1"/>
              <a:t>cơ</a:t>
            </a:r>
            <a:r>
              <a:rPr dirty="0"/>
              <a:t> </a:t>
            </a:r>
            <a:r>
              <a:rPr dirty="0" err="1"/>
              <a:t>chế</a:t>
            </a:r>
            <a:r>
              <a:rPr dirty="0"/>
              <a:t> Misuse</a:t>
            </a:r>
          </a:p>
        </p:txBody>
      </p:sp>
      <p:sp>
        <p:nvSpPr>
          <p:cNvPr id="103" name="WavyLine_103"/>
          <p:cNvSpPr/>
          <p:nvPr/>
        </p:nvSpPr>
        <p:spPr>
          <a:xfrm>
            <a:off x="731520" y="1536192"/>
            <a:ext cx="8412480" cy="152400"/>
          </a:xfrm>
          <a:custGeom>
            <a:avLst/>
            <a:gdLst/>
            <a:ahLst/>
            <a:cxnLst/>
            <a:rect l="0" t="0" r="8412480" b="152400"/>
            <a:pathLst>
              <a:path w="8412480"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cubicBezTo>
                  <a:pt x="5527548" y="12700"/>
                  <a:pt x="5527548" y="12700"/>
                  <a:pt x="5586984" y="76200"/>
                </a:cubicBezTo>
                <a:cubicBezTo>
                  <a:pt x="5646420" y="139700"/>
                  <a:pt x="5646420" y="139700"/>
                  <a:pt x="5705856" y="76200"/>
                </a:cubicBezTo>
                <a:cubicBezTo>
                  <a:pt x="5765292" y="12700"/>
                  <a:pt x="5765292" y="12700"/>
                  <a:pt x="5824728" y="76200"/>
                </a:cubicBezTo>
                <a:cubicBezTo>
                  <a:pt x="5884164" y="139700"/>
                  <a:pt x="5884164" y="139700"/>
                  <a:pt x="5943600" y="76200"/>
                </a:cubicBezTo>
                <a:cubicBezTo>
                  <a:pt x="6003036" y="12700"/>
                  <a:pt x="6003036" y="12700"/>
                  <a:pt x="6062472" y="76200"/>
                </a:cubicBezTo>
                <a:cubicBezTo>
                  <a:pt x="6121908" y="139700"/>
                  <a:pt x="6121908" y="139700"/>
                  <a:pt x="6181344" y="76200"/>
                </a:cubicBezTo>
                <a:cubicBezTo>
                  <a:pt x="6240780" y="12700"/>
                  <a:pt x="6240780" y="12700"/>
                  <a:pt x="6300216" y="76200"/>
                </a:cubicBezTo>
                <a:cubicBezTo>
                  <a:pt x="6359652" y="139700"/>
                  <a:pt x="6359652" y="139700"/>
                  <a:pt x="6419088" y="76200"/>
                </a:cubicBezTo>
                <a:cubicBezTo>
                  <a:pt x="6478524" y="12700"/>
                  <a:pt x="6478524" y="12700"/>
                  <a:pt x="6537960" y="76200"/>
                </a:cubicBezTo>
                <a:cubicBezTo>
                  <a:pt x="6597396" y="139700"/>
                  <a:pt x="6597396" y="139700"/>
                  <a:pt x="6656832" y="76200"/>
                </a:cubicBezTo>
                <a:cubicBezTo>
                  <a:pt x="6716268" y="12700"/>
                  <a:pt x="6716268" y="12700"/>
                  <a:pt x="6775704" y="76200"/>
                </a:cubicBezTo>
                <a:cubicBezTo>
                  <a:pt x="6835140" y="139700"/>
                  <a:pt x="6835140" y="139700"/>
                  <a:pt x="6894576" y="76200"/>
                </a:cubicBezTo>
                <a:cubicBezTo>
                  <a:pt x="6954012" y="12700"/>
                  <a:pt x="6954012" y="12700"/>
                  <a:pt x="7013448" y="76200"/>
                </a:cubicBezTo>
                <a:cubicBezTo>
                  <a:pt x="7072884" y="139700"/>
                  <a:pt x="7072884" y="139700"/>
                  <a:pt x="7132320" y="76200"/>
                </a:cubicBezTo>
                <a:cubicBezTo>
                  <a:pt x="7191756" y="12700"/>
                  <a:pt x="7191756" y="12700"/>
                  <a:pt x="7251192" y="76200"/>
                </a:cubicBezTo>
                <a:cubicBezTo>
                  <a:pt x="7310628" y="139700"/>
                  <a:pt x="7310628" y="139700"/>
                  <a:pt x="7370064" y="76200"/>
                </a:cubicBezTo>
                <a:cubicBezTo>
                  <a:pt x="7429500" y="12700"/>
                  <a:pt x="7429500" y="12700"/>
                  <a:pt x="7488936" y="76200"/>
                </a:cubicBezTo>
                <a:cubicBezTo>
                  <a:pt x="7548372" y="139700"/>
                  <a:pt x="7548372" y="139700"/>
                  <a:pt x="7607808" y="76200"/>
                </a:cubicBezTo>
                <a:cubicBezTo>
                  <a:pt x="7667244" y="12700"/>
                  <a:pt x="7667244" y="12700"/>
                  <a:pt x="7726680" y="76200"/>
                </a:cubicBezTo>
                <a:cubicBezTo>
                  <a:pt x="7786116" y="139700"/>
                  <a:pt x="7786116" y="139700"/>
                  <a:pt x="7845552" y="76200"/>
                </a:cubicBezTo>
                <a:cubicBezTo>
                  <a:pt x="7904988" y="12700"/>
                  <a:pt x="7904988" y="12700"/>
                  <a:pt x="7964424" y="76200"/>
                </a:cubicBezTo>
                <a:cubicBezTo>
                  <a:pt x="8023860" y="139700"/>
                  <a:pt x="8023860" y="139700"/>
                  <a:pt x="8083296" y="76200"/>
                </a:cubicBezTo>
                <a:cubicBezTo>
                  <a:pt x="8142732" y="12700"/>
                  <a:pt x="8142732" y="12700"/>
                  <a:pt x="8202168" y="76200"/>
                </a:cubicBezTo>
                <a:cubicBezTo>
                  <a:pt x="8261604" y="139700"/>
                  <a:pt x="8261604" y="139700"/>
                  <a:pt x="8321040" y="76200"/>
                </a:cubicBezTo>
              </a:path>
            </a:pathLst>
          </a:custGeom>
          <a:ln w="42000">
            <a:solidFill>
              <a:srgbClr val="4F46E5"/>
            </a:solidFill>
            <a:round/>
          </a:ln>
        </p:spPr>
        <p:txBody>
          <a:bodyPr/>
          <a:lstStyle/>
          <a:p>
            <a:endParaRPr lang="en-US"/>
          </a:p>
        </p:txBody>
      </p:sp>
      <p:sp>
        <p:nvSpPr>
          <p:cNvPr id="104" name="Rounded Rectangle 103"/>
          <p:cNvSpPr/>
          <p:nvPr/>
        </p:nvSpPr>
        <p:spPr>
          <a:xfrm>
            <a:off x="731520" y="1920240"/>
            <a:ext cx="5212080" cy="4434840"/>
          </a:xfrm>
          <a:prstGeom prst="roundRect">
            <a:avLst/>
          </a:prstGeom>
          <a:solidFill>
            <a:srgbClr val="EEF2FF"/>
          </a:solidFill>
          <a:ln w="254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1005840" y="2148840"/>
            <a:ext cx="4663440" cy="411480"/>
          </a:xfrm>
          <a:prstGeom prst="roundRect">
            <a:avLst/>
          </a:prstGeom>
          <a:solidFill>
            <a:srgbClr val="FFFF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F46E5"/>
                </a:solidFill>
                <a:latin typeface="Arial"/>
              </a:defRPr>
            </a:pPr>
            <a:r>
              <a:rPr sz="1600" dirty="0"/>
              <a:t>KẼ HỞ TẦNG MÁY ẢO EVM</a:t>
            </a:r>
          </a:p>
        </p:txBody>
      </p:sp>
      <p:sp>
        <p:nvSpPr>
          <p:cNvPr id="106" name="TextBox 105"/>
          <p:cNvSpPr txBox="1"/>
          <p:nvPr/>
        </p:nvSpPr>
        <p:spPr>
          <a:xfrm>
            <a:off x="1005840" y="2697480"/>
            <a:ext cx="4663440" cy="548640"/>
          </a:xfrm>
          <a:prstGeom prst="rect">
            <a:avLst/>
          </a:prstGeom>
          <a:noFill/>
        </p:spPr>
        <p:txBody>
          <a:bodyPr wrap="none">
            <a:spAutoFit/>
          </a:bodyPr>
          <a:lstStyle/>
          <a:p>
            <a:pPr>
              <a:defRPr sz="2200" b="1">
                <a:solidFill>
                  <a:srgbClr val="0F172A"/>
                </a:solidFill>
                <a:latin typeface="Arial"/>
              </a:defRPr>
            </a:pPr>
            <a:r>
              <a:t>1. CA MISUSE (NHẦM HỢP ĐỒNG)</a:t>
            </a:r>
          </a:p>
        </p:txBody>
      </p:sp>
      <p:sp>
        <p:nvSpPr>
          <p:cNvPr id="107" name="TextBox 106"/>
          <p:cNvSpPr txBox="1"/>
          <p:nvPr/>
        </p:nvSpPr>
        <p:spPr>
          <a:xfrm>
            <a:off x="1005840" y="3337560"/>
            <a:ext cx="4663440" cy="2328843"/>
          </a:xfrm>
          <a:prstGeom prst="rect">
            <a:avLst/>
          </a:prstGeom>
          <a:noFill/>
        </p:spPr>
        <p:txBody>
          <a:bodyPr wrap="square">
            <a:spAutoFit/>
          </a:bodyPr>
          <a:lstStyle/>
          <a:p>
            <a:pPr algn="just">
              <a:spcAft>
                <a:spcPts val="1400"/>
              </a:spcAft>
            </a:pPr>
            <a:r>
              <a:rPr sz="1800" b="1" dirty="0">
                <a:latin typeface="Arial"/>
              </a:rPr>
              <a:t>• </a:t>
            </a:r>
            <a:r>
              <a:rPr sz="1800" b="1" dirty="0" err="1">
                <a:latin typeface="Arial"/>
              </a:rPr>
              <a:t>Bản</a:t>
            </a:r>
            <a:r>
              <a:rPr sz="1800" b="1" dirty="0">
                <a:latin typeface="Arial"/>
              </a:rPr>
              <a:t> </a:t>
            </a:r>
            <a:r>
              <a:rPr sz="1800" b="1" dirty="0" err="1">
                <a:latin typeface="Arial"/>
              </a:rPr>
              <a:t>chất</a:t>
            </a:r>
            <a:r>
              <a:rPr sz="1800" b="1" dirty="0">
                <a:latin typeface="Arial"/>
              </a:rPr>
              <a:t>: </a:t>
            </a:r>
            <a:r>
              <a:rPr sz="1700" dirty="0" err="1">
                <a:latin typeface="Arial"/>
              </a:rPr>
              <a:t>Gửi</a:t>
            </a:r>
            <a:r>
              <a:rPr sz="1700" dirty="0">
                <a:latin typeface="Arial"/>
              </a:rPr>
              <a:t> </a:t>
            </a:r>
            <a:r>
              <a:rPr sz="1700" dirty="0" err="1">
                <a:latin typeface="Arial"/>
              </a:rPr>
              <a:t>lệnh</a:t>
            </a:r>
            <a:r>
              <a:rPr sz="1700" dirty="0">
                <a:latin typeface="Arial"/>
              </a:rPr>
              <a:t> </a:t>
            </a:r>
            <a:r>
              <a:rPr sz="1700" dirty="0" err="1">
                <a:latin typeface="Arial"/>
              </a:rPr>
              <a:t>gọi</a:t>
            </a:r>
            <a:r>
              <a:rPr sz="1700" dirty="0">
                <a:latin typeface="Arial"/>
              </a:rPr>
              <a:t> </a:t>
            </a:r>
            <a:r>
              <a:rPr sz="1700" dirty="0" err="1">
                <a:latin typeface="Arial"/>
              </a:rPr>
              <a:t>hàm</a:t>
            </a:r>
            <a:r>
              <a:rPr sz="1700" dirty="0">
                <a:latin typeface="Arial"/>
              </a:rPr>
              <a:t> </a:t>
            </a:r>
            <a:r>
              <a:rPr sz="1700" dirty="0" err="1">
                <a:latin typeface="Arial"/>
              </a:rPr>
              <a:t>có</a:t>
            </a:r>
            <a:r>
              <a:rPr sz="1700" dirty="0">
                <a:latin typeface="Arial"/>
              </a:rPr>
              <a:t> </a:t>
            </a:r>
            <a:r>
              <a:rPr sz="1700" dirty="0" err="1">
                <a:latin typeface="Arial"/>
              </a:rPr>
              <a:t>calldata</a:t>
            </a:r>
            <a:r>
              <a:rPr sz="1700" dirty="0">
                <a:latin typeface="Arial"/>
              </a:rPr>
              <a:t> </a:t>
            </a:r>
            <a:r>
              <a:rPr sz="1700" dirty="0" err="1">
                <a:latin typeface="Arial"/>
              </a:rPr>
              <a:t>vào</a:t>
            </a:r>
            <a:r>
              <a:rPr sz="1700" dirty="0">
                <a:latin typeface="Arial"/>
              </a:rPr>
              <a:t> </a:t>
            </a:r>
            <a:r>
              <a:rPr sz="1700" dirty="0" err="1">
                <a:latin typeface="Arial"/>
              </a:rPr>
              <a:t>địa</a:t>
            </a:r>
            <a:r>
              <a:rPr sz="1700" dirty="0">
                <a:latin typeface="Arial"/>
              </a:rPr>
              <a:t> </a:t>
            </a:r>
            <a:r>
              <a:rPr sz="1700" dirty="0" err="1">
                <a:latin typeface="Arial"/>
              </a:rPr>
              <a:t>chỉ</a:t>
            </a:r>
            <a:r>
              <a:rPr sz="1700" dirty="0">
                <a:latin typeface="Arial"/>
              </a:rPr>
              <a:t> </a:t>
            </a:r>
            <a:r>
              <a:rPr lang="vi-VN" sz="1700" dirty="0">
                <a:latin typeface="Arial"/>
              </a:rPr>
              <a:t>chưa có code </a:t>
            </a:r>
            <a:r>
              <a:rPr sz="1700" dirty="0">
                <a:latin typeface="Arial"/>
              </a:rPr>
              <a:t>(NCA).</a:t>
            </a:r>
          </a:p>
          <a:p>
            <a:pPr algn="just">
              <a:spcAft>
                <a:spcPts val="1400"/>
              </a:spcAft>
            </a:pPr>
            <a:r>
              <a:rPr sz="1800" b="1" dirty="0">
                <a:latin typeface="Arial"/>
              </a:rPr>
              <a:t>• </a:t>
            </a:r>
            <a:r>
              <a:rPr sz="1800" b="1" dirty="0" err="1">
                <a:latin typeface="Arial"/>
              </a:rPr>
              <a:t>Kẽ</a:t>
            </a:r>
            <a:r>
              <a:rPr sz="1800" b="1" dirty="0">
                <a:latin typeface="Arial"/>
              </a:rPr>
              <a:t> </a:t>
            </a:r>
            <a:r>
              <a:rPr sz="1800" b="1" dirty="0" err="1">
                <a:latin typeface="Arial"/>
              </a:rPr>
              <a:t>hở</a:t>
            </a:r>
            <a:r>
              <a:rPr sz="1800" b="1" dirty="0">
                <a:latin typeface="Arial"/>
              </a:rPr>
              <a:t> 'Silent Success': </a:t>
            </a:r>
            <a:r>
              <a:rPr sz="1700" dirty="0">
                <a:latin typeface="Arial"/>
              </a:rPr>
              <a:t>EVM </a:t>
            </a:r>
            <a:r>
              <a:rPr sz="1700" dirty="0" err="1">
                <a:latin typeface="Arial"/>
              </a:rPr>
              <a:t>không</a:t>
            </a:r>
            <a:r>
              <a:rPr sz="1700" dirty="0">
                <a:latin typeface="Arial"/>
              </a:rPr>
              <a:t> </a:t>
            </a:r>
            <a:r>
              <a:rPr sz="1700" dirty="0" err="1">
                <a:latin typeface="Arial"/>
              </a:rPr>
              <a:t>hề</a:t>
            </a:r>
            <a:r>
              <a:rPr sz="1700" dirty="0">
                <a:latin typeface="Arial"/>
              </a:rPr>
              <a:t> </a:t>
            </a:r>
            <a:r>
              <a:rPr sz="1700" dirty="0" err="1">
                <a:latin typeface="Arial"/>
              </a:rPr>
              <a:t>báo</a:t>
            </a:r>
            <a:r>
              <a:rPr sz="1700" dirty="0">
                <a:latin typeface="Arial"/>
              </a:rPr>
              <a:t> </a:t>
            </a:r>
            <a:r>
              <a:rPr sz="1700" dirty="0" err="1">
                <a:latin typeface="Arial"/>
              </a:rPr>
              <a:t>lỗi</a:t>
            </a:r>
            <a:r>
              <a:rPr sz="1700" dirty="0">
                <a:latin typeface="Arial"/>
              </a:rPr>
              <a:t>; </a:t>
            </a:r>
            <a:r>
              <a:rPr sz="1700" dirty="0" err="1">
                <a:latin typeface="Arial"/>
              </a:rPr>
              <a:t>tự</a:t>
            </a:r>
            <a:r>
              <a:rPr sz="1700" dirty="0">
                <a:latin typeface="Arial"/>
              </a:rPr>
              <a:t> </a:t>
            </a:r>
            <a:r>
              <a:rPr sz="1700" dirty="0" err="1">
                <a:latin typeface="Arial"/>
              </a:rPr>
              <a:t>động</a:t>
            </a:r>
            <a:r>
              <a:rPr sz="1700" dirty="0">
                <a:latin typeface="Arial"/>
              </a:rPr>
              <a:t> </a:t>
            </a:r>
            <a:r>
              <a:rPr sz="1700" dirty="0" err="1">
                <a:latin typeface="Arial"/>
              </a:rPr>
              <a:t>coi</a:t>
            </a:r>
            <a:r>
              <a:rPr sz="1700" dirty="0">
                <a:latin typeface="Arial"/>
              </a:rPr>
              <a:t> </a:t>
            </a:r>
            <a:r>
              <a:rPr sz="1700" dirty="0" err="1">
                <a:latin typeface="Arial"/>
              </a:rPr>
              <a:t>như</a:t>
            </a:r>
            <a:r>
              <a:rPr sz="1700" dirty="0">
                <a:latin typeface="Arial"/>
              </a:rPr>
              <a:t> </a:t>
            </a:r>
            <a:r>
              <a:rPr sz="1700" dirty="0" err="1">
                <a:latin typeface="Arial"/>
              </a:rPr>
              <a:t>giao</a:t>
            </a:r>
            <a:r>
              <a:rPr sz="1700" dirty="0">
                <a:latin typeface="Arial"/>
              </a:rPr>
              <a:t> </a:t>
            </a:r>
            <a:r>
              <a:rPr sz="1700" dirty="0" err="1">
                <a:latin typeface="Arial"/>
              </a:rPr>
              <a:t>dịch</a:t>
            </a:r>
            <a:r>
              <a:rPr sz="1700" dirty="0">
                <a:latin typeface="Arial"/>
              </a:rPr>
              <a:t> </a:t>
            </a:r>
            <a:r>
              <a:rPr sz="1700" dirty="0" err="1">
                <a:latin typeface="Arial"/>
              </a:rPr>
              <a:t>chuyển</a:t>
            </a:r>
            <a:r>
              <a:rPr sz="1700" dirty="0">
                <a:latin typeface="Arial"/>
              </a:rPr>
              <a:t> </a:t>
            </a:r>
            <a:r>
              <a:rPr sz="1700" dirty="0" err="1">
                <a:latin typeface="Arial"/>
              </a:rPr>
              <a:t>tiền</a:t>
            </a:r>
            <a:r>
              <a:rPr sz="1700" dirty="0">
                <a:latin typeface="Arial"/>
              </a:rPr>
              <a:t> </a:t>
            </a:r>
            <a:r>
              <a:rPr sz="1700" dirty="0" err="1">
                <a:latin typeface="Arial"/>
              </a:rPr>
              <a:t>thuần</a:t>
            </a:r>
            <a:r>
              <a:rPr sz="1700" dirty="0">
                <a:latin typeface="Arial"/>
              </a:rPr>
              <a:t> </a:t>
            </a:r>
            <a:r>
              <a:rPr sz="1700" dirty="0" err="1">
                <a:latin typeface="Arial"/>
              </a:rPr>
              <a:t>túy</a:t>
            </a:r>
            <a:r>
              <a:rPr sz="1700" dirty="0">
                <a:latin typeface="Arial"/>
              </a:rPr>
              <a:t> </a:t>
            </a:r>
            <a:r>
              <a:rPr sz="1700" dirty="0" err="1">
                <a:latin typeface="Arial"/>
              </a:rPr>
              <a:t>và</a:t>
            </a:r>
            <a:r>
              <a:rPr sz="1700" dirty="0">
                <a:latin typeface="Arial"/>
              </a:rPr>
              <a:t> </a:t>
            </a:r>
            <a:r>
              <a:rPr sz="1700" dirty="0" err="1">
                <a:latin typeface="Arial"/>
              </a:rPr>
              <a:t>lờ</a:t>
            </a:r>
            <a:r>
              <a:rPr sz="1700" dirty="0">
                <a:latin typeface="Arial"/>
              </a:rPr>
              <a:t> </a:t>
            </a:r>
            <a:r>
              <a:rPr sz="1700" dirty="0" err="1">
                <a:latin typeface="Arial"/>
              </a:rPr>
              <a:t>đi</a:t>
            </a:r>
            <a:r>
              <a:rPr sz="1700" dirty="0">
                <a:latin typeface="Arial"/>
              </a:rPr>
              <a:t> </a:t>
            </a:r>
            <a:r>
              <a:rPr sz="1700" dirty="0" err="1">
                <a:latin typeface="Arial"/>
              </a:rPr>
              <a:t>calldata</a:t>
            </a:r>
            <a:r>
              <a:rPr sz="1700" dirty="0">
                <a:latin typeface="Arial"/>
              </a:rPr>
              <a:t>.</a:t>
            </a:r>
          </a:p>
          <a:p>
            <a:pPr algn="just">
              <a:spcAft>
                <a:spcPts val="1400"/>
              </a:spcAft>
            </a:pPr>
            <a:r>
              <a:rPr sz="1800" b="1" dirty="0">
                <a:latin typeface="Arial"/>
              </a:rPr>
              <a:t>• Hậu </a:t>
            </a:r>
            <a:r>
              <a:rPr sz="1800" b="1" dirty="0" err="1">
                <a:latin typeface="Arial"/>
              </a:rPr>
              <a:t>quả</a:t>
            </a:r>
            <a:r>
              <a:rPr sz="1800" b="1" dirty="0">
                <a:latin typeface="Arial"/>
              </a:rPr>
              <a:t>: </a:t>
            </a:r>
            <a:r>
              <a:rPr sz="1700" dirty="0" err="1">
                <a:latin typeface="Arial"/>
              </a:rPr>
              <a:t>Toàn</a:t>
            </a:r>
            <a:r>
              <a:rPr sz="1700" dirty="0">
                <a:latin typeface="Arial"/>
              </a:rPr>
              <a:t> </a:t>
            </a:r>
            <a:r>
              <a:rPr sz="1700" dirty="0" err="1">
                <a:latin typeface="Arial"/>
              </a:rPr>
              <a:t>bộ</a:t>
            </a:r>
            <a:r>
              <a:rPr sz="1700" dirty="0">
                <a:latin typeface="Arial"/>
              </a:rPr>
              <a:t> </a:t>
            </a:r>
            <a:r>
              <a:rPr sz="1700" dirty="0" err="1">
                <a:latin typeface="Arial"/>
              </a:rPr>
              <a:t>số</a:t>
            </a:r>
            <a:r>
              <a:rPr sz="1700" dirty="0">
                <a:latin typeface="Arial"/>
              </a:rPr>
              <a:t> </a:t>
            </a:r>
            <a:r>
              <a:rPr sz="1700" dirty="0" err="1">
                <a:latin typeface="Arial"/>
              </a:rPr>
              <a:t>tiền</a:t>
            </a:r>
            <a:r>
              <a:rPr sz="1700" dirty="0">
                <a:latin typeface="Arial"/>
              </a:rPr>
              <a:t> </a:t>
            </a:r>
            <a:r>
              <a:rPr sz="1700" dirty="0" err="1">
                <a:latin typeface="Arial"/>
              </a:rPr>
              <a:t>nạp</a:t>
            </a:r>
            <a:r>
              <a:rPr sz="1700" dirty="0">
                <a:latin typeface="Arial"/>
              </a:rPr>
              <a:t> </a:t>
            </a:r>
            <a:r>
              <a:rPr sz="1700" dirty="0" err="1">
                <a:latin typeface="Arial"/>
              </a:rPr>
              <a:t>kèm</a:t>
            </a:r>
            <a:r>
              <a:rPr sz="1700" dirty="0">
                <a:latin typeface="Arial"/>
              </a:rPr>
              <a:t> </a:t>
            </a:r>
            <a:r>
              <a:rPr sz="1700" dirty="0" err="1">
                <a:latin typeface="Arial"/>
              </a:rPr>
              <a:t>bị</a:t>
            </a:r>
            <a:r>
              <a:rPr sz="1700" dirty="0">
                <a:latin typeface="Arial"/>
              </a:rPr>
              <a:t> </a:t>
            </a:r>
            <a:r>
              <a:rPr lang="vi-VN" sz="1700" dirty="0">
                <a:latin typeface="Arial"/>
              </a:rPr>
              <a:t>kẹt cứng </a:t>
            </a:r>
            <a:r>
              <a:rPr sz="1700" dirty="0" err="1">
                <a:latin typeface="Arial"/>
              </a:rPr>
              <a:t>vĩnh</a:t>
            </a:r>
            <a:r>
              <a:rPr sz="1700" dirty="0">
                <a:latin typeface="Arial"/>
              </a:rPr>
              <a:t> </a:t>
            </a:r>
            <a:r>
              <a:rPr sz="1700" dirty="0" err="1">
                <a:latin typeface="Arial"/>
              </a:rPr>
              <a:t>viễn</a:t>
            </a:r>
            <a:r>
              <a:rPr sz="1700" dirty="0">
                <a:latin typeface="Arial"/>
              </a:rPr>
              <a:t> </a:t>
            </a:r>
            <a:r>
              <a:rPr sz="1700" dirty="0" err="1">
                <a:latin typeface="Arial"/>
              </a:rPr>
              <a:t>trong</a:t>
            </a:r>
            <a:r>
              <a:rPr sz="1700" dirty="0">
                <a:latin typeface="Arial"/>
              </a:rPr>
              <a:t> </a:t>
            </a:r>
            <a:r>
              <a:rPr sz="1700" dirty="0" err="1">
                <a:latin typeface="Arial"/>
              </a:rPr>
              <a:t>địa</a:t>
            </a:r>
            <a:r>
              <a:rPr sz="1700" dirty="0">
                <a:latin typeface="Arial"/>
              </a:rPr>
              <a:t> </a:t>
            </a:r>
            <a:r>
              <a:rPr sz="1700" dirty="0" err="1">
                <a:latin typeface="Arial"/>
              </a:rPr>
              <a:t>chỉ</a:t>
            </a:r>
            <a:r>
              <a:rPr sz="1700" dirty="0">
                <a:latin typeface="Arial"/>
              </a:rPr>
              <a:t> </a:t>
            </a:r>
            <a:r>
              <a:rPr lang="vi-VN" sz="1700" dirty="0">
                <a:latin typeface="Arial"/>
              </a:rPr>
              <a:t>rỗng.</a:t>
            </a:r>
            <a:endParaRPr sz="1700" dirty="0">
              <a:latin typeface="Arial"/>
            </a:endParaRPr>
          </a:p>
        </p:txBody>
      </p:sp>
      <p:sp>
        <p:nvSpPr>
          <p:cNvPr id="108" name="Rounded Rectangle 107"/>
          <p:cNvSpPr/>
          <p:nvPr/>
        </p:nvSpPr>
        <p:spPr>
          <a:xfrm>
            <a:off x="6217920" y="1920240"/>
            <a:ext cx="5212080" cy="4434840"/>
          </a:xfrm>
          <a:prstGeom prst="roundRect">
            <a:avLst/>
          </a:prstGeom>
          <a:solidFill>
            <a:srgbClr val="FEE2E2"/>
          </a:solidFill>
          <a:ln w="254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p:cNvSpPr/>
          <p:nvPr/>
        </p:nvSpPr>
        <p:spPr>
          <a:xfrm>
            <a:off x="6492240" y="2148840"/>
            <a:ext cx="4663440" cy="411480"/>
          </a:xfrm>
          <a:prstGeom prst="roundRect">
            <a:avLst/>
          </a:prstGeom>
          <a:solidFill>
            <a:srgbClr val="FFFFFF"/>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F4444"/>
                </a:solidFill>
                <a:latin typeface="Arial"/>
              </a:defRPr>
            </a:pPr>
            <a:r>
              <a:rPr sz="1600" dirty="0"/>
              <a:t>NGUY CƠ BỊ RÚT TIỀN TỨC THÌ</a:t>
            </a:r>
          </a:p>
        </p:txBody>
      </p:sp>
      <p:sp>
        <p:nvSpPr>
          <p:cNvPr id="110" name="TextBox 109"/>
          <p:cNvSpPr txBox="1"/>
          <p:nvPr/>
        </p:nvSpPr>
        <p:spPr>
          <a:xfrm>
            <a:off x="6492240" y="2697480"/>
            <a:ext cx="4663440" cy="548640"/>
          </a:xfrm>
          <a:prstGeom prst="rect">
            <a:avLst/>
          </a:prstGeom>
          <a:noFill/>
        </p:spPr>
        <p:txBody>
          <a:bodyPr wrap="none">
            <a:spAutoFit/>
          </a:bodyPr>
          <a:lstStyle/>
          <a:p>
            <a:pPr>
              <a:defRPr sz="2200" b="1">
                <a:solidFill>
                  <a:srgbClr val="0F172A"/>
                </a:solidFill>
                <a:latin typeface="Arial"/>
              </a:defRPr>
            </a:pPr>
            <a:r>
              <a:t>2. EOA MISUSE (LỘ PRIVATE KEY)</a:t>
            </a:r>
          </a:p>
        </p:txBody>
      </p:sp>
      <p:sp>
        <p:nvSpPr>
          <p:cNvPr id="111" name="TextBox 110"/>
          <p:cNvSpPr txBox="1"/>
          <p:nvPr/>
        </p:nvSpPr>
        <p:spPr>
          <a:xfrm>
            <a:off x="6492240" y="3337560"/>
            <a:ext cx="4663440" cy="2590453"/>
          </a:xfrm>
          <a:prstGeom prst="rect">
            <a:avLst/>
          </a:prstGeom>
          <a:noFill/>
        </p:spPr>
        <p:txBody>
          <a:bodyPr wrap="square">
            <a:spAutoFit/>
          </a:bodyPr>
          <a:lstStyle/>
          <a:p>
            <a:pPr algn="just">
              <a:spcAft>
                <a:spcPts val="1400"/>
              </a:spcAft>
            </a:pPr>
            <a:r>
              <a:rPr sz="1800" b="1" dirty="0">
                <a:latin typeface="Arial"/>
              </a:rPr>
              <a:t>• </a:t>
            </a:r>
            <a:r>
              <a:rPr sz="1800" b="1" dirty="0" err="1">
                <a:latin typeface="Arial"/>
              </a:rPr>
              <a:t>Bản</a:t>
            </a:r>
            <a:r>
              <a:rPr sz="1800" b="1" dirty="0">
                <a:latin typeface="Arial"/>
              </a:rPr>
              <a:t> </a:t>
            </a:r>
            <a:r>
              <a:rPr sz="1800" b="1" dirty="0" err="1">
                <a:latin typeface="Arial"/>
              </a:rPr>
              <a:t>chất</a:t>
            </a:r>
            <a:r>
              <a:rPr sz="1800" b="1" dirty="0">
                <a:latin typeface="Arial"/>
              </a:rPr>
              <a:t>: </a:t>
            </a:r>
            <a:r>
              <a:rPr sz="1700" dirty="0" err="1">
                <a:latin typeface="Arial"/>
              </a:rPr>
              <a:t>Nạp</a:t>
            </a:r>
            <a:r>
              <a:rPr sz="1700" dirty="0">
                <a:latin typeface="Arial"/>
              </a:rPr>
              <a:t> </a:t>
            </a:r>
            <a:r>
              <a:rPr sz="1700" dirty="0" err="1">
                <a:latin typeface="Arial"/>
              </a:rPr>
              <a:t>tiền</a:t>
            </a:r>
            <a:r>
              <a:rPr sz="1700" dirty="0">
                <a:latin typeface="Arial"/>
              </a:rPr>
              <a:t> </a:t>
            </a:r>
            <a:r>
              <a:rPr sz="1700" dirty="0" err="1">
                <a:latin typeface="Arial"/>
              </a:rPr>
              <a:t>thật</a:t>
            </a:r>
            <a:r>
              <a:rPr sz="1700" dirty="0">
                <a:latin typeface="Arial"/>
              </a:rPr>
              <a:t> </a:t>
            </a:r>
            <a:r>
              <a:rPr sz="1700" dirty="0" err="1">
                <a:latin typeface="Arial"/>
              </a:rPr>
              <a:t>vào</a:t>
            </a:r>
            <a:r>
              <a:rPr sz="1700" dirty="0">
                <a:latin typeface="Arial"/>
              </a:rPr>
              <a:t> </a:t>
            </a:r>
            <a:r>
              <a:rPr sz="1700" dirty="0" err="1">
                <a:latin typeface="Arial"/>
              </a:rPr>
              <a:t>ví</a:t>
            </a:r>
            <a:r>
              <a:rPr sz="1700" dirty="0">
                <a:latin typeface="Arial"/>
              </a:rPr>
              <a:t> </a:t>
            </a:r>
            <a:r>
              <a:rPr sz="1700" dirty="0" err="1">
                <a:latin typeface="Arial"/>
              </a:rPr>
              <a:t>cá</a:t>
            </a:r>
            <a:r>
              <a:rPr sz="1700" dirty="0">
                <a:latin typeface="Arial"/>
              </a:rPr>
              <a:t> </a:t>
            </a:r>
            <a:r>
              <a:rPr sz="1700" dirty="0" err="1">
                <a:latin typeface="Arial"/>
              </a:rPr>
              <a:t>nhân</a:t>
            </a:r>
            <a:r>
              <a:rPr sz="1700" dirty="0">
                <a:latin typeface="Arial"/>
              </a:rPr>
              <a:t> (EOA) </a:t>
            </a:r>
            <a:r>
              <a:rPr sz="1700" dirty="0" err="1">
                <a:latin typeface="Arial"/>
              </a:rPr>
              <a:t>đã</a:t>
            </a:r>
            <a:r>
              <a:rPr sz="1700" dirty="0">
                <a:latin typeface="Arial"/>
              </a:rPr>
              <a:t> </a:t>
            </a:r>
            <a:r>
              <a:rPr sz="1700" dirty="0" err="1">
                <a:latin typeface="Arial"/>
              </a:rPr>
              <a:t>bị</a:t>
            </a:r>
            <a:r>
              <a:rPr sz="1700" dirty="0">
                <a:latin typeface="Arial"/>
              </a:rPr>
              <a:t> </a:t>
            </a:r>
            <a:r>
              <a:rPr lang="vi-VN" sz="1700" dirty="0">
                <a:latin typeface="Arial"/>
              </a:rPr>
              <a:t>lộ private key </a:t>
            </a:r>
            <a:r>
              <a:rPr sz="1700" dirty="0" err="1">
                <a:latin typeface="Arial"/>
              </a:rPr>
              <a:t>trên</a:t>
            </a:r>
            <a:r>
              <a:rPr sz="1700" dirty="0">
                <a:latin typeface="Arial"/>
              </a:rPr>
              <a:t> GitHub, Truffle, Hardhat.</a:t>
            </a:r>
          </a:p>
          <a:p>
            <a:pPr algn="just">
              <a:spcAft>
                <a:spcPts val="1400"/>
              </a:spcAft>
            </a:pPr>
            <a:r>
              <a:rPr sz="1800" b="1" dirty="0">
                <a:latin typeface="Arial"/>
              </a:rPr>
              <a:t>• </a:t>
            </a:r>
            <a:r>
              <a:rPr sz="1800" b="1" dirty="0" err="1">
                <a:latin typeface="Arial"/>
              </a:rPr>
              <a:t>Kẽ</a:t>
            </a:r>
            <a:r>
              <a:rPr sz="1800" b="1" dirty="0">
                <a:latin typeface="Arial"/>
              </a:rPr>
              <a:t> </a:t>
            </a:r>
            <a:r>
              <a:rPr sz="1800" b="1" dirty="0" err="1">
                <a:latin typeface="Arial"/>
              </a:rPr>
              <a:t>hở</a:t>
            </a:r>
            <a:r>
              <a:rPr sz="1800" b="1" dirty="0">
                <a:latin typeface="Arial"/>
              </a:rPr>
              <a:t> MEV Bot: </a:t>
            </a:r>
            <a:r>
              <a:rPr sz="1700" dirty="0" err="1">
                <a:latin typeface="Arial"/>
              </a:rPr>
              <a:t>Kẻ</a:t>
            </a:r>
            <a:r>
              <a:rPr sz="1700" dirty="0">
                <a:latin typeface="Arial"/>
              </a:rPr>
              <a:t> </a:t>
            </a:r>
            <a:r>
              <a:rPr sz="1700" dirty="0" err="1">
                <a:latin typeface="Arial"/>
              </a:rPr>
              <a:t>xấu</a:t>
            </a:r>
            <a:r>
              <a:rPr sz="1700" dirty="0">
                <a:latin typeface="Arial"/>
              </a:rPr>
              <a:t> </a:t>
            </a:r>
            <a:r>
              <a:rPr sz="1700" dirty="0" err="1">
                <a:latin typeface="Arial"/>
              </a:rPr>
              <a:t>cài</a:t>
            </a:r>
            <a:r>
              <a:rPr sz="1700" dirty="0">
                <a:latin typeface="Arial"/>
              </a:rPr>
              <a:t> </a:t>
            </a:r>
            <a:r>
              <a:rPr sz="1700" dirty="0" err="1">
                <a:latin typeface="Arial"/>
              </a:rPr>
              <a:t>đặt</a:t>
            </a:r>
            <a:r>
              <a:rPr sz="1700" dirty="0">
                <a:latin typeface="Arial"/>
              </a:rPr>
              <a:t> bot </a:t>
            </a:r>
            <a:r>
              <a:rPr sz="1700" dirty="0" err="1">
                <a:latin typeface="Arial"/>
              </a:rPr>
              <a:t>tự</a:t>
            </a:r>
            <a:r>
              <a:rPr sz="1700" dirty="0">
                <a:latin typeface="Arial"/>
              </a:rPr>
              <a:t> </a:t>
            </a:r>
            <a:r>
              <a:rPr sz="1700" dirty="0" err="1">
                <a:latin typeface="Arial"/>
              </a:rPr>
              <a:t>động</a:t>
            </a:r>
            <a:r>
              <a:rPr sz="1700" dirty="0">
                <a:latin typeface="Arial"/>
              </a:rPr>
              <a:t> </a:t>
            </a:r>
            <a:r>
              <a:rPr sz="1700" dirty="0" err="1">
                <a:latin typeface="Arial"/>
              </a:rPr>
              <a:t>rà</a:t>
            </a:r>
            <a:r>
              <a:rPr sz="1700" dirty="0">
                <a:latin typeface="Arial"/>
              </a:rPr>
              <a:t> </a:t>
            </a:r>
            <a:r>
              <a:rPr sz="1700" dirty="0" err="1">
                <a:latin typeface="Arial"/>
              </a:rPr>
              <a:t>quét</a:t>
            </a:r>
            <a:r>
              <a:rPr sz="1700" dirty="0">
                <a:latin typeface="Arial"/>
              </a:rPr>
              <a:t> </a:t>
            </a:r>
            <a:r>
              <a:rPr sz="1700" dirty="0" err="1">
                <a:latin typeface="Arial"/>
              </a:rPr>
              <a:t>mempool</a:t>
            </a:r>
            <a:r>
              <a:rPr sz="1700" dirty="0">
                <a:latin typeface="Arial"/>
              </a:rPr>
              <a:t> 24/7.</a:t>
            </a:r>
          </a:p>
          <a:p>
            <a:pPr algn="just">
              <a:spcAft>
                <a:spcPts val="1400"/>
              </a:spcAft>
            </a:pPr>
            <a:r>
              <a:rPr sz="1800" b="1" dirty="0">
                <a:latin typeface="Arial"/>
              </a:rPr>
              <a:t>• Hậu </a:t>
            </a:r>
            <a:r>
              <a:rPr sz="1800" b="1" dirty="0" err="1">
                <a:latin typeface="Arial"/>
              </a:rPr>
              <a:t>quả</a:t>
            </a:r>
            <a:r>
              <a:rPr sz="1800" b="1" dirty="0">
                <a:latin typeface="Arial"/>
              </a:rPr>
              <a:t>: </a:t>
            </a:r>
            <a:r>
              <a:rPr sz="1700" dirty="0" err="1">
                <a:latin typeface="Arial"/>
              </a:rPr>
              <a:t>Tiền</a:t>
            </a:r>
            <a:r>
              <a:rPr sz="1700" dirty="0">
                <a:latin typeface="Arial"/>
              </a:rPr>
              <a:t> </a:t>
            </a:r>
            <a:r>
              <a:rPr sz="1700" dirty="0" err="1">
                <a:latin typeface="Arial"/>
              </a:rPr>
              <a:t>vừa</a:t>
            </a:r>
            <a:r>
              <a:rPr sz="1700" dirty="0">
                <a:latin typeface="Arial"/>
              </a:rPr>
              <a:t> </a:t>
            </a:r>
            <a:r>
              <a:rPr sz="1700" dirty="0" err="1">
                <a:latin typeface="Arial"/>
              </a:rPr>
              <a:t>nạp</a:t>
            </a:r>
            <a:r>
              <a:rPr sz="1700" dirty="0">
                <a:latin typeface="Arial"/>
              </a:rPr>
              <a:t> </a:t>
            </a:r>
            <a:r>
              <a:rPr sz="1700" dirty="0" err="1">
                <a:latin typeface="Arial"/>
              </a:rPr>
              <a:t>vào</a:t>
            </a:r>
            <a:r>
              <a:rPr sz="1700" dirty="0">
                <a:latin typeface="Arial"/>
              </a:rPr>
              <a:t> </a:t>
            </a:r>
            <a:r>
              <a:rPr sz="1700" dirty="0" err="1">
                <a:latin typeface="Arial"/>
              </a:rPr>
              <a:t>lập</a:t>
            </a:r>
            <a:r>
              <a:rPr sz="1700" dirty="0">
                <a:latin typeface="Arial"/>
              </a:rPr>
              <a:t> </a:t>
            </a:r>
            <a:r>
              <a:rPr sz="1700" dirty="0" err="1">
                <a:latin typeface="Arial"/>
              </a:rPr>
              <a:t>tức</a:t>
            </a:r>
            <a:r>
              <a:rPr sz="1700" dirty="0">
                <a:latin typeface="Arial"/>
              </a:rPr>
              <a:t> </a:t>
            </a:r>
            <a:r>
              <a:rPr sz="1700" dirty="0" err="1">
                <a:latin typeface="Arial"/>
              </a:rPr>
              <a:t>bị</a:t>
            </a:r>
            <a:r>
              <a:rPr sz="1700" dirty="0">
                <a:latin typeface="Arial"/>
              </a:rPr>
              <a:t> bot </a:t>
            </a:r>
            <a:r>
              <a:rPr lang="vi-VN" sz="1700" dirty="0">
                <a:latin typeface="Arial"/>
              </a:rPr>
              <a:t>phát lệnh rút sạch</a:t>
            </a:r>
            <a:r>
              <a:rPr lang="en-US" sz="1700" dirty="0">
                <a:latin typeface="Arial"/>
              </a:rPr>
              <a:t> </a:t>
            </a:r>
            <a:r>
              <a:rPr sz="1700" dirty="0" err="1">
                <a:latin typeface="Arial"/>
              </a:rPr>
              <a:t>trong</a:t>
            </a:r>
            <a:r>
              <a:rPr sz="1700" dirty="0">
                <a:latin typeface="Arial"/>
              </a:rPr>
              <a:t> </a:t>
            </a:r>
            <a:r>
              <a:rPr sz="1700" dirty="0" err="1">
                <a:latin typeface="Arial"/>
              </a:rPr>
              <a:t>vài</a:t>
            </a:r>
            <a:r>
              <a:rPr sz="1700" dirty="0">
                <a:latin typeface="Arial"/>
              </a:rPr>
              <a:t> </a:t>
            </a:r>
            <a:r>
              <a:rPr sz="1700" dirty="0" err="1">
                <a:latin typeface="Arial"/>
              </a:rPr>
              <a:t>giây</a:t>
            </a:r>
            <a:r>
              <a:rPr sz="1700" dirty="0">
                <a:latin typeface="Arial"/>
              </a:rPr>
              <a:t> </a:t>
            </a:r>
            <a:r>
              <a:rPr sz="1700" dirty="0" err="1">
                <a:latin typeface="Arial"/>
              </a:rPr>
              <a:t>với</a:t>
            </a:r>
            <a:r>
              <a:rPr sz="1700" dirty="0">
                <a:latin typeface="Arial"/>
              </a:rPr>
              <a:t> gas </a:t>
            </a:r>
            <a:r>
              <a:rPr sz="1700" dirty="0" err="1">
                <a:latin typeface="Arial"/>
              </a:rPr>
              <a:t>cực</a:t>
            </a:r>
            <a:r>
              <a:rPr sz="1700" dirty="0">
                <a:latin typeface="Arial"/>
              </a:rPr>
              <a:t> </a:t>
            </a:r>
            <a:r>
              <a:rPr sz="1700" dirty="0" err="1">
                <a:latin typeface="Arial"/>
              </a:rPr>
              <a:t>cao</a:t>
            </a:r>
            <a:r>
              <a:rPr sz="1700" dirty="0">
                <a:latin typeface="Aria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4F46E5"/>
                </a:solidFill>
                <a:latin typeface="Arial"/>
              </a:defRPr>
            </a:pPr>
            <a:r>
              <a:rPr dirty="0"/>
              <a:t>[#]  NOVEL ATTACK VECTORS</a:t>
            </a:r>
          </a:p>
        </p:txBody>
      </p:sp>
      <p:sp>
        <p:nvSpPr>
          <p:cNvPr id="4" name="TextBox 3"/>
          <p:cNvSpPr txBox="1"/>
          <p:nvPr/>
        </p:nvSpPr>
        <p:spPr>
          <a:xfrm>
            <a:off x="731520" y="713232"/>
            <a:ext cx="10789920" cy="777240"/>
          </a:xfrm>
          <a:prstGeom prst="rect">
            <a:avLst/>
          </a:prstGeom>
          <a:noFill/>
        </p:spPr>
        <p:txBody>
          <a:bodyPr wrap="square" lIns="0" tIns="0" rIns="0" bIns="0">
            <a:spAutoFit/>
          </a:bodyPr>
          <a:lstStyle/>
          <a:p>
            <a:pPr>
              <a:defRPr sz="3000" b="1">
                <a:solidFill>
                  <a:srgbClr val="0F172A"/>
                </a:solidFill>
                <a:latin typeface="Arial"/>
              </a:defRPr>
            </a:pPr>
            <a:r>
              <a:t>03. Bẫy tấn công mới của Hacker</a:t>
            </a:r>
          </a:p>
        </p:txBody>
      </p:sp>
      <p:sp>
        <p:nvSpPr>
          <p:cNvPr id="103" name="WavyLine_103"/>
          <p:cNvSpPr/>
          <p:nvPr/>
        </p:nvSpPr>
        <p:spPr>
          <a:xfrm>
            <a:off x="731520" y="1536192"/>
            <a:ext cx="6519672" cy="152400"/>
          </a:xfrm>
          <a:custGeom>
            <a:avLst/>
            <a:gdLst/>
            <a:ahLst/>
            <a:cxnLst/>
            <a:rect l="0" t="0" r="6519672" b="152400"/>
            <a:pathLst>
              <a:path w="6519672"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cubicBezTo>
                  <a:pt x="5527548" y="12700"/>
                  <a:pt x="5527548" y="12700"/>
                  <a:pt x="5586984" y="76200"/>
                </a:cubicBezTo>
                <a:cubicBezTo>
                  <a:pt x="5646420" y="139700"/>
                  <a:pt x="5646420" y="139700"/>
                  <a:pt x="5705856" y="76200"/>
                </a:cubicBezTo>
                <a:cubicBezTo>
                  <a:pt x="5765292" y="12700"/>
                  <a:pt x="5765292" y="12700"/>
                  <a:pt x="5824728" y="76200"/>
                </a:cubicBezTo>
                <a:cubicBezTo>
                  <a:pt x="5884164" y="139700"/>
                  <a:pt x="5884164" y="139700"/>
                  <a:pt x="5943600" y="76200"/>
                </a:cubicBezTo>
                <a:cubicBezTo>
                  <a:pt x="6003036" y="12700"/>
                  <a:pt x="6003036" y="12700"/>
                  <a:pt x="6062472" y="76200"/>
                </a:cubicBezTo>
                <a:cubicBezTo>
                  <a:pt x="6121908" y="139700"/>
                  <a:pt x="6121908" y="139700"/>
                  <a:pt x="6181344" y="76200"/>
                </a:cubicBezTo>
                <a:cubicBezTo>
                  <a:pt x="6240780" y="12700"/>
                  <a:pt x="6240780" y="12700"/>
                  <a:pt x="6300216" y="76200"/>
                </a:cubicBezTo>
                <a:cubicBezTo>
                  <a:pt x="6359652" y="139700"/>
                  <a:pt x="6359652" y="139700"/>
                  <a:pt x="6419088" y="76200"/>
                </a:cubicBezTo>
              </a:path>
            </a:pathLst>
          </a:custGeom>
          <a:ln w="42000">
            <a:solidFill>
              <a:srgbClr val="4F46E5"/>
            </a:solidFill>
            <a:round/>
          </a:ln>
        </p:spPr>
        <p:txBody>
          <a:bodyPr/>
          <a:lstStyle/>
          <a:p>
            <a:endParaRPr lang="en-US"/>
          </a:p>
        </p:txBody>
      </p:sp>
      <p:sp>
        <p:nvSpPr>
          <p:cNvPr id="104" name="Rounded Rectangle 103"/>
          <p:cNvSpPr/>
          <p:nvPr/>
        </p:nvSpPr>
        <p:spPr>
          <a:xfrm>
            <a:off x="457200" y="1920240"/>
            <a:ext cx="5212080" cy="4694246"/>
          </a:xfrm>
          <a:prstGeom prst="roundRect">
            <a:avLst/>
          </a:prstGeom>
          <a:solidFill>
            <a:srgbClr val="FEF3C7"/>
          </a:solidFill>
          <a:ln w="254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731520" y="2148840"/>
            <a:ext cx="4663440" cy="411480"/>
          </a:xfrm>
          <a:prstGeom prst="roundRect">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97706"/>
                </a:solidFill>
                <a:latin typeface="Arial"/>
              </a:defRPr>
            </a:pPr>
            <a:r>
              <a:rPr sz="1600" dirty="0"/>
              <a:t>BẪY CHIẾM ĐOẠT TÀI SẢN KẸT</a:t>
            </a:r>
          </a:p>
        </p:txBody>
      </p:sp>
      <p:sp>
        <p:nvSpPr>
          <p:cNvPr id="106" name="TextBox 105"/>
          <p:cNvSpPr txBox="1"/>
          <p:nvPr/>
        </p:nvSpPr>
        <p:spPr>
          <a:xfrm>
            <a:off x="518465" y="2697480"/>
            <a:ext cx="4663440" cy="548640"/>
          </a:xfrm>
          <a:prstGeom prst="rect">
            <a:avLst/>
          </a:prstGeom>
          <a:noFill/>
        </p:spPr>
        <p:txBody>
          <a:bodyPr wrap="none">
            <a:spAutoFit/>
          </a:bodyPr>
          <a:lstStyle/>
          <a:p>
            <a:pPr>
              <a:defRPr sz="2200" b="1">
                <a:solidFill>
                  <a:srgbClr val="0F172A"/>
                </a:solidFill>
                <a:latin typeface="Arial"/>
              </a:defRPr>
            </a:pPr>
            <a:r>
              <a:rPr dirty="0"/>
              <a:t>VECTOR 1: BẪY HỢP ĐỒNG CREATE</a:t>
            </a:r>
          </a:p>
        </p:txBody>
      </p:sp>
      <p:sp>
        <p:nvSpPr>
          <p:cNvPr id="107" name="TextBox 106"/>
          <p:cNvSpPr txBox="1"/>
          <p:nvPr/>
        </p:nvSpPr>
        <p:spPr>
          <a:xfrm>
            <a:off x="731520" y="3337560"/>
            <a:ext cx="4663440" cy="2931572"/>
          </a:xfrm>
          <a:prstGeom prst="rect">
            <a:avLst/>
          </a:prstGeom>
          <a:noFill/>
        </p:spPr>
        <p:txBody>
          <a:bodyPr wrap="square">
            <a:spAutoFit/>
          </a:bodyPr>
          <a:lstStyle/>
          <a:p>
            <a:pPr algn="just">
              <a:spcAft>
                <a:spcPts val="1200"/>
              </a:spcAft>
            </a:pPr>
            <a:r>
              <a:rPr sz="1800" b="1" dirty="0">
                <a:latin typeface="Arial"/>
              </a:rPr>
              <a:t>• </a:t>
            </a:r>
            <a:r>
              <a:rPr sz="1800" b="1" dirty="0" err="1">
                <a:latin typeface="Arial"/>
              </a:rPr>
              <a:t>Gieo</a:t>
            </a:r>
            <a:r>
              <a:rPr sz="1800" b="1" dirty="0">
                <a:latin typeface="Arial"/>
              </a:rPr>
              <a:t> </a:t>
            </a:r>
            <a:r>
              <a:rPr sz="1800" b="1" dirty="0" err="1">
                <a:latin typeface="Arial"/>
              </a:rPr>
              <a:t>bẫy</a:t>
            </a:r>
            <a:r>
              <a:rPr sz="1800" b="1" dirty="0">
                <a:latin typeface="Arial"/>
              </a:rPr>
              <a:t>: </a:t>
            </a:r>
            <a:r>
              <a:rPr sz="1650" dirty="0" err="1">
                <a:latin typeface="Arial"/>
              </a:rPr>
              <a:t>Tạo</a:t>
            </a:r>
            <a:r>
              <a:rPr sz="1650" dirty="0">
                <a:latin typeface="Arial"/>
              </a:rPr>
              <a:t> contract </a:t>
            </a:r>
            <a:r>
              <a:rPr sz="1650" dirty="0" err="1">
                <a:latin typeface="Arial"/>
              </a:rPr>
              <a:t>trên</a:t>
            </a:r>
            <a:r>
              <a:rPr sz="1650" dirty="0">
                <a:latin typeface="Arial"/>
              </a:rPr>
              <a:t> </a:t>
            </a:r>
            <a:r>
              <a:rPr sz="1650" dirty="0" err="1">
                <a:latin typeface="Arial"/>
              </a:rPr>
              <a:t>Testnet</a:t>
            </a:r>
            <a:r>
              <a:rPr sz="1650" dirty="0">
                <a:latin typeface="Arial"/>
              </a:rPr>
              <a:t> -&gt; </a:t>
            </a:r>
            <a:r>
              <a:rPr sz="1650" dirty="0" err="1">
                <a:latin typeface="Arial"/>
              </a:rPr>
              <a:t>Quảng</a:t>
            </a:r>
            <a:r>
              <a:rPr sz="1650" dirty="0">
                <a:latin typeface="Arial"/>
              </a:rPr>
              <a:t> </a:t>
            </a:r>
            <a:r>
              <a:rPr sz="1650" dirty="0" err="1">
                <a:latin typeface="Arial"/>
              </a:rPr>
              <a:t>bá</a:t>
            </a:r>
            <a:r>
              <a:rPr sz="1650" dirty="0">
                <a:latin typeface="Arial"/>
              </a:rPr>
              <a:t> </a:t>
            </a:r>
            <a:r>
              <a:rPr sz="1650" dirty="0" err="1">
                <a:latin typeface="Arial"/>
              </a:rPr>
              <a:t>trên</a:t>
            </a:r>
            <a:r>
              <a:rPr sz="1650" dirty="0">
                <a:latin typeface="Arial"/>
              </a:rPr>
              <a:t> Stack Exchange / GitHub.</a:t>
            </a:r>
          </a:p>
          <a:p>
            <a:pPr algn="just">
              <a:spcAft>
                <a:spcPts val="1200"/>
              </a:spcAft>
            </a:pPr>
            <a:r>
              <a:rPr sz="1800" b="1" dirty="0">
                <a:latin typeface="Arial"/>
              </a:rPr>
              <a:t>• </a:t>
            </a:r>
            <a:r>
              <a:rPr sz="1800" b="1" dirty="0" err="1">
                <a:latin typeface="Arial"/>
              </a:rPr>
              <a:t>Tích</a:t>
            </a:r>
            <a:r>
              <a:rPr sz="1800" b="1" dirty="0">
                <a:latin typeface="Arial"/>
              </a:rPr>
              <a:t> </a:t>
            </a:r>
            <a:r>
              <a:rPr sz="1800" b="1" dirty="0" err="1">
                <a:latin typeface="Arial"/>
              </a:rPr>
              <a:t>lũy</a:t>
            </a:r>
            <a:r>
              <a:rPr sz="1800" b="1" dirty="0">
                <a:latin typeface="Arial"/>
              </a:rPr>
              <a:t> </a:t>
            </a:r>
            <a:r>
              <a:rPr sz="1800" b="1" dirty="0" err="1">
                <a:latin typeface="Arial"/>
              </a:rPr>
              <a:t>tiền</a:t>
            </a:r>
            <a:r>
              <a:rPr sz="1800" b="1" dirty="0">
                <a:latin typeface="Arial"/>
              </a:rPr>
              <a:t> </a:t>
            </a:r>
            <a:r>
              <a:rPr sz="1800" b="1" dirty="0" err="1">
                <a:latin typeface="Arial"/>
              </a:rPr>
              <a:t>kẹt</a:t>
            </a:r>
            <a:r>
              <a:rPr sz="1800" b="1" dirty="0">
                <a:latin typeface="Arial"/>
              </a:rPr>
              <a:t>: </a:t>
            </a:r>
            <a:r>
              <a:rPr sz="1650" dirty="0" err="1">
                <a:latin typeface="Arial"/>
              </a:rPr>
              <a:t>Người</a:t>
            </a:r>
            <a:r>
              <a:rPr sz="1650" dirty="0">
                <a:latin typeface="Arial"/>
              </a:rPr>
              <a:t> </a:t>
            </a:r>
            <a:r>
              <a:rPr sz="1650" dirty="0" err="1">
                <a:latin typeface="Arial"/>
              </a:rPr>
              <a:t>dùng</a:t>
            </a:r>
            <a:r>
              <a:rPr sz="1650" dirty="0">
                <a:latin typeface="Arial"/>
              </a:rPr>
              <a:t> copy </a:t>
            </a:r>
            <a:r>
              <a:rPr sz="1650" dirty="0" err="1">
                <a:latin typeface="Arial"/>
              </a:rPr>
              <a:t>nhầm</a:t>
            </a:r>
            <a:r>
              <a:rPr sz="1650" dirty="0">
                <a:latin typeface="Arial"/>
              </a:rPr>
              <a:t> sang </a:t>
            </a:r>
            <a:r>
              <a:rPr sz="1650" dirty="0" err="1">
                <a:latin typeface="Arial"/>
              </a:rPr>
              <a:t>Mainnet</a:t>
            </a:r>
            <a:r>
              <a:rPr sz="1650" dirty="0">
                <a:latin typeface="Arial"/>
              </a:rPr>
              <a:t> </a:t>
            </a:r>
            <a:r>
              <a:rPr sz="1650" dirty="0" err="1">
                <a:latin typeface="Arial"/>
              </a:rPr>
              <a:t>để</a:t>
            </a:r>
            <a:r>
              <a:rPr sz="1650" dirty="0">
                <a:latin typeface="Arial"/>
              </a:rPr>
              <a:t> swap token (</a:t>
            </a:r>
            <a:r>
              <a:rPr sz="1650" dirty="0" err="1">
                <a:latin typeface="Arial"/>
              </a:rPr>
              <a:t>trên</a:t>
            </a:r>
            <a:r>
              <a:rPr sz="1650" dirty="0">
                <a:latin typeface="Arial"/>
              </a:rPr>
              <a:t> </a:t>
            </a:r>
            <a:r>
              <a:rPr sz="1650" dirty="0" err="1">
                <a:latin typeface="Arial"/>
              </a:rPr>
              <a:t>Mainnet</a:t>
            </a:r>
            <a:r>
              <a:rPr sz="1650" dirty="0">
                <a:latin typeface="Arial"/>
              </a:rPr>
              <a:t> </a:t>
            </a:r>
            <a:r>
              <a:rPr sz="1650" dirty="0" err="1">
                <a:latin typeface="Arial"/>
              </a:rPr>
              <a:t>là</a:t>
            </a:r>
            <a:r>
              <a:rPr sz="1650" dirty="0">
                <a:latin typeface="Arial"/>
              </a:rPr>
              <a:t> NCA).</a:t>
            </a:r>
          </a:p>
          <a:p>
            <a:pPr algn="just">
              <a:spcAft>
                <a:spcPts val="1200"/>
              </a:spcAft>
            </a:pPr>
            <a:r>
              <a:rPr sz="1800" b="1" dirty="0">
                <a:latin typeface="Arial"/>
              </a:rPr>
              <a:t>• </a:t>
            </a:r>
            <a:r>
              <a:rPr sz="1800" b="1" dirty="0" err="1">
                <a:latin typeface="Arial"/>
              </a:rPr>
              <a:t>Công</a:t>
            </a:r>
            <a:r>
              <a:rPr sz="1800" b="1" dirty="0">
                <a:latin typeface="Arial"/>
              </a:rPr>
              <a:t> </a:t>
            </a:r>
            <a:r>
              <a:rPr sz="1800" b="1" dirty="0" err="1">
                <a:latin typeface="Arial"/>
              </a:rPr>
              <a:t>thức</a:t>
            </a:r>
            <a:r>
              <a:rPr sz="1800" b="1" dirty="0">
                <a:latin typeface="Arial"/>
              </a:rPr>
              <a:t> </a:t>
            </a:r>
            <a:r>
              <a:rPr sz="1800" b="1" dirty="0" err="1">
                <a:latin typeface="Arial"/>
              </a:rPr>
              <a:t>toán</a:t>
            </a:r>
            <a:r>
              <a:rPr sz="1800" b="1" dirty="0">
                <a:latin typeface="Arial"/>
              </a:rPr>
              <a:t>: </a:t>
            </a:r>
            <a:r>
              <a:rPr sz="1650" dirty="0" err="1">
                <a:latin typeface="Arial"/>
              </a:rPr>
              <a:t>Địa</a:t>
            </a:r>
            <a:r>
              <a:rPr sz="1650" dirty="0">
                <a:latin typeface="Arial"/>
              </a:rPr>
              <a:t> </a:t>
            </a:r>
            <a:r>
              <a:rPr sz="1650" dirty="0" err="1">
                <a:latin typeface="Arial"/>
              </a:rPr>
              <a:t>chỉ</a:t>
            </a:r>
            <a:r>
              <a:rPr sz="1650" dirty="0">
                <a:latin typeface="Arial"/>
              </a:rPr>
              <a:t> </a:t>
            </a:r>
            <a:r>
              <a:rPr sz="1650" dirty="0" err="1">
                <a:latin typeface="Arial"/>
              </a:rPr>
              <a:t>tính</a:t>
            </a:r>
            <a:r>
              <a:rPr sz="1650" dirty="0">
                <a:latin typeface="Arial"/>
              </a:rPr>
              <a:t> </a:t>
            </a:r>
            <a:r>
              <a:rPr sz="1650" dirty="0" err="1">
                <a:latin typeface="Arial"/>
              </a:rPr>
              <a:t>trước</a:t>
            </a:r>
            <a:r>
              <a:rPr sz="1650" dirty="0">
                <a:latin typeface="Arial"/>
              </a:rPr>
              <a:t>: CA = keccak256(</a:t>
            </a:r>
            <a:r>
              <a:rPr sz="1650" dirty="0" err="1">
                <a:latin typeface="Arial"/>
              </a:rPr>
              <a:t>deployer</a:t>
            </a:r>
            <a:r>
              <a:rPr sz="1650" dirty="0">
                <a:latin typeface="Arial"/>
              </a:rPr>
              <a:t>, nonce).</a:t>
            </a:r>
          </a:p>
          <a:p>
            <a:pPr algn="just">
              <a:spcAft>
                <a:spcPts val="1200"/>
              </a:spcAft>
            </a:pPr>
            <a:r>
              <a:rPr sz="1800" b="1" dirty="0">
                <a:latin typeface="Arial"/>
              </a:rPr>
              <a:t>• Rút </a:t>
            </a:r>
            <a:r>
              <a:rPr sz="1800" b="1" dirty="0" err="1">
                <a:latin typeface="Arial"/>
              </a:rPr>
              <a:t>sạch</a:t>
            </a:r>
            <a:r>
              <a:rPr sz="1800" b="1" dirty="0">
                <a:latin typeface="Arial"/>
              </a:rPr>
              <a:t> </a:t>
            </a:r>
            <a:r>
              <a:rPr sz="1800" b="1" dirty="0" err="1">
                <a:latin typeface="Arial"/>
              </a:rPr>
              <a:t>tiền</a:t>
            </a:r>
            <a:r>
              <a:rPr sz="1800" b="1" dirty="0">
                <a:latin typeface="Arial"/>
              </a:rPr>
              <a:t>: </a:t>
            </a:r>
            <a:r>
              <a:rPr sz="1650" dirty="0">
                <a:latin typeface="Arial"/>
              </a:rPr>
              <a:t>Deploy </a:t>
            </a:r>
            <a:r>
              <a:rPr sz="1650" dirty="0" err="1">
                <a:latin typeface="Arial"/>
              </a:rPr>
              <a:t>hợp</a:t>
            </a:r>
            <a:r>
              <a:rPr sz="1650" dirty="0">
                <a:latin typeface="Arial"/>
              </a:rPr>
              <a:t> </a:t>
            </a:r>
            <a:r>
              <a:rPr sz="1650" dirty="0" err="1">
                <a:latin typeface="Arial"/>
              </a:rPr>
              <a:t>đồng</a:t>
            </a:r>
            <a:r>
              <a:rPr sz="1650" dirty="0">
                <a:latin typeface="Arial"/>
              </a:rPr>
              <a:t> </a:t>
            </a:r>
            <a:r>
              <a:rPr sz="1650" dirty="0" err="1">
                <a:latin typeface="Arial"/>
              </a:rPr>
              <a:t>vào</a:t>
            </a:r>
            <a:r>
              <a:rPr sz="1650" dirty="0">
                <a:latin typeface="Arial"/>
              </a:rPr>
              <a:t> </a:t>
            </a:r>
            <a:r>
              <a:rPr sz="1650" dirty="0" err="1">
                <a:latin typeface="Arial"/>
              </a:rPr>
              <a:t>cùng</a:t>
            </a:r>
            <a:r>
              <a:rPr sz="1650" dirty="0">
                <a:latin typeface="Arial"/>
              </a:rPr>
              <a:t> </a:t>
            </a:r>
            <a:r>
              <a:rPr sz="1650" dirty="0" err="1">
                <a:latin typeface="Arial"/>
              </a:rPr>
              <a:t>địa</a:t>
            </a:r>
            <a:r>
              <a:rPr sz="1650" dirty="0">
                <a:latin typeface="Arial"/>
              </a:rPr>
              <a:t> </a:t>
            </a:r>
            <a:r>
              <a:rPr sz="1650" dirty="0" err="1">
                <a:latin typeface="Arial"/>
              </a:rPr>
              <a:t>chỉ</a:t>
            </a:r>
            <a:r>
              <a:rPr sz="1650" dirty="0">
                <a:latin typeface="Arial"/>
              </a:rPr>
              <a:t> </a:t>
            </a:r>
            <a:r>
              <a:rPr sz="1650" dirty="0" err="1">
                <a:latin typeface="Arial"/>
              </a:rPr>
              <a:t>đó</a:t>
            </a:r>
            <a:r>
              <a:rPr sz="1650" dirty="0">
                <a:latin typeface="Arial"/>
              </a:rPr>
              <a:t>  -&gt; Rút </a:t>
            </a:r>
            <a:r>
              <a:rPr sz="1650" dirty="0" err="1">
                <a:latin typeface="Arial"/>
              </a:rPr>
              <a:t>sạch</a:t>
            </a:r>
            <a:r>
              <a:rPr sz="1650" dirty="0">
                <a:latin typeface="Arial"/>
              </a:rPr>
              <a:t> ETH!</a:t>
            </a:r>
          </a:p>
        </p:txBody>
      </p:sp>
      <p:pic>
        <p:nvPicPr>
          <p:cNvPr id="5" name="Picture 4">
            <a:extLst>
              <a:ext uri="{FF2B5EF4-FFF2-40B4-BE49-F238E27FC236}">
                <a16:creationId xmlns:a16="http://schemas.microsoft.com/office/drawing/2014/main" id="{20B08E76-96B0-6E73-89AB-9D82E7F87363}"/>
              </a:ext>
            </a:extLst>
          </p:cNvPr>
          <p:cNvPicPr>
            <a:picLocks noChangeAspect="1"/>
          </p:cNvPicPr>
          <p:nvPr/>
        </p:nvPicPr>
        <p:blipFill>
          <a:blip r:embed="rId3"/>
          <a:stretch>
            <a:fillRect/>
          </a:stretch>
        </p:blipFill>
        <p:spPr>
          <a:xfrm>
            <a:off x="5730545" y="2308860"/>
            <a:ext cx="6372075" cy="37109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8ACC2-60B7-4D0D-B67D-10E96AFFADB9}"/>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CBD7074B-4472-D804-A876-C2C59A2E75BC}"/>
              </a:ext>
            </a:extLst>
          </p:cNvPr>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4F46E5"/>
                </a:solidFill>
                <a:latin typeface="Arial"/>
              </a:defRPr>
            </a:pPr>
            <a:r>
              <a:rPr dirty="0"/>
              <a:t>[#]  NOVEL ATTACK VECTORS</a:t>
            </a:r>
          </a:p>
        </p:txBody>
      </p:sp>
      <p:sp>
        <p:nvSpPr>
          <p:cNvPr id="4" name="TextBox 3">
            <a:extLst>
              <a:ext uri="{FF2B5EF4-FFF2-40B4-BE49-F238E27FC236}">
                <a16:creationId xmlns:a16="http://schemas.microsoft.com/office/drawing/2014/main" id="{2AACB829-632B-A1D6-561A-CA37DC28092B}"/>
              </a:ext>
            </a:extLst>
          </p:cNvPr>
          <p:cNvSpPr txBox="1"/>
          <p:nvPr/>
        </p:nvSpPr>
        <p:spPr>
          <a:xfrm>
            <a:off x="731520" y="713232"/>
            <a:ext cx="10789920" cy="777240"/>
          </a:xfrm>
          <a:prstGeom prst="rect">
            <a:avLst/>
          </a:prstGeom>
          <a:noFill/>
        </p:spPr>
        <p:txBody>
          <a:bodyPr wrap="square" lIns="0" tIns="0" rIns="0" bIns="0">
            <a:spAutoFit/>
          </a:bodyPr>
          <a:lstStyle/>
          <a:p>
            <a:pPr>
              <a:defRPr sz="3000" b="1">
                <a:solidFill>
                  <a:srgbClr val="0F172A"/>
                </a:solidFill>
                <a:latin typeface="Arial"/>
              </a:defRPr>
            </a:pPr>
            <a:r>
              <a:t>03. Bẫy tấn công mới của Hacker</a:t>
            </a:r>
          </a:p>
        </p:txBody>
      </p:sp>
      <p:sp>
        <p:nvSpPr>
          <p:cNvPr id="103" name="WavyLine_103">
            <a:extLst>
              <a:ext uri="{FF2B5EF4-FFF2-40B4-BE49-F238E27FC236}">
                <a16:creationId xmlns:a16="http://schemas.microsoft.com/office/drawing/2014/main" id="{F2CF825B-A268-0948-ABAC-940DDB0B1E75}"/>
              </a:ext>
            </a:extLst>
          </p:cNvPr>
          <p:cNvSpPr/>
          <p:nvPr/>
        </p:nvSpPr>
        <p:spPr>
          <a:xfrm>
            <a:off x="731520" y="1536192"/>
            <a:ext cx="6519672" cy="152400"/>
          </a:xfrm>
          <a:custGeom>
            <a:avLst/>
            <a:gdLst/>
            <a:ahLst/>
            <a:cxnLst/>
            <a:rect l="0" t="0" r="6519672" b="152400"/>
            <a:pathLst>
              <a:path w="6519672"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cubicBezTo>
                  <a:pt x="5527548" y="12700"/>
                  <a:pt x="5527548" y="12700"/>
                  <a:pt x="5586984" y="76200"/>
                </a:cubicBezTo>
                <a:cubicBezTo>
                  <a:pt x="5646420" y="139700"/>
                  <a:pt x="5646420" y="139700"/>
                  <a:pt x="5705856" y="76200"/>
                </a:cubicBezTo>
                <a:cubicBezTo>
                  <a:pt x="5765292" y="12700"/>
                  <a:pt x="5765292" y="12700"/>
                  <a:pt x="5824728" y="76200"/>
                </a:cubicBezTo>
                <a:cubicBezTo>
                  <a:pt x="5884164" y="139700"/>
                  <a:pt x="5884164" y="139700"/>
                  <a:pt x="5943600" y="76200"/>
                </a:cubicBezTo>
                <a:cubicBezTo>
                  <a:pt x="6003036" y="12700"/>
                  <a:pt x="6003036" y="12700"/>
                  <a:pt x="6062472" y="76200"/>
                </a:cubicBezTo>
                <a:cubicBezTo>
                  <a:pt x="6121908" y="139700"/>
                  <a:pt x="6121908" y="139700"/>
                  <a:pt x="6181344" y="76200"/>
                </a:cubicBezTo>
                <a:cubicBezTo>
                  <a:pt x="6240780" y="12700"/>
                  <a:pt x="6240780" y="12700"/>
                  <a:pt x="6300216" y="76200"/>
                </a:cubicBezTo>
                <a:cubicBezTo>
                  <a:pt x="6359652" y="139700"/>
                  <a:pt x="6359652" y="139700"/>
                  <a:pt x="6419088" y="76200"/>
                </a:cubicBezTo>
              </a:path>
            </a:pathLst>
          </a:custGeom>
          <a:ln w="42000">
            <a:solidFill>
              <a:srgbClr val="4F46E5"/>
            </a:solidFill>
            <a:round/>
          </a:ln>
        </p:spPr>
        <p:txBody>
          <a:bodyPr/>
          <a:lstStyle/>
          <a:p>
            <a:endParaRPr lang="en-US"/>
          </a:p>
        </p:txBody>
      </p:sp>
      <p:sp>
        <p:nvSpPr>
          <p:cNvPr id="108" name="Rounded Rectangle 107">
            <a:extLst>
              <a:ext uri="{FF2B5EF4-FFF2-40B4-BE49-F238E27FC236}">
                <a16:creationId xmlns:a16="http://schemas.microsoft.com/office/drawing/2014/main" id="{99C39DE5-8646-812A-90C9-5DD4A247905E}"/>
              </a:ext>
            </a:extLst>
          </p:cNvPr>
          <p:cNvSpPr/>
          <p:nvPr/>
        </p:nvSpPr>
        <p:spPr>
          <a:xfrm>
            <a:off x="6217920" y="1920239"/>
            <a:ext cx="5212080" cy="4694247"/>
          </a:xfrm>
          <a:prstGeom prst="roundRect">
            <a:avLst/>
          </a:prstGeom>
          <a:solidFill>
            <a:srgbClr val="EEF2FF"/>
          </a:solidFill>
          <a:ln w="254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a:extLst>
              <a:ext uri="{FF2B5EF4-FFF2-40B4-BE49-F238E27FC236}">
                <a16:creationId xmlns:a16="http://schemas.microsoft.com/office/drawing/2014/main" id="{EF1AADC2-E714-78D2-D53F-3C7241F00D45}"/>
              </a:ext>
            </a:extLst>
          </p:cNvPr>
          <p:cNvSpPr/>
          <p:nvPr/>
        </p:nvSpPr>
        <p:spPr>
          <a:xfrm>
            <a:off x="6492240" y="2148840"/>
            <a:ext cx="4663440" cy="411480"/>
          </a:xfrm>
          <a:prstGeom prst="roundRect">
            <a:avLst/>
          </a:prstGeom>
          <a:solidFill>
            <a:srgbClr val="FFFF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F46E5"/>
                </a:solidFill>
                <a:latin typeface="Arial"/>
              </a:defRPr>
            </a:pPr>
            <a:r>
              <a:rPr sz="1600" dirty="0"/>
              <a:t>RÚT TIỀN NGUYÊN TỬ TỰ ĐỘNG</a:t>
            </a:r>
          </a:p>
        </p:txBody>
      </p:sp>
      <p:sp>
        <p:nvSpPr>
          <p:cNvPr id="110" name="TextBox 109">
            <a:extLst>
              <a:ext uri="{FF2B5EF4-FFF2-40B4-BE49-F238E27FC236}">
                <a16:creationId xmlns:a16="http://schemas.microsoft.com/office/drawing/2014/main" id="{EC5CDD42-E008-B480-93FA-3BB663F272C5}"/>
              </a:ext>
            </a:extLst>
          </p:cNvPr>
          <p:cNvSpPr txBox="1"/>
          <p:nvPr/>
        </p:nvSpPr>
        <p:spPr>
          <a:xfrm>
            <a:off x="6492240" y="2697480"/>
            <a:ext cx="4663440" cy="548640"/>
          </a:xfrm>
          <a:prstGeom prst="rect">
            <a:avLst/>
          </a:prstGeom>
          <a:noFill/>
        </p:spPr>
        <p:txBody>
          <a:bodyPr wrap="none">
            <a:spAutoFit/>
          </a:bodyPr>
          <a:lstStyle/>
          <a:p>
            <a:pPr>
              <a:defRPr sz="2200" b="1">
                <a:solidFill>
                  <a:srgbClr val="0F172A"/>
                </a:solidFill>
                <a:latin typeface="Arial"/>
              </a:defRPr>
            </a:pPr>
            <a:r>
              <a:t>VECTOR 2: VŨ KHÍ HÓA EIP-7702</a:t>
            </a:r>
          </a:p>
        </p:txBody>
      </p:sp>
      <p:sp>
        <p:nvSpPr>
          <p:cNvPr id="111" name="TextBox 110">
            <a:extLst>
              <a:ext uri="{FF2B5EF4-FFF2-40B4-BE49-F238E27FC236}">
                <a16:creationId xmlns:a16="http://schemas.microsoft.com/office/drawing/2014/main" id="{B3B4A0B2-F859-FAEE-DA67-DA3CB8997D31}"/>
              </a:ext>
            </a:extLst>
          </p:cNvPr>
          <p:cNvSpPr txBox="1"/>
          <p:nvPr/>
        </p:nvSpPr>
        <p:spPr>
          <a:xfrm>
            <a:off x="6492240" y="3337560"/>
            <a:ext cx="4663440" cy="3185487"/>
          </a:xfrm>
          <a:prstGeom prst="rect">
            <a:avLst/>
          </a:prstGeom>
          <a:noFill/>
        </p:spPr>
        <p:txBody>
          <a:bodyPr wrap="square">
            <a:spAutoFit/>
          </a:bodyPr>
          <a:lstStyle/>
          <a:p>
            <a:pPr algn="just">
              <a:spcAft>
                <a:spcPts val="1200"/>
              </a:spcAft>
            </a:pPr>
            <a:r>
              <a:rPr sz="1800" b="1" dirty="0">
                <a:latin typeface="Arial"/>
              </a:rPr>
              <a:t>• </a:t>
            </a:r>
            <a:r>
              <a:rPr sz="1800" b="1" dirty="0" err="1">
                <a:latin typeface="Arial"/>
              </a:rPr>
              <a:t>Ủy</a:t>
            </a:r>
            <a:r>
              <a:rPr sz="1800" b="1" dirty="0">
                <a:latin typeface="Arial"/>
              </a:rPr>
              <a:t> </a:t>
            </a:r>
            <a:r>
              <a:rPr sz="1800" b="1" dirty="0" err="1">
                <a:latin typeface="Arial"/>
              </a:rPr>
              <a:t>quyền</a:t>
            </a:r>
            <a:r>
              <a:rPr sz="1800" b="1" dirty="0">
                <a:latin typeface="Arial"/>
              </a:rPr>
              <a:t> </a:t>
            </a:r>
            <a:r>
              <a:rPr sz="1800" b="1" dirty="0" err="1">
                <a:latin typeface="Arial"/>
              </a:rPr>
              <a:t>mã</a:t>
            </a:r>
            <a:r>
              <a:rPr sz="1800" b="1" dirty="0">
                <a:latin typeface="Arial"/>
              </a:rPr>
              <a:t> </a:t>
            </a:r>
            <a:r>
              <a:rPr sz="1800" b="1" dirty="0" err="1">
                <a:latin typeface="Arial"/>
              </a:rPr>
              <a:t>độc</a:t>
            </a:r>
            <a:r>
              <a:rPr sz="1800" b="1" dirty="0">
                <a:latin typeface="Arial"/>
              </a:rPr>
              <a:t>: </a:t>
            </a:r>
            <a:r>
              <a:rPr sz="1650" dirty="0" err="1">
                <a:latin typeface="Arial"/>
              </a:rPr>
              <a:t>Dùng</a:t>
            </a:r>
            <a:r>
              <a:rPr sz="1650" dirty="0">
                <a:latin typeface="Arial"/>
              </a:rPr>
              <a:t> Private Key </a:t>
            </a:r>
            <a:r>
              <a:rPr sz="1650" dirty="0" err="1">
                <a:latin typeface="Arial"/>
              </a:rPr>
              <a:t>lộ</a:t>
            </a:r>
            <a:r>
              <a:rPr sz="1650" dirty="0">
                <a:latin typeface="Arial"/>
              </a:rPr>
              <a:t> </a:t>
            </a:r>
            <a:r>
              <a:rPr sz="1650" dirty="0" err="1">
                <a:latin typeface="Arial"/>
              </a:rPr>
              <a:t>ký</a:t>
            </a:r>
            <a:r>
              <a:rPr sz="1650" dirty="0">
                <a:latin typeface="Arial"/>
              </a:rPr>
              <a:t> </a:t>
            </a:r>
            <a:r>
              <a:rPr sz="1650" dirty="0" err="1">
                <a:latin typeface="Arial"/>
              </a:rPr>
              <a:t>ủy</a:t>
            </a:r>
            <a:r>
              <a:rPr sz="1650" dirty="0">
                <a:latin typeface="Arial"/>
              </a:rPr>
              <a:t> </a:t>
            </a:r>
            <a:r>
              <a:rPr sz="1650" dirty="0" err="1">
                <a:latin typeface="Arial"/>
              </a:rPr>
              <a:t>quyền</a:t>
            </a:r>
            <a:r>
              <a:rPr sz="1650" dirty="0">
                <a:latin typeface="Arial"/>
              </a:rPr>
              <a:t> EIP-7702 (</a:t>
            </a:r>
            <a:r>
              <a:rPr sz="1650" dirty="0" err="1">
                <a:latin typeface="Arial"/>
              </a:rPr>
              <a:t>tiền</a:t>
            </a:r>
            <a:r>
              <a:rPr sz="1650" dirty="0">
                <a:latin typeface="Arial"/>
              </a:rPr>
              <a:t> </a:t>
            </a:r>
            <a:r>
              <a:rPr sz="1650" dirty="0" err="1">
                <a:latin typeface="Arial"/>
              </a:rPr>
              <a:t>tố</a:t>
            </a:r>
            <a:r>
              <a:rPr sz="1650" dirty="0">
                <a:latin typeface="Arial"/>
              </a:rPr>
              <a:t> 0xef0100) </a:t>
            </a:r>
            <a:r>
              <a:rPr sz="1650" dirty="0" err="1">
                <a:latin typeface="Arial"/>
              </a:rPr>
              <a:t>gắn</a:t>
            </a:r>
            <a:r>
              <a:rPr sz="1650" dirty="0">
                <a:latin typeface="Arial"/>
              </a:rPr>
              <a:t> code </a:t>
            </a:r>
            <a:r>
              <a:rPr sz="1650" dirty="0" err="1">
                <a:latin typeface="Arial"/>
              </a:rPr>
              <a:t>độc</a:t>
            </a:r>
            <a:r>
              <a:rPr sz="1650" dirty="0">
                <a:latin typeface="Arial"/>
              </a:rPr>
              <a:t> </a:t>
            </a:r>
            <a:r>
              <a:rPr sz="1650" dirty="0" err="1">
                <a:latin typeface="Arial"/>
              </a:rPr>
              <a:t>vào</a:t>
            </a:r>
            <a:r>
              <a:rPr sz="1650" dirty="0">
                <a:latin typeface="Arial"/>
              </a:rPr>
              <a:t> </a:t>
            </a:r>
            <a:r>
              <a:rPr sz="1650" dirty="0" err="1">
                <a:latin typeface="Arial"/>
              </a:rPr>
              <a:t>ví</a:t>
            </a:r>
            <a:r>
              <a:rPr sz="1650" dirty="0">
                <a:latin typeface="Arial"/>
              </a:rPr>
              <a:t>.</a:t>
            </a:r>
          </a:p>
          <a:p>
            <a:pPr algn="just">
              <a:spcAft>
                <a:spcPts val="1200"/>
              </a:spcAft>
            </a:pPr>
            <a:r>
              <a:rPr sz="1800" b="1" dirty="0">
                <a:latin typeface="Arial"/>
              </a:rPr>
              <a:t>• </a:t>
            </a:r>
            <a:r>
              <a:rPr sz="1800" b="1" dirty="0" err="1">
                <a:latin typeface="Arial"/>
              </a:rPr>
              <a:t>Tính</a:t>
            </a:r>
            <a:r>
              <a:rPr sz="1800" b="1" dirty="0">
                <a:latin typeface="Arial"/>
              </a:rPr>
              <a:t> </a:t>
            </a:r>
            <a:r>
              <a:rPr sz="1800" b="1" dirty="0" err="1">
                <a:latin typeface="Arial"/>
              </a:rPr>
              <a:t>nguyên</a:t>
            </a:r>
            <a:r>
              <a:rPr sz="1800" b="1" dirty="0">
                <a:latin typeface="Arial"/>
              </a:rPr>
              <a:t> </a:t>
            </a:r>
            <a:r>
              <a:rPr sz="1800" b="1" dirty="0" err="1">
                <a:latin typeface="Arial"/>
              </a:rPr>
              <a:t>tử</a:t>
            </a:r>
            <a:r>
              <a:rPr sz="1800" b="1" dirty="0">
                <a:latin typeface="Arial"/>
              </a:rPr>
              <a:t> (Atomic): </a:t>
            </a:r>
            <a:r>
              <a:rPr sz="1650" dirty="0" err="1">
                <a:latin typeface="Arial"/>
              </a:rPr>
              <a:t>Nạp</a:t>
            </a:r>
            <a:r>
              <a:rPr sz="1650" dirty="0">
                <a:latin typeface="Arial"/>
              </a:rPr>
              <a:t> </a:t>
            </a:r>
            <a:r>
              <a:rPr sz="1650" dirty="0" err="1">
                <a:latin typeface="Arial"/>
              </a:rPr>
              <a:t>tiền</a:t>
            </a:r>
            <a:r>
              <a:rPr sz="1650" dirty="0">
                <a:latin typeface="Arial"/>
              </a:rPr>
              <a:t> </a:t>
            </a:r>
            <a:r>
              <a:rPr sz="1650" dirty="0" err="1">
                <a:latin typeface="Arial"/>
              </a:rPr>
              <a:t>và</a:t>
            </a:r>
            <a:r>
              <a:rPr sz="1650" dirty="0">
                <a:latin typeface="Arial"/>
              </a:rPr>
              <a:t> </a:t>
            </a:r>
            <a:r>
              <a:rPr sz="1650" dirty="0" err="1">
                <a:latin typeface="Arial"/>
              </a:rPr>
              <a:t>rút</a:t>
            </a:r>
            <a:r>
              <a:rPr sz="1650" dirty="0">
                <a:latin typeface="Arial"/>
              </a:rPr>
              <a:t> </a:t>
            </a:r>
            <a:r>
              <a:rPr sz="1650" dirty="0" err="1">
                <a:latin typeface="Arial"/>
              </a:rPr>
              <a:t>tiền</a:t>
            </a:r>
            <a:r>
              <a:rPr sz="1650" dirty="0">
                <a:latin typeface="Arial"/>
              </a:rPr>
              <a:t> </a:t>
            </a:r>
            <a:r>
              <a:rPr sz="1650" dirty="0" err="1">
                <a:latin typeface="Arial"/>
              </a:rPr>
              <a:t>diễn</a:t>
            </a:r>
            <a:r>
              <a:rPr sz="1650" dirty="0">
                <a:latin typeface="Arial"/>
              </a:rPr>
              <a:t> </a:t>
            </a:r>
            <a:r>
              <a:rPr sz="1650" dirty="0" err="1">
                <a:latin typeface="Arial"/>
              </a:rPr>
              <a:t>ra</a:t>
            </a:r>
            <a:r>
              <a:rPr sz="1650" dirty="0">
                <a:latin typeface="Arial"/>
              </a:rPr>
              <a:t> </a:t>
            </a:r>
            <a:r>
              <a:rPr sz="1650" dirty="0" err="1">
                <a:latin typeface="Arial"/>
              </a:rPr>
              <a:t>trong</a:t>
            </a:r>
            <a:r>
              <a:rPr sz="1650" dirty="0">
                <a:latin typeface="Arial"/>
              </a:rPr>
              <a:t> CÙNG MỘT GIAO DỊCH.</a:t>
            </a:r>
          </a:p>
          <a:p>
            <a:pPr algn="just">
              <a:spcAft>
                <a:spcPts val="1200"/>
              </a:spcAft>
            </a:pPr>
            <a:r>
              <a:rPr sz="1800" b="1" dirty="0">
                <a:latin typeface="Arial"/>
              </a:rPr>
              <a:t>• </a:t>
            </a:r>
            <a:r>
              <a:rPr sz="1800" b="1" dirty="0" err="1">
                <a:latin typeface="Arial"/>
              </a:rPr>
              <a:t>Không</a:t>
            </a:r>
            <a:r>
              <a:rPr sz="1800" b="1" dirty="0">
                <a:latin typeface="Arial"/>
              </a:rPr>
              <a:t> </a:t>
            </a:r>
            <a:r>
              <a:rPr sz="1800" b="1" dirty="0" err="1">
                <a:latin typeface="Arial"/>
              </a:rPr>
              <a:t>cần</a:t>
            </a:r>
            <a:r>
              <a:rPr sz="1800" b="1" dirty="0">
                <a:latin typeface="Arial"/>
              </a:rPr>
              <a:t> cạnh tranh gas: </a:t>
            </a:r>
            <a:r>
              <a:rPr sz="1650" dirty="0" err="1">
                <a:latin typeface="Arial"/>
              </a:rPr>
              <a:t>Không</a:t>
            </a:r>
            <a:r>
              <a:rPr sz="1650" dirty="0">
                <a:latin typeface="Arial"/>
              </a:rPr>
              <a:t> </a:t>
            </a:r>
            <a:r>
              <a:rPr sz="1650" dirty="0" err="1">
                <a:latin typeface="Arial"/>
              </a:rPr>
              <a:t>cần</a:t>
            </a:r>
            <a:r>
              <a:rPr sz="1650" dirty="0">
                <a:latin typeface="Arial"/>
              </a:rPr>
              <a:t> </a:t>
            </a:r>
            <a:r>
              <a:rPr sz="1650" dirty="0" err="1">
                <a:latin typeface="Arial"/>
              </a:rPr>
              <a:t>đua</a:t>
            </a:r>
            <a:r>
              <a:rPr sz="1650" dirty="0">
                <a:latin typeface="Arial"/>
              </a:rPr>
              <a:t> bot </a:t>
            </a:r>
            <a:r>
              <a:rPr sz="1650" dirty="0" err="1">
                <a:latin typeface="Arial"/>
              </a:rPr>
              <a:t>trên</a:t>
            </a:r>
            <a:r>
              <a:rPr sz="1650" dirty="0">
                <a:latin typeface="Arial"/>
              </a:rPr>
              <a:t> </a:t>
            </a:r>
            <a:r>
              <a:rPr sz="1650" dirty="0" err="1">
                <a:latin typeface="Arial"/>
              </a:rPr>
              <a:t>mempool</a:t>
            </a:r>
            <a:r>
              <a:rPr sz="1650" dirty="0">
                <a:latin typeface="Arial"/>
              </a:rPr>
              <a:t>, </a:t>
            </a:r>
            <a:r>
              <a:rPr sz="1650" dirty="0" err="1">
                <a:latin typeface="Arial"/>
              </a:rPr>
              <a:t>tiền</a:t>
            </a:r>
            <a:r>
              <a:rPr sz="1650" dirty="0">
                <a:latin typeface="Arial"/>
              </a:rPr>
              <a:t> </a:t>
            </a:r>
            <a:r>
              <a:rPr sz="1650" dirty="0" err="1">
                <a:latin typeface="Arial"/>
              </a:rPr>
              <a:t>được</a:t>
            </a:r>
            <a:r>
              <a:rPr sz="1650" dirty="0">
                <a:latin typeface="Arial"/>
              </a:rPr>
              <a:t> </a:t>
            </a:r>
            <a:r>
              <a:rPr sz="1650" dirty="0" err="1">
                <a:latin typeface="Arial"/>
              </a:rPr>
              <a:t>chuyển</a:t>
            </a:r>
            <a:r>
              <a:rPr sz="1650" dirty="0">
                <a:latin typeface="Arial"/>
              </a:rPr>
              <a:t> </a:t>
            </a:r>
            <a:r>
              <a:rPr sz="1650" dirty="0" err="1">
                <a:latin typeface="Arial"/>
              </a:rPr>
              <a:t>ngay</a:t>
            </a:r>
            <a:r>
              <a:rPr sz="1650" dirty="0">
                <a:latin typeface="Arial"/>
              </a:rPr>
              <a:t> khi nhận.</a:t>
            </a:r>
          </a:p>
          <a:p>
            <a:pPr algn="just">
              <a:spcAft>
                <a:spcPts val="1200"/>
              </a:spcAft>
            </a:pPr>
            <a:r>
              <a:rPr sz="1800" b="1" dirty="0">
                <a:latin typeface="Arial"/>
              </a:rPr>
              <a:t>• </a:t>
            </a:r>
            <a:r>
              <a:rPr sz="1800" b="1" dirty="0" err="1">
                <a:latin typeface="Arial"/>
              </a:rPr>
              <a:t>Quy</a:t>
            </a:r>
            <a:r>
              <a:rPr sz="1800" b="1" dirty="0">
                <a:latin typeface="Arial"/>
              </a:rPr>
              <a:t> </a:t>
            </a:r>
            <a:r>
              <a:rPr sz="1800" b="1" dirty="0" err="1">
                <a:latin typeface="Arial"/>
              </a:rPr>
              <a:t>mô</a:t>
            </a:r>
            <a:r>
              <a:rPr sz="1800" b="1" dirty="0">
                <a:latin typeface="Arial"/>
              </a:rPr>
              <a:t> </a:t>
            </a:r>
            <a:r>
              <a:rPr sz="1800" b="1" dirty="0" err="1">
                <a:latin typeface="Arial"/>
              </a:rPr>
              <a:t>lớn</a:t>
            </a:r>
            <a:r>
              <a:rPr sz="1800" b="1" dirty="0">
                <a:latin typeface="Arial"/>
              </a:rPr>
              <a:t>: </a:t>
            </a:r>
            <a:r>
              <a:rPr sz="1650" dirty="0">
                <a:latin typeface="Arial"/>
              </a:rPr>
              <a:t>Top 3 </a:t>
            </a:r>
            <a:r>
              <a:rPr sz="1650" dirty="0" err="1">
                <a:latin typeface="Arial"/>
              </a:rPr>
              <a:t>hợp</a:t>
            </a:r>
            <a:r>
              <a:rPr sz="1650" dirty="0">
                <a:latin typeface="Arial"/>
              </a:rPr>
              <a:t> </a:t>
            </a:r>
            <a:r>
              <a:rPr sz="1650" dirty="0" err="1">
                <a:latin typeface="Arial"/>
              </a:rPr>
              <a:t>đồng</a:t>
            </a:r>
            <a:r>
              <a:rPr sz="1650" dirty="0">
                <a:latin typeface="Arial"/>
              </a:rPr>
              <a:t> </a:t>
            </a:r>
            <a:r>
              <a:rPr sz="1650" dirty="0" err="1">
                <a:latin typeface="Arial"/>
              </a:rPr>
              <a:t>độc</a:t>
            </a:r>
            <a:r>
              <a:rPr sz="1650" dirty="0">
                <a:latin typeface="Arial"/>
              </a:rPr>
              <a:t> </a:t>
            </a:r>
            <a:r>
              <a:rPr sz="1650" dirty="0" err="1">
                <a:latin typeface="Arial"/>
              </a:rPr>
              <a:t>hại</a:t>
            </a:r>
            <a:r>
              <a:rPr sz="1650" dirty="0">
                <a:latin typeface="Arial"/>
              </a:rPr>
              <a:t> </a:t>
            </a:r>
            <a:r>
              <a:rPr sz="1650" dirty="0" err="1">
                <a:latin typeface="Arial"/>
              </a:rPr>
              <a:t>kiểm</a:t>
            </a:r>
            <a:r>
              <a:rPr sz="1650" dirty="0">
                <a:latin typeface="Arial"/>
              </a:rPr>
              <a:t> </a:t>
            </a:r>
            <a:r>
              <a:rPr sz="1650" dirty="0" err="1">
                <a:latin typeface="Arial"/>
              </a:rPr>
              <a:t>soát</a:t>
            </a:r>
            <a:r>
              <a:rPr sz="1650" dirty="0">
                <a:latin typeface="Arial"/>
              </a:rPr>
              <a:t> </a:t>
            </a:r>
            <a:r>
              <a:rPr sz="1650" dirty="0" err="1">
                <a:latin typeface="Arial"/>
              </a:rPr>
              <a:t>tới</a:t>
            </a:r>
            <a:r>
              <a:rPr sz="1650" dirty="0">
                <a:latin typeface="Arial"/>
              </a:rPr>
              <a:t> 78.71% </a:t>
            </a:r>
            <a:r>
              <a:rPr sz="1650" dirty="0" err="1">
                <a:latin typeface="Arial"/>
              </a:rPr>
              <a:t>số</a:t>
            </a:r>
            <a:r>
              <a:rPr sz="1650" dirty="0">
                <a:latin typeface="Arial"/>
              </a:rPr>
              <a:t> </a:t>
            </a:r>
            <a:r>
              <a:rPr sz="1650" dirty="0" err="1">
                <a:latin typeface="Arial"/>
              </a:rPr>
              <a:t>lượt</a:t>
            </a:r>
            <a:r>
              <a:rPr sz="1650" dirty="0">
                <a:latin typeface="Arial"/>
              </a:rPr>
              <a:t> </a:t>
            </a:r>
            <a:r>
              <a:rPr sz="1650" dirty="0" err="1">
                <a:latin typeface="Arial"/>
              </a:rPr>
              <a:t>ủy</a:t>
            </a:r>
            <a:r>
              <a:rPr sz="1650" dirty="0">
                <a:latin typeface="Arial"/>
              </a:rPr>
              <a:t> </a:t>
            </a:r>
            <a:r>
              <a:rPr sz="1650" dirty="0" err="1">
                <a:latin typeface="Arial"/>
              </a:rPr>
              <a:t>quyền</a:t>
            </a:r>
            <a:r>
              <a:rPr sz="1650" dirty="0">
                <a:latin typeface="Arial"/>
              </a:rPr>
              <a:t>.</a:t>
            </a:r>
          </a:p>
        </p:txBody>
      </p:sp>
      <p:pic>
        <p:nvPicPr>
          <p:cNvPr id="5" name="Picture 4">
            <a:extLst>
              <a:ext uri="{FF2B5EF4-FFF2-40B4-BE49-F238E27FC236}">
                <a16:creationId xmlns:a16="http://schemas.microsoft.com/office/drawing/2014/main" id="{F28CC35E-9D21-4384-415D-B59D3CE3EFD9}"/>
              </a:ext>
            </a:extLst>
          </p:cNvPr>
          <p:cNvPicPr>
            <a:picLocks noChangeAspect="1"/>
          </p:cNvPicPr>
          <p:nvPr/>
        </p:nvPicPr>
        <p:blipFill>
          <a:blip r:embed="rId3"/>
          <a:stretch>
            <a:fillRect/>
          </a:stretch>
        </p:blipFill>
        <p:spPr>
          <a:xfrm>
            <a:off x="472680" y="2370328"/>
            <a:ext cx="5608080" cy="3774440"/>
          </a:xfrm>
          <a:prstGeom prst="rect">
            <a:avLst/>
          </a:prstGeom>
        </p:spPr>
      </p:pic>
    </p:spTree>
    <p:extLst>
      <p:ext uri="{BB962C8B-B14F-4D97-AF65-F5344CB8AC3E}">
        <p14:creationId xmlns:p14="http://schemas.microsoft.com/office/powerpoint/2010/main" val="3110322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4F46E5"/>
                </a:solidFill>
                <a:latin typeface="Arial"/>
              </a:defRPr>
            </a:pPr>
            <a:r>
              <a:rPr sz="1100" b="1" dirty="0">
                <a:solidFill>
                  <a:srgbClr val="4F46E5"/>
                </a:solidFill>
                <a:latin typeface="Arial"/>
              </a:rPr>
              <a:t>[#]  ORIGINAL PAPER METHODOLOGY</a:t>
            </a:r>
          </a:p>
        </p:txBody>
      </p:sp>
      <p:sp>
        <p:nvSpPr>
          <p:cNvPr id="4" name="TextBox 3"/>
          <p:cNvSpPr txBox="1"/>
          <p:nvPr/>
        </p:nvSpPr>
        <p:spPr>
          <a:xfrm>
            <a:off x="731520" y="713232"/>
            <a:ext cx="10789920" cy="461665"/>
          </a:xfrm>
          <a:prstGeom prst="rect">
            <a:avLst/>
          </a:prstGeom>
          <a:noFill/>
        </p:spPr>
        <p:txBody>
          <a:bodyPr wrap="square" lIns="0" tIns="0" rIns="0" bIns="0">
            <a:spAutoFit/>
          </a:bodyPr>
          <a:lstStyle/>
          <a:p>
            <a:pPr>
              <a:defRPr sz="3000" b="1">
                <a:solidFill>
                  <a:srgbClr val="0F172A"/>
                </a:solidFill>
                <a:latin typeface="Arial"/>
              </a:defRPr>
            </a:pPr>
            <a:r>
              <a:rPr dirty="0"/>
              <a:t>04. Phương </a:t>
            </a:r>
            <a:r>
              <a:rPr dirty="0" err="1"/>
              <a:t>pháp</a:t>
            </a:r>
            <a:r>
              <a:rPr dirty="0"/>
              <a:t> </a:t>
            </a:r>
            <a:r>
              <a:rPr dirty="0" err="1"/>
              <a:t>luận</a:t>
            </a:r>
            <a:r>
              <a:rPr dirty="0"/>
              <a:t> </a:t>
            </a:r>
            <a:r>
              <a:rPr dirty="0" err="1"/>
              <a:t>bài</a:t>
            </a:r>
            <a:r>
              <a:rPr dirty="0"/>
              <a:t> </a:t>
            </a:r>
            <a:r>
              <a:rPr dirty="0" err="1"/>
              <a:t>báo</a:t>
            </a:r>
            <a:r>
              <a:rPr dirty="0"/>
              <a:t> </a:t>
            </a:r>
            <a:r>
              <a:rPr dirty="0" err="1"/>
              <a:t>gốc</a:t>
            </a:r>
            <a:endParaRPr dirty="0"/>
          </a:p>
        </p:txBody>
      </p:sp>
      <p:sp>
        <p:nvSpPr>
          <p:cNvPr id="103" name="WavyLine_103"/>
          <p:cNvSpPr/>
          <p:nvPr/>
        </p:nvSpPr>
        <p:spPr>
          <a:xfrm>
            <a:off x="731520" y="1536192"/>
            <a:ext cx="6729984" cy="152400"/>
          </a:xfrm>
          <a:custGeom>
            <a:avLst/>
            <a:gdLst/>
            <a:ahLst/>
            <a:cxnLst/>
            <a:rect l="0" t="0" r="6729984" b="152400"/>
            <a:pathLst>
              <a:path w="6729984"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cubicBezTo>
                  <a:pt x="5527548" y="12700"/>
                  <a:pt x="5527548" y="12700"/>
                  <a:pt x="5586984" y="76200"/>
                </a:cubicBezTo>
                <a:cubicBezTo>
                  <a:pt x="5646420" y="139700"/>
                  <a:pt x="5646420" y="139700"/>
                  <a:pt x="5705856" y="76200"/>
                </a:cubicBezTo>
                <a:cubicBezTo>
                  <a:pt x="5765292" y="12700"/>
                  <a:pt x="5765292" y="12700"/>
                  <a:pt x="5824728" y="76200"/>
                </a:cubicBezTo>
                <a:cubicBezTo>
                  <a:pt x="5884164" y="139700"/>
                  <a:pt x="5884164" y="139700"/>
                  <a:pt x="5943600" y="76200"/>
                </a:cubicBezTo>
                <a:cubicBezTo>
                  <a:pt x="6003036" y="12700"/>
                  <a:pt x="6003036" y="12700"/>
                  <a:pt x="6062472" y="76200"/>
                </a:cubicBezTo>
                <a:cubicBezTo>
                  <a:pt x="6121908" y="139700"/>
                  <a:pt x="6121908" y="139700"/>
                  <a:pt x="6181344" y="76200"/>
                </a:cubicBezTo>
                <a:cubicBezTo>
                  <a:pt x="6240780" y="12700"/>
                  <a:pt x="6240780" y="12700"/>
                  <a:pt x="6300216" y="76200"/>
                </a:cubicBezTo>
                <a:cubicBezTo>
                  <a:pt x="6359652" y="139700"/>
                  <a:pt x="6359652" y="139700"/>
                  <a:pt x="6419088" y="76200"/>
                </a:cubicBezTo>
                <a:cubicBezTo>
                  <a:pt x="6478524" y="12700"/>
                  <a:pt x="6478524" y="12700"/>
                  <a:pt x="6537960" y="76200"/>
                </a:cubicBezTo>
                <a:cubicBezTo>
                  <a:pt x="6597396" y="139700"/>
                  <a:pt x="6597396" y="139700"/>
                  <a:pt x="6656832" y="76200"/>
                </a:cubicBezTo>
              </a:path>
            </a:pathLst>
          </a:custGeom>
          <a:ln w="42000">
            <a:solidFill>
              <a:srgbClr val="4F46E5"/>
            </a:solidFill>
            <a:round/>
          </a:ln>
        </p:spPr>
        <p:txBody>
          <a:bodyPr/>
          <a:lstStyle/>
          <a:p>
            <a:endParaRPr lang="en-US"/>
          </a:p>
        </p:txBody>
      </p:sp>
      <p:sp>
        <p:nvSpPr>
          <p:cNvPr id="104" name="Rounded Rectangle 103"/>
          <p:cNvSpPr/>
          <p:nvPr/>
        </p:nvSpPr>
        <p:spPr>
          <a:xfrm>
            <a:off x="731520" y="1920240"/>
            <a:ext cx="2514600" cy="4434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endParaRPr>
          </a:p>
        </p:txBody>
      </p:sp>
      <p:sp>
        <p:nvSpPr>
          <p:cNvPr id="105" name="Oval 104"/>
          <p:cNvSpPr/>
          <p:nvPr/>
        </p:nvSpPr>
        <p:spPr>
          <a:xfrm>
            <a:off x="914400" y="2148840"/>
            <a:ext cx="685800" cy="68580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b="1">
                <a:solidFill>
                  <a:srgbClr val="1E293B"/>
                </a:solidFill>
                <a:latin typeface="Arial"/>
              </a:defRPr>
            </a:pPr>
            <a:r>
              <a:rPr>
                <a:solidFill>
                  <a:schemeClr val="tx1"/>
                </a:solidFill>
              </a:rPr>
              <a:t>01</a:t>
            </a:r>
          </a:p>
        </p:txBody>
      </p:sp>
      <p:sp>
        <p:nvSpPr>
          <p:cNvPr id="106" name="TextBox 105"/>
          <p:cNvSpPr txBox="1"/>
          <p:nvPr/>
        </p:nvSpPr>
        <p:spPr>
          <a:xfrm>
            <a:off x="914400" y="2971800"/>
            <a:ext cx="1680717" cy="369332"/>
          </a:xfrm>
          <a:prstGeom prst="rect">
            <a:avLst/>
          </a:prstGeom>
          <a:noFill/>
        </p:spPr>
        <p:txBody>
          <a:bodyPr wrap="none">
            <a:spAutoFit/>
          </a:bodyPr>
          <a:lstStyle/>
          <a:p>
            <a:pPr>
              <a:defRPr sz="1800" b="1">
                <a:solidFill>
                  <a:srgbClr val="0F172A"/>
                </a:solidFill>
                <a:latin typeface="Arial"/>
              </a:defRPr>
            </a:pPr>
            <a:r>
              <a:t>DATA MINING</a:t>
            </a:r>
          </a:p>
        </p:txBody>
      </p:sp>
      <p:sp>
        <p:nvSpPr>
          <p:cNvPr id="107" name="TextBox 106"/>
          <p:cNvSpPr txBox="1"/>
          <p:nvPr/>
        </p:nvSpPr>
        <p:spPr>
          <a:xfrm>
            <a:off x="914400" y="3611880"/>
            <a:ext cx="2148840" cy="1995418"/>
          </a:xfrm>
          <a:prstGeom prst="rect">
            <a:avLst/>
          </a:prstGeom>
          <a:noFill/>
        </p:spPr>
        <p:txBody>
          <a:bodyPr wrap="square">
            <a:spAutoFit/>
          </a:bodyPr>
          <a:lstStyle/>
          <a:p>
            <a:pPr>
              <a:spcAft>
                <a:spcPts val="1400"/>
              </a:spcAft>
              <a:defRPr sz="1550">
                <a:solidFill>
                  <a:srgbClr val="1E293B"/>
                </a:solidFill>
                <a:latin typeface="Arial"/>
              </a:defRPr>
            </a:pPr>
            <a:r>
              <a:rPr dirty="0"/>
              <a:t>• </a:t>
            </a:r>
            <a:r>
              <a:rPr sz="1600" dirty="0" err="1"/>
              <a:t>Cào</a:t>
            </a:r>
            <a:r>
              <a:rPr sz="1600" dirty="0"/>
              <a:t> 10M </a:t>
            </a:r>
            <a:r>
              <a:rPr sz="1600" dirty="0" err="1"/>
              <a:t>địa</a:t>
            </a:r>
            <a:r>
              <a:rPr sz="1600" dirty="0"/>
              <a:t> </a:t>
            </a:r>
            <a:r>
              <a:rPr sz="1600" dirty="0" err="1"/>
              <a:t>chỉ</a:t>
            </a:r>
            <a:r>
              <a:rPr sz="1600" dirty="0"/>
              <a:t> EVM &amp; 16M Private Key </a:t>
            </a:r>
            <a:r>
              <a:rPr sz="1600" dirty="0" err="1"/>
              <a:t>từ</a:t>
            </a:r>
            <a:r>
              <a:rPr sz="1600" dirty="0"/>
              <a:t> GitHub &amp; Stack Exchange.</a:t>
            </a:r>
          </a:p>
          <a:p>
            <a:pPr>
              <a:spcAft>
                <a:spcPts val="1400"/>
              </a:spcAft>
              <a:defRPr sz="1550">
                <a:solidFill>
                  <a:srgbClr val="1E293B"/>
                </a:solidFill>
                <a:latin typeface="Arial"/>
              </a:defRPr>
            </a:pPr>
            <a:r>
              <a:rPr sz="1600" dirty="0"/>
              <a:t>• </a:t>
            </a:r>
            <a:r>
              <a:rPr sz="1600" dirty="0" err="1"/>
              <a:t>Lọc</a:t>
            </a:r>
            <a:r>
              <a:rPr sz="1600" dirty="0"/>
              <a:t> Regex </a:t>
            </a:r>
            <a:r>
              <a:rPr sz="1600" dirty="0" err="1"/>
              <a:t>chuẩn</a:t>
            </a:r>
            <a:r>
              <a:rPr sz="1600" dirty="0"/>
              <a:t> </a:t>
            </a:r>
            <a:r>
              <a:rPr sz="1600" dirty="0" err="1"/>
              <a:t>hóa</a:t>
            </a:r>
            <a:r>
              <a:rPr sz="1600" dirty="0"/>
              <a:t> </a:t>
            </a:r>
            <a:r>
              <a:rPr sz="1600" dirty="0" err="1"/>
              <a:t>cho</a:t>
            </a:r>
            <a:r>
              <a:rPr sz="1600" dirty="0"/>
              <a:t> </a:t>
            </a:r>
            <a:r>
              <a:rPr sz="1600" dirty="0" err="1"/>
              <a:t>chuỗi</a:t>
            </a:r>
            <a:r>
              <a:rPr sz="1600" dirty="0"/>
              <a:t> hex 32/20 bytes</a:t>
            </a:r>
            <a:r>
              <a:rPr dirty="0"/>
              <a:t>.</a:t>
            </a:r>
          </a:p>
        </p:txBody>
      </p:sp>
      <p:sp>
        <p:nvSpPr>
          <p:cNvPr id="108" name="Rounded Rectangle 107"/>
          <p:cNvSpPr/>
          <p:nvPr/>
        </p:nvSpPr>
        <p:spPr>
          <a:xfrm>
            <a:off x="3429000" y="1920240"/>
            <a:ext cx="2514600" cy="4434840"/>
          </a:xfrm>
          <a:prstGeom prst="roundRect">
            <a:avLst/>
          </a:prstGeom>
          <a:solidFill>
            <a:srgbClr val="E0F2FE"/>
          </a:solidFill>
          <a:ln w="1905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endParaRPr>
          </a:p>
        </p:txBody>
      </p:sp>
      <p:sp>
        <p:nvSpPr>
          <p:cNvPr id="109" name="Oval 108"/>
          <p:cNvSpPr/>
          <p:nvPr/>
        </p:nvSpPr>
        <p:spPr>
          <a:xfrm>
            <a:off x="3611880" y="2148840"/>
            <a:ext cx="685800" cy="685800"/>
          </a:xfrm>
          <a:prstGeom prst="ellipse">
            <a:avLst/>
          </a:prstGeom>
          <a:solidFill>
            <a:srgbClr val="FFFFFF"/>
          </a:solidFill>
          <a:ln w="1905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b="1">
                <a:solidFill>
                  <a:srgbClr val="0EA5E9"/>
                </a:solidFill>
                <a:latin typeface="Arial"/>
              </a:defRPr>
            </a:pPr>
            <a:r>
              <a:rPr>
                <a:solidFill>
                  <a:schemeClr val="tx1"/>
                </a:solidFill>
              </a:rPr>
              <a:t>02</a:t>
            </a:r>
          </a:p>
        </p:txBody>
      </p:sp>
      <p:sp>
        <p:nvSpPr>
          <p:cNvPr id="110" name="TextBox 109"/>
          <p:cNvSpPr txBox="1"/>
          <p:nvPr/>
        </p:nvSpPr>
        <p:spPr>
          <a:xfrm>
            <a:off x="3611880" y="2971800"/>
            <a:ext cx="2172390" cy="369332"/>
          </a:xfrm>
          <a:prstGeom prst="rect">
            <a:avLst/>
          </a:prstGeom>
          <a:noFill/>
        </p:spPr>
        <p:txBody>
          <a:bodyPr wrap="none">
            <a:spAutoFit/>
          </a:bodyPr>
          <a:lstStyle/>
          <a:p>
            <a:pPr>
              <a:defRPr sz="1800" b="1">
                <a:solidFill>
                  <a:srgbClr val="0F172A"/>
                </a:solidFill>
                <a:latin typeface="Arial"/>
              </a:defRPr>
            </a:pPr>
            <a:r>
              <a:t>ON-CHAIN FETCH</a:t>
            </a:r>
          </a:p>
        </p:txBody>
      </p:sp>
      <p:sp>
        <p:nvSpPr>
          <p:cNvPr id="111" name="TextBox 110"/>
          <p:cNvSpPr txBox="1"/>
          <p:nvPr/>
        </p:nvSpPr>
        <p:spPr>
          <a:xfrm>
            <a:off x="3611879" y="3611880"/>
            <a:ext cx="2234443" cy="1964640"/>
          </a:xfrm>
          <a:prstGeom prst="rect">
            <a:avLst/>
          </a:prstGeom>
          <a:noFill/>
        </p:spPr>
        <p:txBody>
          <a:bodyPr wrap="square">
            <a:spAutoFit/>
          </a:bodyPr>
          <a:lstStyle/>
          <a:p>
            <a:pPr>
              <a:spcAft>
                <a:spcPts val="1400"/>
              </a:spcAft>
              <a:defRPr sz="1550">
                <a:solidFill>
                  <a:srgbClr val="1E293B"/>
                </a:solidFill>
                <a:latin typeface="Arial"/>
              </a:defRPr>
            </a:pPr>
            <a:r>
              <a:rPr dirty="0"/>
              <a:t>• Phân tích on-chain bằng Etherscan API; tổng quy mô 5.76B giao dịch.</a:t>
            </a:r>
          </a:p>
          <a:p>
            <a:pPr>
              <a:spcAft>
                <a:spcPts val="1400"/>
              </a:spcAft>
              <a:defRPr sz="1550">
                <a:solidFill>
                  <a:srgbClr val="1E293B"/>
                </a:solidFill>
                <a:latin typeface="Arial"/>
              </a:defRPr>
            </a:pPr>
            <a:r>
              <a:rPr sz="1600" dirty="0"/>
              <a:t>• Trích xuất bytecode, phân nhóm NCA vs CA.</a:t>
            </a:r>
          </a:p>
        </p:txBody>
      </p:sp>
      <p:sp>
        <p:nvSpPr>
          <p:cNvPr id="112" name="Rounded Rectangle 111"/>
          <p:cNvSpPr/>
          <p:nvPr/>
        </p:nvSpPr>
        <p:spPr>
          <a:xfrm>
            <a:off x="6126480" y="1920240"/>
            <a:ext cx="2514600" cy="4434840"/>
          </a:xfrm>
          <a:prstGeom prst="roundRect">
            <a:avLst/>
          </a:prstGeom>
          <a:solidFill>
            <a:srgbClr val="FEF3C7"/>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endParaRPr>
          </a:p>
        </p:txBody>
      </p:sp>
      <p:sp>
        <p:nvSpPr>
          <p:cNvPr id="113" name="Oval 112"/>
          <p:cNvSpPr/>
          <p:nvPr/>
        </p:nvSpPr>
        <p:spPr>
          <a:xfrm>
            <a:off x="6309360" y="2148840"/>
            <a:ext cx="685800" cy="685800"/>
          </a:xfrm>
          <a:prstGeom prst="ellipse">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b="1">
                <a:solidFill>
                  <a:srgbClr val="D97706"/>
                </a:solidFill>
                <a:latin typeface="Arial"/>
              </a:defRPr>
            </a:pPr>
            <a:r>
              <a:rPr>
                <a:solidFill>
                  <a:schemeClr val="tx1"/>
                </a:solidFill>
              </a:rPr>
              <a:t>03</a:t>
            </a:r>
          </a:p>
        </p:txBody>
      </p:sp>
      <p:sp>
        <p:nvSpPr>
          <p:cNvPr id="114" name="TextBox 113"/>
          <p:cNvSpPr txBox="1"/>
          <p:nvPr/>
        </p:nvSpPr>
        <p:spPr>
          <a:xfrm>
            <a:off x="6309360" y="2971800"/>
            <a:ext cx="2121093" cy="369332"/>
          </a:xfrm>
          <a:prstGeom prst="rect">
            <a:avLst/>
          </a:prstGeom>
          <a:noFill/>
        </p:spPr>
        <p:txBody>
          <a:bodyPr wrap="none">
            <a:spAutoFit/>
          </a:bodyPr>
          <a:lstStyle/>
          <a:p>
            <a:pPr>
              <a:defRPr sz="1800" b="1">
                <a:solidFill>
                  <a:srgbClr val="0F172A"/>
                </a:solidFill>
                <a:latin typeface="Arial"/>
              </a:defRPr>
            </a:pPr>
            <a:r>
              <a:t>SYMBOLIC SCAN</a:t>
            </a:r>
          </a:p>
        </p:txBody>
      </p:sp>
      <p:sp>
        <p:nvSpPr>
          <p:cNvPr id="115" name="TextBox 114"/>
          <p:cNvSpPr txBox="1"/>
          <p:nvPr/>
        </p:nvSpPr>
        <p:spPr>
          <a:xfrm>
            <a:off x="6309360" y="3611880"/>
            <a:ext cx="2148840" cy="2241639"/>
          </a:xfrm>
          <a:prstGeom prst="rect">
            <a:avLst/>
          </a:prstGeom>
          <a:noFill/>
        </p:spPr>
        <p:txBody>
          <a:bodyPr wrap="square">
            <a:spAutoFit/>
          </a:bodyPr>
          <a:lstStyle/>
          <a:p>
            <a:pPr>
              <a:spcAft>
                <a:spcPts val="1400"/>
              </a:spcAft>
              <a:defRPr sz="1550">
                <a:solidFill>
                  <a:srgbClr val="1E293B"/>
                </a:solidFill>
                <a:latin typeface="Arial"/>
              </a:defRPr>
            </a:pPr>
            <a:r>
              <a:rPr sz="1600" dirty="0"/>
              <a:t>•Lightweight symbolic execution trên bytecode.</a:t>
            </a:r>
          </a:p>
          <a:p>
            <a:pPr>
              <a:spcAft>
                <a:spcPts val="1400"/>
              </a:spcAft>
              <a:defRPr sz="1550">
                <a:solidFill>
                  <a:srgbClr val="1E293B"/>
                </a:solidFill>
                <a:latin typeface="Arial"/>
              </a:defRPr>
            </a:pPr>
            <a:r>
              <a:rPr sz="1600" dirty="0"/>
              <a:t>• Timeout 1 giây; tập trung vào CALL/DELEGATECALL để nhận diện fund-sweeping.</a:t>
            </a:r>
          </a:p>
        </p:txBody>
      </p:sp>
      <p:sp>
        <p:nvSpPr>
          <p:cNvPr id="116" name="Rounded Rectangle 115"/>
          <p:cNvSpPr/>
          <p:nvPr/>
        </p:nvSpPr>
        <p:spPr>
          <a:xfrm>
            <a:off x="8823960" y="1920240"/>
            <a:ext cx="2514600" cy="4434840"/>
          </a:xfrm>
          <a:prstGeom prst="roundRect">
            <a:avLst/>
          </a:prstGeom>
          <a:solidFill>
            <a:srgbClr val="D1FAE5"/>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endParaRPr>
          </a:p>
        </p:txBody>
      </p:sp>
      <p:sp>
        <p:nvSpPr>
          <p:cNvPr id="117" name="Oval 116"/>
          <p:cNvSpPr/>
          <p:nvPr/>
        </p:nvSpPr>
        <p:spPr>
          <a:xfrm>
            <a:off x="9006840" y="2148840"/>
            <a:ext cx="685800" cy="685800"/>
          </a:xfrm>
          <a:prstGeom prst="ellipse">
            <a:avLst/>
          </a:prstGeom>
          <a:solidFill>
            <a:srgbClr val="FFFFFF"/>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b="1">
                <a:solidFill>
                  <a:srgbClr val="10B981"/>
                </a:solidFill>
                <a:latin typeface="Arial"/>
              </a:defRPr>
            </a:pPr>
            <a:r>
              <a:rPr>
                <a:solidFill>
                  <a:schemeClr val="tx1"/>
                </a:solidFill>
              </a:rPr>
              <a:t>04</a:t>
            </a:r>
          </a:p>
        </p:txBody>
      </p:sp>
      <p:sp>
        <p:nvSpPr>
          <p:cNvPr id="118" name="TextBox 117"/>
          <p:cNvSpPr txBox="1"/>
          <p:nvPr/>
        </p:nvSpPr>
        <p:spPr>
          <a:xfrm>
            <a:off x="9006840" y="2971800"/>
            <a:ext cx="1650837" cy="369332"/>
          </a:xfrm>
          <a:prstGeom prst="rect">
            <a:avLst/>
          </a:prstGeom>
          <a:noFill/>
        </p:spPr>
        <p:txBody>
          <a:bodyPr wrap="none">
            <a:spAutoFit/>
          </a:bodyPr>
          <a:lstStyle/>
          <a:p>
            <a:pPr>
              <a:defRPr sz="1800" b="1">
                <a:solidFill>
                  <a:srgbClr val="0F172A"/>
                </a:solidFill>
                <a:latin typeface="Arial"/>
              </a:defRPr>
            </a:pPr>
            <a:r>
              <a:t>EVALUATION</a:t>
            </a:r>
          </a:p>
        </p:txBody>
      </p:sp>
      <p:sp>
        <p:nvSpPr>
          <p:cNvPr id="119" name="TextBox 118"/>
          <p:cNvSpPr txBox="1"/>
          <p:nvPr/>
        </p:nvSpPr>
        <p:spPr>
          <a:xfrm>
            <a:off x="9006840" y="3611880"/>
            <a:ext cx="2148840" cy="1980029"/>
          </a:xfrm>
          <a:prstGeom prst="rect">
            <a:avLst/>
          </a:prstGeom>
          <a:noFill/>
        </p:spPr>
        <p:txBody>
          <a:bodyPr wrap="square">
            <a:spAutoFit/>
          </a:bodyPr>
          <a:lstStyle/>
          <a:p>
            <a:pPr>
              <a:spcAft>
                <a:spcPts val="1400"/>
              </a:spcAft>
              <a:defRPr sz="1550">
                <a:solidFill>
                  <a:srgbClr val="1E293B"/>
                </a:solidFill>
                <a:latin typeface="Arial"/>
              </a:defRPr>
            </a:pPr>
            <a:r>
              <a:rPr dirty="0"/>
              <a:t>• </a:t>
            </a:r>
            <a:r>
              <a:rPr dirty="0" err="1"/>
              <a:t>Lấy</a:t>
            </a:r>
            <a:r>
              <a:rPr dirty="0"/>
              <a:t> </a:t>
            </a:r>
            <a:r>
              <a:rPr dirty="0" err="1"/>
              <a:t>mẫu</a:t>
            </a:r>
            <a:r>
              <a:rPr dirty="0"/>
              <a:t> </a:t>
            </a:r>
            <a:r>
              <a:rPr dirty="0" err="1"/>
              <a:t>phân</a:t>
            </a:r>
            <a:r>
              <a:rPr dirty="0"/>
              <a:t> </a:t>
            </a:r>
            <a:r>
              <a:rPr dirty="0" err="1"/>
              <a:t>tầng</a:t>
            </a:r>
            <a:r>
              <a:rPr dirty="0"/>
              <a:t> </a:t>
            </a:r>
            <a:r>
              <a:rPr dirty="0" err="1"/>
              <a:t>với</a:t>
            </a:r>
            <a:r>
              <a:rPr dirty="0"/>
              <a:t> </a:t>
            </a:r>
            <a:r>
              <a:rPr sz="1600" dirty="0" err="1"/>
              <a:t>khoảng</a:t>
            </a:r>
            <a:r>
              <a:rPr sz="1600" dirty="0"/>
              <a:t> tin </a:t>
            </a:r>
            <a:r>
              <a:rPr sz="1600" dirty="0" err="1"/>
              <a:t>cậy</a:t>
            </a:r>
            <a:r>
              <a:rPr sz="1600" dirty="0"/>
              <a:t> 95% CI.</a:t>
            </a:r>
          </a:p>
          <a:p>
            <a:pPr>
              <a:spcAft>
                <a:spcPts val="1400"/>
              </a:spcAft>
              <a:defRPr sz="1550">
                <a:solidFill>
                  <a:srgbClr val="1E293B"/>
                </a:solidFill>
                <a:latin typeface="Arial"/>
              </a:defRPr>
            </a:pPr>
            <a:r>
              <a:rPr sz="1600" dirty="0"/>
              <a:t>• Manual audit </a:t>
            </a:r>
            <a:r>
              <a:rPr sz="1600" dirty="0" err="1"/>
              <a:t>độc</a:t>
            </a:r>
            <a:r>
              <a:rPr sz="1600" dirty="0"/>
              <a:t> </a:t>
            </a:r>
            <a:r>
              <a:rPr sz="1600" dirty="0" err="1"/>
              <a:t>lập</a:t>
            </a:r>
            <a:r>
              <a:rPr sz="1600" dirty="0"/>
              <a:t>: Kappa = 0.868, </a:t>
            </a:r>
            <a:r>
              <a:rPr sz="1600" dirty="0" err="1"/>
              <a:t>Độ</a:t>
            </a:r>
            <a:r>
              <a:rPr sz="1600" dirty="0"/>
              <a:t> </a:t>
            </a:r>
            <a:r>
              <a:rPr sz="1600" dirty="0" err="1"/>
              <a:t>chuẩn</a:t>
            </a:r>
            <a:r>
              <a:rPr sz="1600" dirty="0"/>
              <a:t> </a:t>
            </a:r>
            <a:r>
              <a:rPr sz="1600" dirty="0" err="1"/>
              <a:t>xác</a:t>
            </a:r>
            <a:r>
              <a:rPr sz="1600" dirty="0"/>
              <a:t> </a:t>
            </a:r>
            <a:r>
              <a:rPr dirty="0"/>
              <a:t>99.11%.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4F46E5"/>
                </a:solidFill>
                <a:latin typeface="Arial"/>
              </a:defRPr>
            </a:pPr>
            <a:r>
              <a:rPr lang="en-US" sz="1100" b="1" dirty="0">
                <a:solidFill>
                  <a:srgbClr val="4F46E5"/>
                </a:solidFill>
                <a:latin typeface="Arial"/>
              </a:rPr>
              <a:t>[#]  ORIGINAL PAPER METHODOLOGY</a:t>
            </a:r>
          </a:p>
        </p:txBody>
      </p:sp>
      <p:sp>
        <p:nvSpPr>
          <p:cNvPr id="4" name="TextBox 3"/>
          <p:cNvSpPr txBox="1"/>
          <p:nvPr/>
        </p:nvSpPr>
        <p:spPr>
          <a:xfrm>
            <a:off x="731520" y="713232"/>
            <a:ext cx="10789920" cy="461665"/>
          </a:xfrm>
          <a:prstGeom prst="rect">
            <a:avLst/>
          </a:prstGeom>
          <a:noFill/>
        </p:spPr>
        <p:txBody>
          <a:bodyPr wrap="square" lIns="0" tIns="0" rIns="0" bIns="0">
            <a:spAutoFit/>
          </a:bodyPr>
          <a:lstStyle/>
          <a:p>
            <a:pPr>
              <a:defRPr sz="3000" b="1">
                <a:solidFill>
                  <a:srgbClr val="0F172A"/>
                </a:solidFill>
                <a:latin typeface="Arial"/>
              </a:defRPr>
            </a:pPr>
            <a:r>
              <a:rPr lang="vi-VN" dirty="0"/>
              <a:t>04. Phương pháp luận bài báo gốc – các detector</a:t>
            </a:r>
          </a:p>
        </p:txBody>
      </p:sp>
      <p:sp>
        <p:nvSpPr>
          <p:cNvPr id="103" name="WavyLine_103"/>
          <p:cNvSpPr/>
          <p:nvPr/>
        </p:nvSpPr>
        <p:spPr>
          <a:xfrm>
            <a:off x="731520" y="1536192"/>
            <a:ext cx="5888736" cy="152400"/>
          </a:xfrm>
          <a:custGeom>
            <a:avLst/>
            <a:gdLst/>
            <a:ahLst/>
            <a:cxnLst/>
            <a:rect l="0" t="0" r="5888736" b="152400"/>
            <a:pathLst>
              <a:path w="5888736"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cubicBezTo>
                  <a:pt x="5527548" y="12700"/>
                  <a:pt x="5527548" y="12700"/>
                  <a:pt x="5586984" y="76200"/>
                </a:cubicBezTo>
                <a:cubicBezTo>
                  <a:pt x="5646420" y="139700"/>
                  <a:pt x="5646420" y="139700"/>
                  <a:pt x="5705856" y="76200"/>
                </a:cubicBezTo>
              </a:path>
            </a:pathLst>
          </a:custGeom>
          <a:ln w="42000">
            <a:solidFill>
              <a:srgbClr val="4F46E5"/>
            </a:solidFill>
            <a:round/>
          </a:ln>
        </p:spPr>
        <p:txBody>
          <a:bodyPr/>
          <a:lstStyle/>
          <a:p>
            <a:endParaRPr lang="en-US"/>
          </a:p>
        </p:txBody>
      </p:sp>
      <p:sp>
        <p:nvSpPr>
          <p:cNvPr id="104" name="Rounded Rectangle 103"/>
          <p:cNvSpPr/>
          <p:nvPr/>
        </p:nvSpPr>
        <p:spPr>
          <a:xfrm>
            <a:off x="731520" y="1920240"/>
            <a:ext cx="5212080" cy="4434840"/>
          </a:xfrm>
          <a:prstGeom prst="roundRect">
            <a:avLst/>
          </a:prstGeom>
          <a:solidFill>
            <a:srgbClr val="EEF2FF"/>
          </a:solidFill>
          <a:ln w="254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1005840" y="2148840"/>
            <a:ext cx="4663440" cy="411480"/>
          </a:xfrm>
          <a:prstGeom prst="roundRect">
            <a:avLst/>
          </a:prstGeom>
          <a:solidFill>
            <a:srgbClr val="FFFF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F46E5"/>
                </a:solidFill>
                <a:latin typeface="Arial"/>
              </a:defRPr>
            </a:pPr>
            <a:r>
              <a:rPr sz="1600" dirty="0"/>
              <a:t>BỘ NHẬN DIỆN LỖ HỔNG HỢP ĐỒNG</a:t>
            </a:r>
          </a:p>
        </p:txBody>
      </p:sp>
      <p:sp>
        <p:nvSpPr>
          <p:cNvPr id="106" name="TextBox 105"/>
          <p:cNvSpPr txBox="1"/>
          <p:nvPr/>
        </p:nvSpPr>
        <p:spPr>
          <a:xfrm>
            <a:off x="1005840" y="2697480"/>
            <a:ext cx="4663440" cy="548640"/>
          </a:xfrm>
          <a:prstGeom prst="rect">
            <a:avLst/>
          </a:prstGeom>
          <a:noFill/>
        </p:spPr>
        <p:txBody>
          <a:bodyPr wrap="none">
            <a:spAutoFit/>
          </a:bodyPr>
          <a:lstStyle/>
          <a:p>
            <a:pPr>
              <a:defRPr sz="2200" b="1">
                <a:solidFill>
                  <a:srgbClr val="0F172A"/>
                </a:solidFill>
                <a:latin typeface="Arial"/>
              </a:defRPr>
            </a:pPr>
            <a:r>
              <a:rPr dirty="0"/>
              <a:t>MODULE 1: PHÁT HIỆN CA MISUSE</a:t>
            </a:r>
          </a:p>
        </p:txBody>
      </p:sp>
      <p:sp>
        <p:nvSpPr>
          <p:cNvPr id="107" name="TextBox 106"/>
          <p:cNvSpPr txBox="1"/>
          <p:nvPr/>
        </p:nvSpPr>
        <p:spPr>
          <a:xfrm>
            <a:off x="1005840" y="3337560"/>
            <a:ext cx="4663440" cy="2677656"/>
          </a:xfrm>
          <a:prstGeom prst="rect">
            <a:avLst/>
          </a:prstGeom>
          <a:noFill/>
        </p:spPr>
        <p:txBody>
          <a:bodyPr wrap="square">
            <a:spAutoFit/>
          </a:bodyPr>
          <a:lstStyle/>
          <a:p>
            <a:pPr>
              <a:spcAft>
                <a:spcPts val="1200"/>
              </a:spcAft>
            </a:pPr>
            <a:r>
              <a:rPr sz="1800" b="1" dirty="0">
                <a:latin typeface="Arial"/>
              </a:rPr>
              <a:t>• </a:t>
            </a:r>
            <a:r>
              <a:rPr sz="1800" b="1" dirty="0" err="1">
                <a:latin typeface="Arial"/>
              </a:rPr>
              <a:t>Kiểm</a:t>
            </a:r>
            <a:r>
              <a:rPr sz="1800" b="1" dirty="0">
                <a:latin typeface="Arial"/>
              </a:rPr>
              <a:t> </a:t>
            </a:r>
            <a:r>
              <a:rPr sz="1800" b="1" dirty="0" err="1">
                <a:latin typeface="Arial"/>
              </a:rPr>
              <a:t>tra</a:t>
            </a:r>
            <a:r>
              <a:rPr sz="1800" b="1" dirty="0">
                <a:latin typeface="Arial"/>
              </a:rPr>
              <a:t> Code: </a:t>
            </a:r>
            <a:r>
              <a:rPr sz="1650" dirty="0" err="1">
                <a:latin typeface="Arial"/>
              </a:rPr>
              <a:t>eth_getCode</a:t>
            </a:r>
            <a:r>
              <a:rPr sz="1650" dirty="0">
                <a:latin typeface="Arial"/>
              </a:rPr>
              <a:t>(to) == '0x' (</a:t>
            </a:r>
            <a:r>
              <a:rPr sz="1650" dirty="0" err="1">
                <a:latin typeface="Arial"/>
              </a:rPr>
              <a:t>Xác</a:t>
            </a:r>
            <a:r>
              <a:rPr sz="1650" dirty="0">
                <a:latin typeface="Arial"/>
              </a:rPr>
              <a:t> </a:t>
            </a:r>
            <a:r>
              <a:rPr sz="1650" dirty="0" err="1">
                <a:latin typeface="Arial"/>
              </a:rPr>
              <a:t>định</a:t>
            </a:r>
            <a:r>
              <a:rPr sz="1650" dirty="0">
                <a:latin typeface="Arial"/>
              </a:rPr>
              <a:t> </a:t>
            </a:r>
            <a:r>
              <a:rPr sz="1650" dirty="0" err="1">
                <a:latin typeface="Arial"/>
              </a:rPr>
              <a:t>địa</a:t>
            </a:r>
            <a:r>
              <a:rPr sz="1650" dirty="0">
                <a:latin typeface="Arial"/>
              </a:rPr>
              <a:t> </a:t>
            </a:r>
            <a:r>
              <a:rPr sz="1650" dirty="0" err="1">
                <a:latin typeface="Arial"/>
              </a:rPr>
              <a:t>chỉ</a:t>
            </a:r>
            <a:r>
              <a:rPr sz="1650" dirty="0">
                <a:latin typeface="Arial"/>
              </a:rPr>
              <a:t> </a:t>
            </a:r>
            <a:r>
              <a:rPr sz="1650" dirty="0" err="1">
                <a:latin typeface="Arial"/>
              </a:rPr>
              <a:t>rỗng</a:t>
            </a:r>
            <a:r>
              <a:rPr sz="1650" dirty="0">
                <a:latin typeface="Arial"/>
              </a:rPr>
              <a:t> NCA).</a:t>
            </a:r>
          </a:p>
          <a:p>
            <a:pPr>
              <a:spcAft>
                <a:spcPts val="1200"/>
              </a:spcAft>
            </a:pPr>
            <a:r>
              <a:rPr sz="1800" b="1" dirty="0">
                <a:latin typeface="Arial"/>
              </a:rPr>
              <a:t>• </a:t>
            </a:r>
            <a:r>
              <a:rPr sz="1800" b="1" dirty="0" err="1">
                <a:latin typeface="Arial"/>
              </a:rPr>
              <a:t>Kiểm</a:t>
            </a:r>
            <a:r>
              <a:rPr sz="1800" b="1" dirty="0">
                <a:latin typeface="Arial"/>
              </a:rPr>
              <a:t> </a:t>
            </a:r>
            <a:r>
              <a:rPr sz="1800" b="1" dirty="0" err="1">
                <a:latin typeface="Arial"/>
              </a:rPr>
              <a:t>tra</a:t>
            </a:r>
            <a:r>
              <a:rPr sz="1800" b="1" dirty="0">
                <a:latin typeface="Arial"/>
              </a:rPr>
              <a:t> Input: </a:t>
            </a:r>
            <a:r>
              <a:rPr sz="1650" dirty="0" err="1">
                <a:latin typeface="Arial"/>
              </a:rPr>
              <a:t>Có</a:t>
            </a:r>
            <a:r>
              <a:rPr sz="1650" dirty="0">
                <a:latin typeface="Arial"/>
              </a:rPr>
              <a:t> Function Selector 4 bytes (</a:t>
            </a:r>
            <a:r>
              <a:rPr sz="1650" dirty="0" err="1">
                <a:latin typeface="Arial"/>
              </a:rPr>
              <a:t>độ</a:t>
            </a:r>
            <a:r>
              <a:rPr sz="1650" dirty="0">
                <a:latin typeface="Arial"/>
              </a:rPr>
              <a:t> </a:t>
            </a:r>
            <a:r>
              <a:rPr sz="1650" dirty="0" err="1">
                <a:latin typeface="Arial"/>
              </a:rPr>
              <a:t>dài</a:t>
            </a:r>
            <a:r>
              <a:rPr sz="1650" dirty="0">
                <a:latin typeface="Arial"/>
              </a:rPr>
              <a:t> input &gt;= 10 hex).</a:t>
            </a:r>
          </a:p>
          <a:p>
            <a:pPr>
              <a:spcAft>
                <a:spcPts val="1200"/>
              </a:spcAft>
            </a:pPr>
            <a:r>
              <a:rPr sz="1800" b="1" dirty="0">
                <a:latin typeface="Arial"/>
              </a:rPr>
              <a:t>• BỘ LỌC CHỐNG NHIỄU IDM: </a:t>
            </a:r>
            <a:r>
              <a:rPr sz="1650" dirty="0" err="1">
                <a:latin typeface="Arial"/>
              </a:rPr>
              <a:t>Loại</a:t>
            </a:r>
            <a:r>
              <a:rPr sz="1650" dirty="0">
                <a:latin typeface="Arial"/>
              </a:rPr>
              <a:t> </a:t>
            </a:r>
            <a:r>
              <a:rPr sz="1650" dirty="0" err="1">
                <a:latin typeface="Arial"/>
              </a:rPr>
              <a:t>bỏ</a:t>
            </a:r>
            <a:r>
              <a:rPr sz="1650" dirty="0">
                <a:latin typeface="Arial"/>
              </a:rPr>
              <a:t> tin </a:t>
            </a:r>
            <a:r>
              <a:rPr sz="1650" dirty="0" err="1">
                <a:latin typeface="Arial"/>
              </a:rPr>
              <a:t>nhắn</a:t>
            </a:r>
            <a:r>
              <a:rPr sz="1650" dirty="0">
                <a:latin typeface="Arial"/>
              </a:rPr>
              <a:t> </a:t>
            </a:r>
            <a:r>
              <a:rPr sz="1650" dirty="0" err="1">
                <a:latin typeface="Arial"/>
              </a:rPr>
              <a:t>văn</a:t>
            </a:r>
            <a:r>
              <a:rPr sz="1650" dirty="0">
                <a:latin typeface="Arial"/>
              </a:rPr>
              <a:t> </a:t>
            </a:r>
            <a:r>
              <a:rPr sz="1650" dirty="0" err="1">
                <a:latin typeface="Arial"/>
              </a:rPr>
              <a:t>bản</a:t>
            </a:r>
            <a:r>
              <a:rPr sz="1650" dirty="0">
                <a:latin typeface="Arial"/>
              </a:rPr>
              <a:t> (ASCII &gt; 80%) </a:t>
            </a:r>
            <a:r>
              <a:rPr sz="1650" dirty="0" err="1">
                <a:latin typeface="Arial"/>
              </a:rPr>
              <a:t>để</a:t>
            </a:r>
            <a:r>
              <a:rPr sz="1650" dirty="0">
                <a:latin typeface="Arial"/>
              </a:rPr>
              <a:t> </a:t>
            </a:r>
            <a:r>
              <a:rPr sz="1650" dirty="0" err="1">
                <a:latin typeface="Arial"/>
              </a:rPr>
              <a:t>tránh</a:t>
            </a:r>
            <a:r>
              <a:rPr sz="1650" dirty="0">
                <a:latin typeface="Arial"/>
              </a:rPr>
              <a:t> </a:t>
            </a:r>
            <a:r>
              <a:rPr sz="1650" dirty="0" err="1">
                <a:latin typeface="Arial"/>
              </a:rPr>
              <a:t>báo</a:t>
            </a:r>
            <a:r>
              <a:rPr sz="1650" dirty="0">
                <a:latin typeface="Arial"/>
              </a:rPr>
              <a:t> </a:t>
            </a:r>
            <a:r>
              <a:rPr sz="1650" dirty="0" err="1">
                <a:latin typeface="Arial"/>
              </a:rPr>
              <a:t>sai</a:t>
            </a:r>
            <a:r>
              <a:rPr sz="1650" dirty="0">
                <a:latin typeface="Arial"/>
              </a:rPr>
              <a:t>.</a:t>
            </a:r>
          </a:p>
          <a:p>
            <a:pPr>
              <a:spcAft>
                <a:spcPts val="1200"/>
              </a:spcAft>
            </a:pPr>
            <a:r>
              <a:rPr sz="1800" b="1" dirty="0">
                <a:latin typeface="Arial"/>
              </a:rPr>
              <a:t>• </a:t>
            </a:r>
            <a:r>
              <a:rPr sz="1800" b="1" dirty="0" err="1">
                <a:latin typeface="Arial"/>
              </a:rPr>
              <a:t>Tính</a:t>
            </a:r>
            <a:r>
              <a:rPr sz="1800" b="1" dirty="0">
                <a:latin typeface="Arial"/>
              </a:rPr>
              <a:t> </a:t>
            </a:r>
            <a:r>
              <a:rPr sz="1800" b="1" dirty="0" err="1">
                <a:latin typeface="Arial"/>
              </a:rPr>
              <a:t>thiệt</a:t>
            </a:r>
            <a:r>
              <a:rPr sz="1800" b="1" dirty="0">
                <a:latin typeface="Arial"/>
              </a:rPr>
              <a:t> </a:t>
            </a:r>
            <a:r>
              <a:rPr sz="1800" b="1" dirty="0" err="1">
                <a:latin typeface="Arial"/>
              </a:rPr>
              <a:t>hại</a:t>
            </a:r>
            <a:r>
              <a:rPr sz="1800" b="1" dirty="0">
                <a:latin typeface="Arial"/>
              </a:rPr>
              <a:t>: </a:t>
            </a:r>
            <a:r>
              <a:rPr sz="1650" dirty="0">
                <a:latin typeface="Arial"/>
              </a:rPr>
              <a:t>Định </a:t>
            </a:r>
            <a:r>
              <a:rPr sz="1650" dirty="0" err="1">
                <a:latin typeface="Arial"/>
              </a:rPr>
              <a:t>lượng</a:t>
            </a:r>
            <a:r>
              <a:rPr sz="1650" dirty="0">
                <a:latin typeface="Arial"/>
              </a:rPr>
              <a:t> </a:t>
            </a:r>
            <a:r>
              <a:rPr sz="1650" dirty="0" err="1">
                <a:latin typeface="Arial"/>
              </a:rPr>
              <a:t>chính</a:t>
            </a:r>
            <a:r>
              <a:rPr sz="1650" dirty="0">
                <a:latin typeface="Arial"/>
              </a:rPr>
              <a:t> </a:t>
            </a:r>
            <a:r>
              <a:rPr sz="1650" dirty="0" err="1">
                <a:latin typeface="Arial"/>
              </a:rPr>
              <a:t>xác</a:t>
            </a:r>
            <a:r>
              <a:rPr sz="1650" dirty="0">
                <a:latin typeface="Arial"/>
              </a:rPr>
              <a:t> </a:t>
            </a:r>
            <a:r>
              <a:rPr sz="1650" dirty="0" err="1">
                <a:latin typeface="Arial"/>
              </a:rPr>
              <a:t>giá</a:t>
            </a:r>
            <a:r>
              <a:rPr sz="1650" dirty="0">
                <a:latin typeface="Arial"/>
              </a:rPr>
              <a:t> </a:t>
            </a:r>
            <a:r>
              <a:rPr sz="1650" dirty="0" err="1">
                <a:latin typeface="Arial"/>
              </a:rPr>
              <a:t>trị</a:t>
            </a:r>
            <a:r>
              <a:rPr sz="1650" dirty="0">
                <a:latin typeface="Arial"/>
              </a:rPr>
              <a:t> ETH/BNB </a:t>
            </a:r>
            <a:r>
              <a:rPr sz="1650" dirty="0" err="1">
                <a:latin typeface="Arial"/>
              </a:rPr>
              <a:t>gửi</a:t>
            </a:r>
            <a:r>
              <a:rPr sz="1650" dirty="0">
                <a:latin typeface="Arial"/>
              </a:rPr>
              <a:t> </a:t>
            </a:r>
            <a:r>
              <a:rPr sz="1650" dirty="0" err="1">
                <a:latin typeface="Arial"/>
              </a:rPr>
              <a:t>kèm</a:t>
            </a:r>
            <a:r>
              <a:rPr sz="1650" dirty="0">
                <a:latin typeface="Arial"/>
              </a:rPr>
              <a:t> </a:t>
            </a:r>
            <a:r>
              <a:rPr sz="1650" dirty="0" err="1">
                <a:latin typeface="Arial"/>
              </a:rPr>
              <a:t>bị</a:t>
            </a:r>
            <a:r>
              <a:rPr sz="1650" dirty="0">
                <a:latin typeface="Arial"/>
              </a:rPr>
              <a:t> </a:t>
            </a:r>
            <a:r>
              <a:rPr sz="1650" dirty="0" err="1">
                <a:latin typeface="Arial"/>
              </a:rPr>
              <a:t>kẹt</a:t>
            </a:r>
            <a:r>
              <a:rPr sz="1650" dirty="0">
                <a:latin typeface="Arial"/>
              </a:rPr>
              <a:t>.</a:t>
            </a:r>
          </a:p>
        </p:txBody>
      </p:sp>
      <p:sp>
        <p:nvSpPr>
          <p:cNvPr id="108" name="Rounded Rectangle 107"/>
          <p:cNvSpPr/>
          <p:nvPr/>
        </p:nvSpPr>
        <p:spPr>
          <a:xfrm>
            <a:off x="6217920" y="1920240"/>
            <a:ext cx="5303520" cy="4434840"/>
          </a:xfrm>
          <a:prstGeom prst="roundRect">
            <a:avLst/>
          </a:prstGeom>
          <a:solidFill>
            <a:srgbClr val="FEE2E2"/>
          </a:solidFill>
          <a:ln w="254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p:cNvSpPr/>
          <p:nvPr/>
        </p:nvSpPr>
        <p:spPr>
          <a:xfrm>
            <a:off x="6492240" y="2148840"/>
            <a:ext cx="4663440" cy="411480"/>
          </a:xfrm>
          <a:prstGeom prst="roundRect">
            <a:avLst/>
          </a:prstGeom>
          <a:solidFill>
            <a:srgbClr val="FFFFFF"/>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F4444"/>
                </a:solidFill>
                <a:latin typeface="Arial"/>
              </a:defRPr>
            </a:pPr>
            <a:r>
              <a:rPr sz="1600" dirty="0"/>
              <a:t>BỘ NHẬN DIỆN VÍ BỊ LỘ KHÓA</a:t>
            </a:r>
          </a:p>
        </p:txBody>
      </p:sp>
      <p:sp>
        <p:nvSpPr>
          <p:cNvPr id="110" name="TextBox 109"/>
          <p:cNvSpPr txBox="1"/>
          <p:nvPr/>
        </p:nvSpPr>
        <p:spPr>
          <a:xfrm>
            <a:off x="6492240" y="2697480"/>
            <a:ext cx="4663440" cy="548640"/>
          </a:xfrm>
          <a:prstGeom prst="rect">
            <a:avLst/>
          </a:prstGeom>
          <a:noFill/>
        </p:spPr>
        <p:txBody>
          <a:bodyPr wrap="none">
            <a:spAutoFit/>
          </a:bodyPr>
          <a:lstStyle/>
          <a:p>
            <a:pPr>
              <a:defRPr sz="2200" b="1">
                <a:solidFill>
                  <a:srgbClr val="0F172A"/>
                </a:solidFill>
                <a:latin typeface="Arial"/>
              </a:defRPr>
            </a:pPr>
            <a:r>
              <a:t>MODULE 2: PHÁT HIỆN EOA MISUSE</a:t>
            </a:r>
          </a:p>
        </p:txBody>
      </p:sp>
      <p:sp>
        <p:nvSpPr>
          <p:cNvPr id="111" name="TextBox 110"/>
          <p:cNvSpPr txBox="1"/>
          <p:nvPr/>
        </p:nvSpPr>
        <p:spPr>
          <a:xfrm>
            <a:off x="6492240" y="3337560"/>
            <a:ext cx="4663440" cy="2834640"/>
          </a:xfrm>
          <a:prstGeom prst="rect">
            <a:avLst/>
          </a:prstGeom>
          <a:noFill/>
        </p:spPr>
        <p:txBody>
          <a:bodyPr wrap="square">
            <a:spAutoFit/>
          </a:bodyPr>
          <a:lstStyle/>
          <a:p>
            <a:pPr>
              <a:spcAft>
                <a:spcPts val="1200"/>
              </a:spcAft>
            </a:pPr>
            <a:r>
              <a:rPr sz="1800" dirty="0">
                <a:latin typeface="Arial"/>
              </a:rPr>
              <a:t>• </a:t>
            </a:r>
            <a:r>
              <a:rPr sz="1800" b="1" dirty="0" err="1">
                <a:latin typeface="Arial"/>
              </a:rPr>
              <a:t>Loại</a:t>
            </a:r>
            <a:r>
              <a:rPr sz="1800" b="1" dirty="0">
                <a:latin typeface="Arial"/>
              </a:rPr>
              <a:t> KEY</a:t>
            </a:r>
            <a:r>
              <a:rPr sz="1800" dirty="0">
                <a:latin typeface="Arial"/>
              </a:rPr>
              <a:t>: </a:t>
            </a:r>
            <a:r>
              <a:rPr sz="1800" dirty="0" err="1">
                <a:latin typeface="Arial"/>
              </a:rPr>
              <a:t>Đối</a:t>
            </a:r>
            <a:r>
              <a:rPr sz="1800" dirty="0">
                <a:latin typeface="Arial"/>
              </a:rPr>
              <a:t> </a:t>
            </a:r>
            <a:r>
              <a:rPr sz="1800" dirty="0" err="1">
                <a:latin typeface="Arial"/>
              </a:rPr>
              <a:t>soát</a:t>
            </a:r>
            <a:r>
              <a:rPr sz="1800" dirty="0">
                <a:latin typeface="Arial"/>
              </a:rPr>
              <a:t> </a:t>
            </a:r>
            <a:r>
              <a:rPr sz="1800" dirty="0" err="1">
                <a:latin typeface="Arial"/>
              </a:rPr>
              <a:t>với</a:t>
            </a:r>
            <a:r>
              <a:rPr sz="1800" dirty="0">
                <a:latin typeface="Arial"/>
              </a:rPr>
              <a:t> private key </a:t>
            </a:r>
            <a:r>
              <a:rPr sz="1800" dirty="0" err="1">
                <a:latin typeface="Arial"/>
              </a:rPr>
              <a:t>bị</a:t>
            </a:r>
            <a:r>
              <a:rPr sz="1800" dirty="0">
                <a:latin typeface="Arial"/>
              </a:rPr>
              <a:t> </a:t>
            </a:r>
            <a:r>
              <a:rPr sz="1800" dirty="0" err="1">
                <a:latin typeface="Arial"/>
              </a:rPr>
              <a:t>rò</a:t>
            </a:r>
            <a:r>
              <a:rPr sz="1800" dirty="0">
                <a:latin typeface="Arial"/>
              </a:rPr>
              <a:t> </a:t>
            </a:r>
            <a:r>
              <a:rPr sz="1800" dirty="0" err="1">
                <a:latin typeface="Arial"/>
              </a:rPr>
              <a:t>rỉ</a:t>
            </a:r>
            <a:r>
              <a:rPr sz="1800" dirty="0">
                <a:latin typeface="Arial"/>
              </a:rPr>
              <a:t> </a:t>
            </a:r>
            <a:r>
              <a:rPr sz="1800" dirty="0" err="1">
                <a:latin typeface="Arial"/>
              </a:rPr>
              <a:t>và</a:t>
            </a:r>
            <a:r>
              <a:rPr sz="1800" dirty="0">
                <a:latin typeface="Arial"/>
              </a:rPr>
              <a:t> derive address.</a:t>
            </a:r>
          </a:p>
          <a:p>
            <a:pPr>
              <a:spcAft>
                <a:spcPts val="1200"/>
              </a:spcAft>
            </a:pPr>
            <a:r>
              <a:rPr sz="1800" dirty="0">
                <a:latin typeface="Arial"/>
              </a:rPr>
              <a:t>• </a:t>
            </a:r>
            <a:r>
              <a:rPr sz="1800" b="1" dirty="0" err="1">
                <a:latin typeface="Arial"/>
              </a:rPr>
              <a:t>Loại</a:t>
            </a:r>
            <a:r>
              <a:rPr sz="1800" b="1" dirty="0">
                <a:latin typeface="Arial"/>
              </a:rPr>
              <a:t> ADDR</a:t>
            </a:r>
            <a:r>
              <a:rPr sz="1800" dirty="0">
                <a:latin typeface="Arial"/>
              </a:rPr>
              <a:t>: </a:t>
            </a:r>
            <a:r>
              <a:rPr sz="1800" dirty="0" err="1">
                <a:latin typeface="Arial"/>
              </a:rPr>
              <a:t>Nhận</a:t>
            </a:r>
            <a:r>
              <a:rPr sz="1800" dirty="0">
                <a:latin typeface="Arial"/>
              </a:rPr>
              <a:t> </a:t>
            </a:r>
            <a:r>
              <a:rPr sz="1800" dirty="0" err="1">
                <a:latin typeface="Arial"/>
              </a:rPr>
              <a:t>diện</a:t>
            </a:r>
            <a:r>
              <a:rPr sz="1800" dirty="0">
                <a:latin typeface="Arial"/>
              </a:rPr>
              <a:t> pattern sweep; </a:t>
            </a:r>
            <a:r>
              <a:rPr sz="1800" dirty="0" err="1">
                <a:latin typeface="Arial"/>
              </a:rPr>
              <a:t>riêng</a:t>
            </a:r>
            <a:r>
              <a:rPr sz="1800" dirty="0">
                <a:latin typeface="Arial"/>
              </a:rPr>
              <a:t> EIP-7702 </a:t>
            </a:r>
            <a:r>
              <a:rPr sz="1800" dirty="0" err="1">
                <a:latin typeface="Arial"/>
              </a:rPr>
              <a:t>kiểm</a:t>
            </a:r>
            <a:r>
              <a:rPr sz="1800" dirty="0">
                <a:latin typeface="Arial"/>
              </a:rPr>
              <a:t> </a:t>
            </a:r>
            <a:r>
              <a:rPr sz="1800" dirty="0" err="1">
                <a:latin typeface="Arial"/>
              </a:rPr>
              <a:t>tra</a:t>
            </a:r>
            <a:r>
              <a:rPr sz="1800" dirty="0">
                <a:latin typeface="Arial"/>
              </a:rPr>
              <a:t> </a:t>
            </a:r>
            <a:r>
              <a:rPr sz="1800" dirty="0" err="1">
                <a:latin typeface="Arial"/>
              </a:rPr>
              <a:t>tiền</a:t>
            </a:r>
            <a:r>
              <a:rPr sz="1800" dirty="0">
                <a:latin typeface="Arial"/>
              </a:rPr>
              <a:t> </a:t>
            </a:r>
            <a:r>
              <a:rPr sz="1800" dirty="0" err="1">
                <a:latin typeface="Arial"/>
              </a:rPr>
              <a:t>tố</a:t>
            </a:r>
            <a:r>
              <a:rPr sz="1800" dirty="0">
                <a:latin typeface="Arial"/>
              </a:rPr>
              <a:t> 0xef0100.</a:t>
            </a:r>
          </a:p>
          <a:p>
            <a:pPr>
              <a:spcAft>
                <a:spcPts val="1200"/>
              </a:spcAft>
            </a:pPr>
            <a:r>
              <a:rPr sz="1800" dirty="0">
                <a:latin typeface="Arial"/>
              </a:rPr>
              <a:t>• </a:t>
            </a:r>
            <a:r>
              <a:rPr sz="1800" b="1" dirty="0" err="1">
                <a:latin typeface="Arial"/>
              </a:rPr>
              <a:t>Mô</a:t>
            </a:r>
            <a:r>
              <a:rPr sz="1800" b="1" dirty="0">
                <a:latin typeface="Arial"/>
              </a:rPr>
              <a:t> </a:t>
            </a:r>
            <a:r>
              <a:rPr sz="1800" b="1" dirty="0" err="1">
                <a:latin typeface="Arial"/>
              </a:rPr>
              <a:t>hình</a:t>
            </a:r>
            <a:r>
              <a:rPr sz="1800" b="1" dirty="0">
                <a:latin typeface="Arial"/>
              </a:rPr>
              <a:t> Sweeper</a:t>
            </a:r>
            <a:r>
              <a:rPr sz="1800" dirty="0">
                <a:latin typeface="Arial"/>
              </a:rPr>
              <a:t>: </a:t>
            </a:r>
            <a:r>
              <a:rPr sz="1800" dirty="0" err="1">
                <a:latin typeface="Arial"/>
              </a:rPr>
              <a:t>Nhận</a:t>
            </a:r>
            <a:r>
              <a:rPr sz="1800" dirty="0">
                <a:latin typeface="Arial"/>
              </a:rPr>
              <a:t> </a:t>
            </a:r>
            <a:r>
              <a:rPr sz="1800" dirty="0" err="1">
                <a:latin typeface="Arial"/>
              </a:rPr>
              <a:t>diện</a:t>
            </a:r>
            <a:r>
              <a:rPr sz="1800" dirty="0">
                <a:latin typeface="Arial"/>
              </a:rPr>
              <a:t> </a:t>
            </a:r>
            <a:r>
              <a:rPr sz="1800" dirty="0" err="1">
                <a:latin typeface="Arial"/>
              </a:rPr>
              <a:t>cặp</a:t>
            </a:r>
            <a:r>
              <a:rPr sz="1800" dirty="0">
                <a:latin typeface="Arial"/>
              </a:rPr>
              <a:t> </a:t>
            </a:r>
            <a:r>
              <a:rPr sz="1800" dirty="0" err="1">
                <a:latin typeface="Arial"/>
              </a:rPr>
              <a:t>nạp</a:t>
            </a:r>
            <a:r>
              <a:rPr sz="1800" dirty="0">
                <a:latin typeface="Arial"/>
              </a:rPr>
              <a:t>/</a:t>
            </a:r>
            <a:r>
              <a:rPr sz="1800" dirty="0" err="1">
                <a:latin typeface="Arial"/>
              </a:rPr>
              <a:t>rút</a:t>
            </a:r>
            <a:r>
              <a:rPr sz="1800" dirty="0">
                <a:latin typeface="Arial"/>
              </a:rPr>
              <a:t> </a:t>
            </a:r>
            <a:r>
              <a:rPr sz="1800" dirty="0" err="1">
                <a:latin typeface="Arial"/>
              </a:rPr>
              <a:t>chớp</a:t>
            </a:r>
            <a:r>
              <a:rPr sz="1800" dirty="0">
                <a:latin typeface="Arial"/>
              </a:rPr>
              <a:t> </a:t>
            </a:r>
            <a:r>
              <a:rPr sz="1800" dirty="0" err="1">
                <a:latin typeface="Arial"/>
              </a:rPr>
              <a:t>nhoáng</a:t>
            </a:r>
            <a:r>
              <a:rPr sz="1800" dirty="0">
                <a:latin typeface="Arial"/>
              </a:rPr>
              <a:t>.</a:t>
            </a:r>
          </a:p>
          <a:p>
            <a:pPr>
              <a:spcAft>
                <a:spcPts val="1200"/>
              </a:spcAft>
            </a:pPr>
            <a:r>
              <a:rPr sz="1800" dirty="0">
                <a:latin typeface="Arial"/>
              </a:rPr>
              <a:t>• </a:t>
            </a:r>
            <a:r>
              <a:rPr sz="1800" b="1" dirty="0" err="1">
                <a:latin typeface="Arial"/>
              </a:rPr>
              <a:t>Kết</a:t>
            </a:r>
            <a:r>
              <a:rPr sz="1800" b="1" dirty="0">
                <a:latin typeface="Arial"/>
              </a:rPr>
              <a:t> </a:t>
            </a:r>
            <a:r>
              <a:rPr sz="1800" b="1" dirty="0" err="1">
                <a:latin typeface="Arial"/>
              </a:rPr>
              <a:t>quả</a:t>
            </a:r>
            <a:r>
              <a:rPr sz="1800" dirty="0">
                <a:latin typeface="Arial"/>
              </a:rPr>
              <a:t>: </a:t>
            </a:r>
            <a:r>
              <a:rPr sz="1800" dirty="0" err="1">
                <a:latin typeface="Arial"/>
              </a:rPr>
              <a:t>Đánh</a:t>
            </a:r>
            <a:r>
              <a:rPr sz="1800" dirty="0">
                <a:latin typeface="Arial"/>
              </a:rPr>
              <a:t> </a:t>
            </a:r>
            <a:r>
              <a:rPr sz="1800" dirty="0" err="1">
                <a:latin typeface="Arial"/>
              </a:rPr>
              <a:t>dấu</a:t>
            </a:r>
            <a:r>
              <a:rPr sz="1800" dirty="0">
                <a:latin typeface="Arial"/>
              </a:rPr>
              <a:t> address misuse </a:t>
            </a:r>
            <a:r>
              <a:rPr sz="1800" dirty="0" err="1">
                <a:latin typeface="Arial"/>
              </a:rPr>
              <a:t>sau</a:t>
            </a:r>
            <a:r>
              <a:rPr sz="1800" dirty="0">
                <a:latin typeface="Arial"/>
              </a:rPr>
              <a:t> </a:t>
            </a:r>
            <a:r>
              <a:rPr sz="1800" dirty="0" err="1">
                <a:latin typeface="Arial"/>
              </a:rPr>
              <a:t>khi</a:t>
            </a:r>
            <a:r>
              <a:rPr sz="1800" dirty="0">
                <a:latin typeface="Arial"/>
              </a:rPr>
              <a:t> </a:t>
            </a:r>
            <a:r>
              <a:rPr sz="1800" dirty="0" err="1">
                <a:latin typeface="Arial"/>
              </a:rPr>
              <a:t>phân</a:t>
            </a:r>
            <a:r>
              <a:rPr sz="1800" dirty="0">
                <a:latin typeface="Arial"/>
              </a:rPr>
              <a:t> </a:t>
            </a:r>
            <a:r>
              <a:rPr sz="1800" dirty="0" err="1">
                <a:latin typeface="Arial"/>
              </a:rPr>
              <a:t>tích</a:t>
            </a:r>
            <a:r>
              <a:rPr sz="1800" dirty="0">
                <a:latin typeface="Arial"/>
              </a:rPr>
              <a:t> on-chain.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dirty="0">
                <a:solidFill>
                  <a:srgbClr val="4F46E5"/>
                </a:solidFill>
                <a:latin typeface="Arial"/>
              </a:rPr>
              <a:t>[#]  RESEARCH GAPS &amp; LIMITATIONS</a:t>
            </a:r>
          </a:p>
        </p:txBody>
      </p:sp>
      <p:sp>
        <p:nvSpPr>
          <p:cNvPr id="4" name="TextBox 3"/>
          <p:cNvSpPr txBox="1"/>
          <p:nvPr/>
        </p:nvSpPr>
        <p:spPr>
          <a:xfrm>
            <a:off x="731520" y="713232"/>
            <a:ext cx="10789920" cy="461665"/>
          </a:xfrm>
          <a:prstGeom prst="rect">
            <a:avLst/>
          </a:prstGeom>
          <a:noFill/>
        </p:spPr>
        <p:txBody>
          <a:bodyPr wrap="square" lIns="0" tIns="0" rIns="0" bIns="0">
            <a:spAutoFit/>
          </a:bodyPr>
          <a:lstStyle/>
          <a:p>
            <a:r>
              <a:rPr sz="3000" b="1" dirty="0">
                <a:solidFill>
                  <a:srgbClr val="0F172A"/>
                </a:solidFill>
                <a:latin typeface="Arial"/>
              </a:rPr>
              <a:t>05. Research gaps</a:t>
            </a:r>
          </a:p>
        </p:txBody>
      </p:sp>
      <p:sp>
        <p:nvSpPr>
          <p:cNvPr id="103" name="WavyLine_103"/>
          <p:cNvSpPr/>
          <p:nvPr/>
        </p:nvSpPr>
        <p:spPr>
          <a:xfrm>
            <a:off x="731520" y="1536192"/>
            <a:ext cx="5678424" cy="152400"/>
          </a:xfrm>
          <a:custGeom>
            <a:avLst/>
            <a:gdLst/>
            <a:ahLst/>
            <a:cxnLst/>
            <a:rect l="0" t="0" r="5678424" b="152400"/>
            <a:pathLst>
              <a:path w="5678424"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path>
            </a:pathLst>
          </a:custGeom>
          <a:ln w="42000">
            <a:solidFill>
              <a:srgbClr val="4F46E5"/>
            </a:solidFill>
            <a:round/>
          </a:ln>
        </p:spPr>
        <p:txBody>
          <a:bodyPr/>
          <a:lstStyle/>
          <a:p>
            <a:endParaRPr lang="en-US"/>
          </a:p>
        </p:txBody>
      </p:sp>
      <p:sp>
        <p:nvSpPr>
          <p:cNvPr id="104" name="Rounded Rectangle 103"/>
          <p:cNvSpPr/>
          <p:nvPr/>
        </p:nvSpPr>
        <p:spPr>
          <a:xfrm>
            <a:off x="731520" y="1920239"/>
            <a:ext cx="5176520" cy="4297681"/>
          </a:xfrm>
          <a:prstGeom prst="roundRect">
            <a:avLst/>
          </a:prstGeom>
          <a:solidFill>
            <a:srgbClr val="EEF2FF"/>
          </a:solidFill>
          <a:ln w="2286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914400" y="2148840"/>
            <a:ext cx="4663440" cy="411480"/>
          </a:xfrm>
          <a:prstGeom prst="roundRect">
            <a:avLst/>
          </a:prstGeom>
          <a:solidFill>
            <a:srgbClr val="FFFF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4F46E5"/>
                </a:solidFill>
                <a:latin typeface="Arial"/>
              </a:rPr>
              <a:t>PHẠM VI &amp; DỮ LIỆU</a:t>
            </a:r>
          </a:p>
        </p:txBody>
      </p:sp>
      <p:sp>
        <p:nvSpPr>
          <p:cNvPr id="106" name="TextBox 105"/>
          <p:cNvSpPr txBox="1"/>
          <p:nvPr/>
        </p:nvSpPr>
        <p:spPr>
          <a:xfrm>
            <a:off x="914400" y="2697480"/>
            <a:ext cx="5358198" cy="400110"/>
          </a:xfrm>
          <a:prstGeom prst="rect">
            <a:avLst/>
          </a:prstGeom>
          <a:noFill/>
        </p:spPr>
        <p:txBody>
          <a:bodyPr wrap="square">
            <a:spAutoFit/>
          </a:bodyPr>
          <a:lstStyle/>
          <a:p>
            <a:r>
              <a:rPr sz="2000" b="1" dirty="0">
                <a:solidFill>
                  <a:srgbClr val="0F172A"/>
                </a:solidFill>
                <a:latin typeface="Arial"/>
              </a:rPr>
              <a:t>1. DATA / ECOSYSTEM COVERAGE</a:t>
            </a:r>
          </a:p>
        </p:txBody>
      </p:sp>
      <p:sp>
        <p:nvSpPr>
          <p:cNvPr id="107" name="TextBox 106"/>
          <p:cNvSpPr txBox="1"/>
          <p:nvPr/>
        </p:nvSpPr>
        <p:spPr>
          <a:xfrm>
            <a:off x="858520" y="3291840"/>
            <a:ext cx="4953000" cy="2246769"/>
          </a:xfrm>
          <a:prstGeom prst="rect">
            <a:avLst/>
          </a:prstGeom>
          <a:noFill/>
        </p:spPr>
        <p:txBody>
          <a:bodyPr wrap="square">
            <a:spAutoFit/>
          </a:bodyPr>
          <a:lstStyle/>
          <a:p>
            <a:r>
              <a:rPr sz="2000" b="0" dirty="0">
                <a:solidFill>
                  <a:srgbClr val="1E293B"/>
                </a:solidFill>
                <a:latin typeface="Arial"/>
              </a:rPr>
              <a:t>• </a:t>
            </a:r>
            <a:r>
              <a:rPr sz="2000" b="0" dirty="0" err="1">
                <a:solidFill>
                  <a:srgbClr val="1E293B"/>
                </a:solidFill>
                <a:latin typeface="Arial"/>
              </a:rPr>
              <a:t>Nguồn</a:t>
            </a:r>
            <a:r>
              <a:rPr sz="2000" b="0" dirty="0">
                <a:solidFill>
                  <a:srgbClr val="1E293B"/>
                </a:solidFill>
                <a:latin typeface="Arial"/>
              </a:rPr>
              <a:t> GitHub/Stack Exchange </a:t>
            </a:r>
            <a:r>
              <a:rPr sz="2000" b="0" dirty="0" err="1">
                <a:solidFill>
                  <a:srgbClr val="1E293B"/>
                </a:solidFill>
                <a:latin typeface="Arial"/>
              </a:rPr>
              <a:t>có</a:t>
            </a:r>
            <a:r>
              <a:rPr sz="2000" b="0" dirty="0">
                <a:solidFill>
                  <a:srgbClr val="1E293B"/>
                </a:solidFill>
                <a:latin typeface="Arial"/>
              </a:rPr>
              <a:t> </a:t>
            </a:r>
            <a:r>
              <a:rPr sz="2000" b="0" dirty="0" err="1">
                <a:solidFill>
                  <a:srgbClr val="1E293B"/>
                </a:solidFill>
                <a:latin typeface="Arial"/>
              </a:rPr>
              <a:t>thể</a:t>
            </a:r>
            <a:r>
              <a:rPr sz="2000" b="0" dirty="0">
                <a:solidFill>
                  <a:srgbClr val="1E293B"/>
                </a:solidFill>
                <a:latin typeface="Arial"/>
              </a:rPr>
              <a:t> </a:t>
            </a:r>
            <a:r>
              <a:rPr sz="2000" b="0" dirty="0" err="1">
                <a:solidFill>
                  <a:srgbClr val="1E293B"/>
                </a:solidFill>
                <a:latin typeface="Arial"/>
              </a:rPr>
              <a:t>bỏ</a:t>
            </a:r>
            <a:r>
              <a:rPr sz="2000" b="0" dirty="0">
                <a:solidFill>
                  <a:srgbClr val="1E293B"/>
                </a:solidFill>
                <a:latin typeface="Arial"/>
              </a:rPr>
              <a:t> </a:t>
            </a:r>
            <a:r>
              <a:rPr sz="2000" b="0" dirty="0" err="1">
                <a:solidFill>
                  <a:srgbClr val="1E293B"/>
                </a:solidFill>
                <a:latin typeface="Arial"/>
              </a:rPr>
              <a:t>sót</a:t>
            </a:r>
            <a:r>
              <a:rPr sz="2000" b="0" dirty="0">
                <a:solidFill>
                  <a:srgbClr val="1E293B"/>
                </a:solidFill>
                <a:latin typeface="Arial"/>
              </a:rPr>
              <a:t> repositories → </a:t>
            </a:r>
            <a:r>
              <a:rPr sz="2000" b="0" dirty="0" err="1">
                <a:solidFill>
                  <a:srgbClr val="1E293B"/>
                </a:solidFill>
                <a:latin typeface="Arial"/>
              </a:rPr>
              <a:t>kết</a:t>
            </a:r>
            <a:r>
              <a:rPr sz="2000" b="0" dirty="0">
                <a:solidFill>
                  <a:srgbClr val="1E293B"/>
                </a:solidFill>
                <a:latin typeface="Arial"/>
              </a:rPr>
              <a:t> </a:t>
            </a:r>
            <a:r>
              <a:rPr sz="2000" b="0" dirty="0" err="1">
                <a:solidFill>
                  <a:srgbClr val="1E293B"/>
                </a:solidFill>
                <a:latin typeface="Arial"/>
              </a:rPr>
              <a:t>quả</a:t>
            </a:r>
            <a:r>
              <a:rPr sz="2000" b="0" dirty="0">
                <a:solidFill>
                  <a:srgbClr val="1E293B"/>
                </a:solidFill>
                <a:latin typeface="Arial"/>
              </a:rPr>
              <a:t> </a:t>
            </a:r>
            <a:r>
              <a:rPr sz="2000" b="0" dirty="0" err="1">
                <a:solidFill>
                  <a:srgbClr val="1E293B"/>
                </a:solidFill>
                <a:latin typeface="Arial"/>
              </a:rPr>
              <a:t>là</a:t>
            </a:r>
            <a:r>
              <a:rPr sz="2000" b="0" dirty="0">
                <a:solidFill>
                  <a:srgbClr val="1E293B"/>
                </a:solidFill>
                <a:latin typeface="Arial"/>
              </a:rPr>
              <a:t> </a:t>
            </a:r>
            <a:r>
              <a:rPr sz="2000" b="0" dirty="0" err="1">
                <a:solidFill>
                  <a:srgbClr val="1E293B"/>
                </a:solidFill>
                <a:latin typeface="Arial"/>
              </a:rPr>
              <a:t>một</a:t>
            </a:r>
            <a:r>
              <a:rPr sz="2000" b="0" dirty="0">
                <a:solidFill>
                  <a:srgbClr val="1E293B"/>
                </a:solidFill>
                <a:latin typeface="Arial"/>
              </a:rPr>
              <a:t> lower bound.</a:t>
            </a:r>
            <a:endParaRPr lang="en-US" sz="2000" b="0" dirty="0">
              <a:solidFill>
                <a:srgbClr val="1E293B"/>
              </a:solidFill>
              <a:latin typeface="Arial"/>
            </a:endParaRPr>
          </a:p>
          <a:p>
            <a:endParaRPr sz="2000" b="0" dirty="0">
              <a:solidFill>
                <a:srgbClr val="1E293B"/>
              </a:solidFill>
              <a:latin typeface="Arial"/>
            </a:endParaRPr>
          </a:p>
          <a:p>
            <a:r>
              <a:rPr sz="2000" b="0" dirty="0">
                <a:solidFill>
                  <a:srgbClr val="1E293B"/>
                </a:solidFill>
                <a:latin typeface="Arial"/>
              </a:rPr>
              <a:t>• </a:t>
            </a:r>
            <a:r>
              <a:rPr sz="2000" b="0" dirty="0" err="1">
                <a:solidFill>
                  <a:srgbClr val="1E293B"/>
                </a:solidFill>
                <a:latin typeface="Arial"/>
              </a:rPr>
              <a:t>Chỉ</a:t>
            </a:r>
            <a:r>
              <a:rPr sz="2000" b="0" dirty="0">
                <a:solidFill>
                  <a:srgbClr val="1E293B"/>
                </a:solidFill>
                <a:latin typeface="Arial"/>
              </a:rPr>
              <a:t> </a:t>
            </a:r>
            <a:r>
              <a:rPr sz="2000" b="0" dirty="0" err="1">
                <a:solidFill>
                  <a:srgbClr val="1E293B"/>
                </a:solidFill>
                <a:latin typeface="Arial"/>
              </a:rPr>
              <a:t>đo</a:t>
            </a:r>
            <a:r>
              <a:rPr sz="2000" b="0" dirty="0">
                <a:solidFill>
                  <a:srgbClr val="1E293B"/>
                </a:solidFill>
                <a:latin typeface="Arial"/>
              </a:rPr>
              <a:t> native ETH/BNB </a:t>
            </a:r>
            <a:r>
              <a:rPr sz="2000" b="0" dirty="0" err="1">
                <a:solidFill>
                  <a:srgbClr val="1E293B"/>
                </a:solidFill>
                <a:latin typeface="Arial"/>
              </a:rPr>
              <a:t>trên</a:t>
            </a:r>
            <a:r>
              <a:rPr sz="2000" b="0" dirty="0">
                <a:solidFill>
                  <a:srgbClr val="1E293B"/>
                </a:solidFill>
                <a:latin typeface="Arial"/>
              </a:rPr>
              <a:t> Ethereum &amp; BSC; token </a:t>
            </a:r>
            <a:r>
              <a:rPr sz="2000" b="0" dirty="0" err="1">
                <a:solidFill>
                  <a:srgbClr val="1E293B"/>
                </a:solidFill>
                <a:latin typeface="Arial"/>
              </a:rPr>
              <a:t>và</a:t>
            </a:r>
            <a:r>
              <a:rPr sz="2000" b="0" dirty="0">
                <a:solidFill>
                  <a:srgbClr val="1E293B"/>
                </a:solidFill>
                <a:latin typeface="Arial"/>
              </a:rPr>
              <a:t> chain </a:t>
            </a:r>
            <a:r>
              <a:rPr sz="2000" b="0" dirty="0" err="1">
                <a:solidFill>
                  <a:srgbClr val="1E293B"/>
                </a:solidFill>
                <a:latin typeface="Arial"/>
              </a:rPr>
              <a:t>khác</a:t>
            </a:r>
            <a:r>
              <a:rPr sz="2000" b="0" dirty="0">
                <a:solidFill>
                  <a:srgbClr val="1E293B"/>
                </a:solidFill>
                <a:latin typeface="Arial"/>
              </a:rPr>
              <a:t> </a:t>
            </a:r>
            <a:r>
              <a:rPr sz="2000" b="0" dirty="0" err="1">
                <a:solidFill>
                  <a:srgbClr val="1E293B"/>
                </a:solidFill>
                <a:latin typeface="Arial"/>
              </a:rPr>
              <a:t>chưa</a:t>
            </a:r>
            <a:r>
              <a:rPr sz="2000" b="0" dirty="0">
                <a:solidFill>
                  <a:srgbClr val="1E293B"/>
                </a:solidFill>
                <a:latin typeface="Arial"/>
              </a:rPr>
              <a:t> </a:t>
            </a:r>
            <a:r>
              <a:rPr sz="2000" b="0" dirty="0" err="1">
                <a:solidFill>
                  <a:srgbClr val="1E293B"/>
                </a:solidFill>
                <a:latin typeface="Arial"/>
              </a:rPr>
              <a:t>được</a:t>
            </a:r>
            <a:r>
              <a:rPr sz="2000" b="0" dirty="0">
                <a:solidFill>
                  <a:srgbClr val="1E293B"/>
                </a:solidFill>
                <a:latin typeface="Arial"/>
              </a:rPr>
              <a:t> bao </a:t>
            </a:r>
            <a:r>
              <a:rPr sz="2000" b="0" dirty="0" err="1">
                <a:solidFill>
                  <a:srgbClr val="1E293B"/>
                </a:solidFill>
                <a:latin typeface="Arial"/>
              </a:rPr>
              <a:t>phủ</a:t>
            </a:r>
            <a:r>
              <a:rPr sz="2000" b="0" dirty="0">
                <a:solidFill>
                  <a:srgbClr val="1E293B"/>
                </a:solidFill>
                <a:latin typeface="Arial"/>
              </a:rPr>
              <a:t> </a:t>
            </a:r>
            <a:r>
              <a:rPr sz="2000" b="0" dirty="0" err="1">
                <a:solidFill>
                  <a:srgbClr val="1E293B"/>
                </a:solidFill>
                <a:latin typeface="Arial"/>
              </a:rPr>
              <a:t>đầy</a:t>
            </a:r>
            <a:r>
              <a:rPr sz="2000" b="0" dirty="0">
                <a:solidFill>
                  <a:srgbClr val="1E293B"/>
                </a:solidFill>
                <a:latin typeface="Arial"/>
              </a:rPr>
              <a:t> </a:t>
            </a:r>
            <a:r>
              <a:rPr sz="2000" b="0" dirty="0" err="1">
                <a:solidFill>
                  <a:srgbClr val="1E293B"/>
                </a:solidFill>
                <a:latin typeface="Arial"/>
              </a:rPr>
              <a:t>đủ</a:t>
            </a:r>
            <a:r>
              <a:rPr sz="2000" b="0" dirty="0">
                <a:solidFill>
                  <a:srgbClr val="1E293B"/>
                </a:solidFill>
                <a:latin typeface="Arial"/>
              </a:rPr>
              <a:t>.</a:t>
            </a:r>
          </a:p>
        </p:txBody>
      </p:sp>
      <p:sp>
        <p:nvSpPr>
          <p:cNvPr id="108" name="Rounded Rectangle 107"/>
          <p:cNvSpPr/>
          <p:nvPr/>
        </p:nvSpPr>
        <p:spPr>
          <a:xfrm>
            <a:off x="6299200" y="1920240"/>
            <a:ext cx="5176520" cy="4297680"/>
          </a:xfrm>
          <a:prstGeom prst="roundRect">
            <a:avLst/>
          </a:prstGeom>
          <a:solidFill>
            <a:srgbClr val="FEF3C7"/>
          </a:solidFill>
          <a:ln w="2286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p:cNvSpPr/>
          <p:nvPr/>
        </p:nvSpPr>
        <p:spPr>
          <a:xfrm>
            <a:off x="6492240" y="2148840"/>
            <a:ext cx="4663440" cy="411480"/>
          </a:xfrm>
          <a:prstGeom prst="roundRect">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D97706"/>
                </a:solidFill>
                <a:latin typeface="Arial"/>
              </a:rPr>
              <a:t>ĐỘ BAO PHỦ &amp; PHÒNG VỆ</a:t>
            </a:r>
          </a:p>
        </p:txBody>
      </p:sp>
      <p:sp>
        <p:nvSpPr>
          <p:cNvPr id="110" name="TextBox 109"/>
          <p:cNvSpPr txBox="1"/>
          <p:nvPr/>
        </p:nvSpPr>
        <p:spPr>
          <a:xfrm>
            <a:off x="6492240" y="2653992"/>
            <a:ext cx="4006225" cy="400110"/>
          </a:xfrm>
          <a:prstGeom prst="rect">
            <a:avLst/>
          </a:prstGeom>
          <a:noFill/>
        </p:spPr>
        <p:txBody>
          <a:bodyPr wrap="none">
            <a:spAutoFit/>
          </a:bodyPr>
          <a:lstStyle/>
          <a:p>
            <a:r>
              <a:rPr sz="2000" b="1">
                <a:solidFill>
                  <a:srgbClr val="0F172A"/>
                </a:solidFill>
                <a:latin typeface="Arial"/>
              </a:rPr>
              <a:t>2. DETECTION / DEFENSE GAP</a:t>
            </a:r>
          </a:p>
        </p:txBody>
      </p:sp>
      <p:sp>
        <p:nvSpPr>
          <p:cNvPr id="111" name="TextBox 110"/>
          <p:cNvSpPr txBox="1"/>
          <p:nvPr/>
        </p:nvSpPr>
        <p:spPr>
          <a:xfrm>
            <a:off x="6492240" y="3291840"/>
            <a:ext cx="4663440" cy="2554545"/>
          </a:xfrm>
          <a:prstGeom prst="rect">
            <a:avLst/>
          </a:prstGeom>
          <a:noFill/>
        </p:spPr>
        <p:txBody>
          <a:bodyPr wrap="square">
            <a:spAutoFit/>
          </a:bodyPr>
          <a:lstStyle/>
          <a:p>
            <a:r>
              <a:rPr sz="2000" b="0" dirty="0">
                <a:solidFill>
                  <a:srgbClr val="1E293B"/>
                </a:solidFill>
                <a:latin typeface="Arial"/>
              </a:rPr>
              <a:t>• Heuristic </a:t>
            </a:r>
            <a:r>
              <a:rPr sz="2000" b="0" dirty="0" err="1">
                <a:solidFill>
                  <a:srgbClr val="1E293B"/>
                </a:solidFill>
                <a:latin typeface="Arial"/>
              </a:rPr>
              <a:t>ưu</a:t>
            </a:r>
            <a:r>
              <a:rPr sz="2000" b="0" dirty="0">
                <a:solidFill>
                  <a:srgbClr val="1E293B"/>
                </a:solidFill>
                <a:latin typeface="Arial"/>
              </a:rPr>
              <a:t> </a:t>
            </a:r>
            <a:r>
              <a:rPr sz="2000" b="0" dirty="0" err="1">
                <a:solidFill>
                  <a:srgbClr val="1E293B"/>
                </a:solidFill>
                <a:latin typeface="Arial"/>
              </a:rPr>
              <a:t>tiên</a:t>
            </a:r>
            <a:r>
              <a:rPr sz="2000" b="0" dirty="0">
                <a:solidFill>
                  <a:srgbClr val="1E293B"/>
                </a:solidFill>
                <a:latin typeface="Arial"/>
              </a:rPr>
              <a:t> pattern </a:t>
            </a:r>
            <a:r>
              <a:rPr sz="2000" b="0" dirty="0" err="1">
                <a:solidFill>
                  <a:srgbClr val="1E293B"/>
                </a:solidFill>
                <a:latin typeface="Arial"/>
              </a:rPr>
              <a:t>độ</a:t>
            </a:r>
            <a:r>
              <a:rPr sz="2000" b="0" dirty="0">
                <a:solidFill>
                  <a:srgbClr val="1E293B"/>
                </a:solidFill>
                <a:latin typeface="Arial"/>
              </a:rPr>
              <a:t> tin </a:t>
            </a:r>
            <a:r>
              <a:rPr sz="2000" b="0" dirty="0" err="1">
                <a:solidFill>
                  <a:srgbClr val="1E293B"/>
                </a:solidFill>
                <a:latin typeface="Arial"/>
              </a:rPr>
              <a:t>cậy</a:t>
            </a:r>
            <a:r>
              <a:rPr sz="2000" b="0" dirty="0">
                <a:solidFill>
                  <a:srgbClr val="1E293B"/>
                </a:solidFill>
                <a:latin typeface="Arial"/>
              </a:rPr>
              <a:t> </a:t>
            </a:r>
            <a:r>
              <a:rPr sz="2000" b="0" dirty="0" err="1">
                <a:solidFill>
                  <a:srgbClr val="1E293B"/>
                </a:solidFill>
                <a:latin typeface="Arial"/>
              </a:rPr>
              <a:t>cao</a:t>
            </a:r>
            <a:r>
              <a:rPr sz="2000" b="0" dirty="0">
                <a:solidFill>
                  <a:srgbClr val="1E293B"/>
                </a:solidFill>
                <a:latin typeface="Arial"/>
              </a:rPr>
              <a:t> → </a:t>
            </a:r>
            <a:r>
              <a:rPr sz="2000" b="0" dirty="0" err="1">
                <a:solidFill>
                  <a:srgbClr val="1E293B"/>
                </a:solidFill>
                <a:latin typeface="Arial"/>
              </a:rPr>
              <a:t>vẫn</a:t>
            </a:r>
            <a:r>
              <a:rPr sz="2000" b="0" dirty="0">
                <a:solidFill>
                  <a:srgbClr val="1E293B"/>
                </a:solidFill>
                <a:latin typeface="Arial"/>
              </a:rPr>
              <a:t> </a:t>
            </a:r>
            <a:r>
              <a:rPr sz="2000" b="0" dirty="0" err="1">
                <a:solidFill>
                  <a:srgbClr val="1E293B"/>
                </a:solidFill>
                <a:latin typeface="Arial"/>
              </a:rPr>
              <a:t>có</a:t>
            </a:r>
            <a:r>
              <a:rPr sz="2000" b="0" dirty="0">
                <a:solidFill>
                  <a:srgbClr val="1E293B"/>
                </a:solidFill>
                <a:latin typeface="Arial"/>
              </a:rPr>
              <a:t> </a:t>
            </a:r>
            <a:r>
              <a:rPr sz="2000" b="0" dirty="0" err="1">
                <a:solidFill>
                  <a:srgbClr val="1E293B"/>
                </a:solidFill>
                <a:latin typeface="Arial"/>
              </a:rPr>
              <a:t>thể</a:t>
            </a:r>
            <a:r>
              <a:rPr sz="2000" b="0" dirty="0">
                <a:solidFill>
                  <a:srgbClr val="1E293B"/>
                </a:solidFill>
                <a:latin typeface="Arial"/>
              </a:rPr>
              <a:t> </a:t>
            </a:r>
            <a:r>
              <a:rPr sz="2000" b="0" dirty="0" err="1">
                <a:solidFill>
                  <a:srgbClr val="1E293B"/>
                </a:solidFill>
                <a:latin typeface="Arial"/>
              </a:rPr>
              <a:t>bỏ</a:t>
            </a:r>
            <a:r>
              <a:rPr sz="2000" b="0" dirty="0">
                <a:solidFill>
                  <a:srgbClr val="1E293B"/>
                </a:solidFill>
                <a:latin typeface="Arial"/>
              </a:rPr>
              <a:t> </a:t>
            </a:r>
            <a:r>
              <a:rPr sz="2000" b="0" dirty="0" err="1">
                <a:solidFill>
                  <a:srgbClr val="1E293B"/>
                </a:solidFill>
                <a:latin typeface="Arial"/>
              </a:rPr>
              <a:t>sót</a:t>
            </a:r>
            <a:r>
              <a:rPr sz="2000" b="0" dirty="0">
                <a:solidFill>
                  <a:srgbClr val="1E293B"/>
                </a:solidFill>
                <a:latin typeface="Arial"/>
              </a:rPr>
              <a:t> misuse </a:t>
            </a:r>
            <a:r>
              <a:rPr sz="2000" b="0" dirty="0" err="1">
                <a:solidFill>
                  <a:srgbClr val="1E293B"/>
                </a:solidFill>
                <a:latin typeface="Arial"/>
              </a:rPr>
              <a:t>tinh</a:t>
            </a:r>
            <a:r>
              <a:rPr sz="2000" b="0" dirty="0">
                <a:solidFill>
                  <a:srgbClr val="1E293B"/>
                </a:solidFill>
                <a:latin typeface="Arial"/>
              </a:rPr>
              <a:t> vi </a:t>
            </a:r>
            <a:r>
              <a:rPr sz="2000" b="0" dirty="0" err="1">
                <a:solidFill>
                  <a:srgbClr val="1E293B"/>
                </a:solidFill>
                <a:latin typeface="Arial"/>
              </a:rPr>
              <a:t>hơn</a:t>
            </a:r>
            <a:r>
              <a:rPr sz="2000" b="0" dirty="0">
                <a:solidFill>
                  <a:srgbClr val="1E293B"/>
                </a:solidFill>
                <a:latin typeface="Arial"/>
              </a:rPr>
              <a:t>.</a:t>
            </a:r>
            <a:endParaRPr lang="en-US" sz="2000" b="0" dirty="0">
              <a:solidFill>
                <a:srgbClr val="1E293B"/>
              </a:solidFill>
              <a:latin typeface="Arial"/>
            </a:endParaRPr>
          </a:p>
          <a:p>
            <a:endParaRPr sz="2000" b="0" dirty="0">
              <a:solidFill>
                <a:srgbClr val="1E293B"/>
              </a:solidFill>
              <a:latin typeface="Arial"/>
            </a:endParaRPr>
          </a:p>
          <a:p>
            <a:r>
              <a:rPr sz="2000" b="0" dirty="0">
                <a:solidFill>
                  <a:srgbClr val="1E293B"/>
                </a:solidFill>
                <a:latin typeface="Arial"/>
              </a:rPr>
              <a:t>• Paper </a:t>
            </a:r>
            <a:r>
              <a:rPr sz="2000" b="0" dirty="0" err="1">
                <a:solidFill>
                  <a:srgbClr val="1E293B"/>
                </a:solidFill>
                <a:latin typeface="Arial"/>
              </a:rPr>
              <a:t>đề</a:t>
            </a:r>
            <a:r>
              <a:rPr sz="2000" b="0" dirty="0">
                <a:solidFill>
                  <a:srgbClr val="1E293B"/>
                </a:solidFill>
                <a:latin typeface="Arial"/>
              </a:rPr>
              <a:t> </a:t>
            </a:r>
            <a:r>
              <a:rPr sz="2000" b="0" dirty="0" err="1">
                <a:solidFill>
                  <a:srgbClr val="1E293B"/>
                </a:solidFill>
                <a:latin typeface="Arial"/>
              </a:rPr>
              <a:t>xuất</a:t>
            </a:r>
            <a:r>
              <a:rPr sz="2000" b="0" dirty="0">
                <a:solidFill>
                  <a:srgbClr val="1E293B"/>
                </a:solidFill>
                <a:latin typeface="Arial"/>
              </a:rPr>
              <a:t> wallet real-time warning; </a:t>
            </a:r>
            <a:r>
              <a:rPr sz="2000" b="0" dirty="0" err="1">
                <a:solidFill>
                  <a:srgbClr val="1E293B"/>
                </a:solidFill>
                <a:latin typeface="Arial"/>
              </a:rPr>
              <a:t>chưa</a:t>
            </a:r>
            <a:r>
              <a:rPr sz="2000" b="0" dirty="0">
                <a:solidFill>
                  <a:srgbClr val="1E293B"/>
                </a:solidFill>
                <a:latin typeface="Arial"/>
              </a:rPr>
              <a:t> </a:t>
            </a:r>
            <a:r>
              <a:rPr sz="2000" b="0" dirty="0" err="1">
                <a:solidFill>
                  <a:srgbClr val="1E293B"/>
                </a:solidFill>
                <a:latin typeface="Arial"/>
              </a:rPr>
              <a:t>đánh</a:t>
            </a:r>
            <a:r>
              <a:rPr sz="2000" b="0" dirty="0">
                <a:solidFill>
                  <a:srgbClr val="1E293B"/>
                </a:solidFill>
                <a:latin typeface="Arial"/>
              </a:rPr>
              <a:t> </a:t>
            </a:r>
            <a:r>
              <a:rPr sz="2000" b="0" dirty="0" err="1">
                <a:solidFill>
                  <a:srgbClr val="1E293B"/>
                </a:solidFill>
                <a:latin typeface="Arial"/>
              </a:rPr>
              <a:t>giá</a:t>
            </a:r>
            <a:r>
              <a:rPr sz="2000" b="0" dirty="0">
                <a:solidFill>
                  <a:srgbClr val="1E293B"/>
                </a:solidFill>
                <a:latin typeface="Arial"/>
              </a:rPr>
              <a:t> </a:t>
            </a:r>
            <a:r>
              <a:rPr sz="2000" b="0" dirty="0" err="1">
                <a:solidFill>
                  <a:srgbClr val="1E293B"/>
                </a:solidFill>
                <a:latin typeface="Arial"/>
              </a:rPr>
              <a:t>một</a:t>
            </a:r>
            <a:r>
              <a:rPr sz="2000" b="0" dirty="0">
                <a:solidFill>
                  <a:srgbClr val="1E293B"/>
                </a:solidFill>
                <a:latin typeface="Arial"/>
              </a:rPr>
              <a:t> </a:t>
            </a:r>
            <a:r>
              <a:rPr sz="2000" b="0" dirty="0" err="1">
                <a:solidFill>
                  <a:srgbClr val="1E293B"/>
                </a:solidFill>
                <a:latin typeface="Arial"/>
              </a:rPr>
              <a:t>cơ</a:t>
            </a:r>
            <a:r>
              <a:rPr sz="2000" b="0" dirty="0">
                <a:solidFill>
                  <a:srgbClr val="1E293B"/>
                </a:solidFill>
                <a:latin typeface="Arial"/>
              </a:rPr>
              <a:t> </a:t>
            </a:r>
            <a:r>
              <a:rPr sz="2000" b="0" dirty="0" err="1">
                <a:solidFill>
                  <a:srgbClr val="1E293B"/>
                </a:solidFill>
                <a:latin typeface="Arial"/>
              </a:rPr>
              <a:t>chế</a:t>
            </a:r>
            <a:r>
              <a:rPr sz="2000" b="0" dirty="0">
                <a:solidFill>
                  <a:srgbClr val="1E293B"/>
                </a:solidFill>
                <a:latin typeface="Arial"/>
              </a:rPr>
              <a:t> pre-sign warning </a:t>
            </a:r>
            <a:r>
              <a:rPr sz="2000" b="0" dirty="0" err="1">
                <a:solidFill>
                  <a:srgbClr val="1E293B"/>
                </a:solidFill>
                <a:latin typeface="Arial"/>
              </a:rPr>
              <a:t>như</a:t>
            </a:r>
            <a:r>
              <a:rPr sz="2000" b="0" dirty="0">
                <a:solidFill>
                  <a:srgbClr val="1E293B"/>
                </a:solidFill>
                <a:latin typeface="Arial"/>
              </a:rPr>
              <a:t> defense </a:t>
            </a:r>
            <a:r>
              <a:rPr sz="2000" b="0" dirty="0" err="1">
                <a:solidFill>
                  <a:srgbClr val="1E293B"/>
                </a:solidFill>
                <a:latin typeface="Arial"/>
              </a:rPr>
              <a:t>hoàn</a:t>
            </a:r>
            <a:r>
              <a:rPr sz="2000" b="0" dirty="0">
                <a:solidFill>
                  <a:srgbClr val="1E293B"/>
                </a:solidFill>
                <a:latin typeface="Arial"/>
              </a:rPr>
              <a:t> </a:t>
            </a:r>
            <a:r>
              <a:rPr sz="2000" b="0" dirty="0" err="1">
                <a:solidFill>
                  <a:srgbClr val="1E293B"/>
                </a:solidFill>
                <a:latin typeface="Arial"/>
              </a:rPr>
              <a:t>chỉnh</a:t>
            </a:r>
            <a:r>
              <a:rPr sz="2000" b="0" dirty="0">
                <a:solidFill>
                  <a:srgbClr val="1E293B"/>
                </a:solidFill>
                <a:latin typeface="Arial"/>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4F46E5"/>
                </a:solidFill>
                <a:latin typeface="Arial"/>
              </a:rPr>
              <a:t>[#]  OUR TWO PROPOSED DIRECTIONS</a:t>
            </a:r>
          </a:p>
        </p:txBody>
      </p:sp>
      <p:sp>
        <p:nvSpPr>
          <p:cNvPr id="4" name="TextBox 3"/>
          <p:cNvSpPr txBox="1"/>
          <p:nvPr/>
        </p:nvSpPr>
        <p:spPr>
          <a:xfrm>
            <a:off x="731520" y="713232"/>
            <a:ext cx="10789920" cy="461665"/>
          </a:xfrm>
          <a:prstGeom prst="rect">
            <a:avLst/>
          </a:prstGeom>
          <a:noFill/>
        </p:spPr>
        <p:txBody>
          <a:bodyPr wrap="square" lIns="0" tIns="0" rIns="0" bIns="0">
            <a:spAutoFit/>
          </a:bodyPr>
          <a:lstStyle/>
          <a:p>
            <a:r>
              <a:rPr sz="2200" b="1">
                <a:solidFill>
                  <a:srgbClr val="0F172A"/>
                </a:solidFill>
                <a:latin typeface="Arial"/>
              </a:rPr>
              <a:t>06. Hướng cải tiến tiếp theo</a:t>
            </a:r>
          </a:p>
        </p:txBody>
      </p:sp>
      <p:sp>
        <p:nvSpPr>
          <p:cNvPr id="103" name="WavyLine_103"/>
          <p:cNvSpPr/>
          <p:nvPr/>
        </p:nvSpPr>
        <p:spPr>
          <a:xfrm>
            <a:off x="731520" y="1536192"/>
            <a:ext cx="5678424" cy="152400"/>
          </a:xfrm>
          <a:custGeom>
            <a:avLst/>
            <a:gdLst/>
            <a:ahLst/>
            <a:cxnLst/>
            <a:rect l="0" t="0" r="5678424" b="152400"/>
            <a:pathLst>
              <a:path w="5678424"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path>
            </a:pathLst>
          </a:custGeom>
          <a:ln w="42000">
            <a:solidFill>
              <a:srgbClr val="4F46E5"/>
            </a:solidFill>
            <a:round/>
          </a:ln>
        </p:spPr>
        <p:txBody>
          <a:bodyPr/>
          <a:lstStyle/>
          <a:p>
            <a:endParaRPr lang="en-US"/>
          </a:p>
        </p:txBody>
      </p:sp>
      <p:sp>
        <p:nvSpPr>
          <p:cNvPr id="104" name="Rounded Rectangle 103"/>
          <p:cNvSpPr/>
          <p:nvPr/>
        </p:nvSpPr>
        <p:spPr>
          <a:xfrm>
            <a:off x="731520" y="1920239"/>
            <a:ext cx="5176520" cy="4297681"/>
          </a:xfrm>
          <a:prstGeom prst="roundRect">
            <a:avLst/>
          </a:prstGeom>
          <a:solidFill>
            <a:srgbClr val="EEF2FF"/>
          </a:solidFill>
          <a:ln w="2286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914400" y="2148840"/>
            <a:ext cx="4663440" cy="411480"/>
          </a:xfrm>
          <a:prstGeom prst="roundRect">
            <a:avLst/>
          </a:prstGeom>
          <a:solidFill>
            <a:srgbClr val="FFFFFF"/>
          </a:solidFill>
          <a:ln w="1905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4F46E5"/>
                </a:solidFill>
                <a:latin typeface="Arial"/>
              </a:rPr>
              <a:t>ĐỒNG BỘ ĐA CHUỖI</a:t>
            </a:r>
          </a:p>
        </p:txBody>
      </p:sp>
      <p:sp>
        <p:nvSpPr>
          <p:cNvPr id="106" name="TextBox 105"/>
          <p:cNvSpPr txBox="1"/>
          <p:nvPr/>
        </p:nvSpPr>
        <p:spPr>
          <a:xfrm>
            <a:off x="914400" y="2697480"/>
            <a:ext cx="3600666" cy="430887"/>
          </a:xfrm>
          <a:prstGeom prst="rect">
            <a:avLst/>
          </a:prstGeom>
          <a:noFill/>
        </p:spPr>
        <p:txBody>
          <a:bodyPr wrap="none">
            <a:spAutoFit/>
          </a:bodyPr>
          <a:lstStyle/>
          <a:p>
            <a:pPr>
              <a:defRPr sz="1900" b="1">
                <a:solidFill>
                  <a:srgbClr val="0F172A"/>
                </a:solidFill>
                <a:latin typeface="Arial"/>
              </a:defRPr>
            </a:pPr>
            <a:r>
              <a:rPr sz="2200" b="1" dirty="0">
                <a:solidFill>
                  <a:srgbClr val="0F172A"/>
                </a:solidFill>
                <a:latin typeface="Arial"/>
              </a:rPr>
              <a:t>1. CROSS-CHAIN GUARD</a:t>
            </a:r>
          </a:p>
        </p:txBody>
      </p:sp>
      <p:sp>
        <p:nvSpPr>
          <p:cNvPr id="107" name="TextBox 106"/>
          <p:cNvSpPr txBox="1"/>
          <p:nvPr/>
        </p:nvSpPr>
        <p:spPr>
          <a:xfrm>
            <a:off x="858520" y="3291840"/>
            <a:ext cx="5049520" cy="2731517"/>
          </a:xfrm>
          <a:prstGeom prst="rect">
            <a:avLst/>
          </a:prstGeom>
          <a:noFill/>
        </p:spPr>
        <p:txBody>
          <a:bodyPr wrap="square">
            <a:spAutoFit/>
          </a:bodyPr>
          <a:lstStyle/>
          <a:p>
            <a:pPr algn="just">
              <a:spcAft>
                <a:spcPts val="1100"/>
              </a:spcAft>
            </a:pPr>
            <a:r>
              <a:rPr lang="en-US" b="0" dirty="0">
                <a:solidFill>
                  <a:srgbClr val="1E293B"/>
                </a:solidFill>
                <a:latin typeface="Arial"/>
              </a:rPr>
              <a:t>• </a:t>
            </a:r>
            <a:r>
              <a:rPr lang="en-US" b="1" dirty="0">
                <a:solidFill>
                  <a:srgbClr val="1E293B"/>
                </a:solidFill>
                <a:latin typeface="Arial"/>
              </a:rPr>
              <a:t>Mục tiêu</a:t>
            </a:r>
            <a:r>
              <a:rPr lang="en-US" b="0" dirty="0">
                <a:solidFill>
                  <a:srgbClr val="1E293B"/>
                </a:solidFill>
                <a:latin typeface="Arial"/>
              </a:rPr>
              <a:t>: </a:t>
            </a:r>
            <a:r>
              <a:rPr lang="en-US" b="0" dirty="0" err="1">
                <a:solidFill>
                  <a:srgbClr val="1E293B"/>
                </a:solidFill>
                <a:latin typeface="Arial"/>
              </a:rPr>
              <a:t>Phát</a:t>
            </a:r>
            <a:r>
              <a:rPr lang="en-US" b="0" dirty="0">
                <a:solidFill>
                  <a:srgbClr val="1E293B"/>
                </a:solidFill>
                <a:latin typeface="Arial"/>
              </a:rPr>
              <a:t> </a:t>
            </a:r>
            <a:r>
              <a:rPr lang="en-US" b="0" dirty="0" err="1">
                <a:solidFill>
                  <a:srgbClr val="1E293B"/>
                </a:solidFill>
                <a:latin typeface="Arial"/>
              </a:rPr>
              <a:t>hiện</a:t>
            </a:r>
            <a:r>
              <a:rPr lang="en-US" b="0" dirty="0">
                <a:solidFill>
                  <a:srgbClr val="1E293B"/>
                </a:solidFill>
                <a:latin typeface="Arial"/>
              </a:rPr>
              <a:t> address inconsistency </a:t>
            </a:r>
            <a:r>
              <a:rPr lang="en-US" b="0" dirty="0" err="1">
                <a:solidFill>
                  <a:srgbClr val="1E293B"/>
                </a:solidFill>
                <a:latin typeface="Arial"/>
              </a:rPr>
              <a:t>giữa</a:t>
            </a:r>
            <a:r>
              <a:rPr lang="en-US" b="0" dirty="0">
                <a:solidFill>
                  <a:srgbClr val="1E293B"/>
                </a:solidFill>
                <a:latin typeface="Arial"/>
              </a:rPr>
              <a:t> </a:t>
            </a:r>
            <a:r>
              <a:rPr lang="en-US" b="0" dirty="0" err="1">
                <a:solidFill>
                  <a:srgbClr val="1E293B"/>
                </a:solidFill>
                <a:latin typeface="Arial"/>
              </a:rPr>
              <a:t>các</a:t>
            </a:r>
            <a:r>
              <a:rPr lang="en-US" b="0" dirty="0">
                <a:solidFill>
                  <a:srgbClr val="1E293B"/>
                </a:solidFill>
                <a:latin typeface="Arial"/>
              </a:rPr>
              <a:t> chain </a:t>
            </a:r>
            <a:r>
              <a:rPr lang="en-US" b="0" dirty="0" err="1">
                <a:solidFill>
                  <a:srgbClr val="1E293B"/>
                </a:solidFill>
                <a:latin typeface="Arial"/>
              </a:rPr>
              <a:t>và</a:t>
            </a:r>
            <a:r>
              <a:rPr lang="en-US" b="0" dirty="0">
                <a:solidFill>
                  <a:srgbClr val="1E293B"/>
                </a:solidFill>
                <a:latin typeface="Arial"/>
              </a:rPr>
              <a:t> </a:t>
            </a:r>
            <a:r>
              <a:rPr lang="en-US" b="0" dirty="0" err="1">
                <a:solidFill>
                  <a:srgbClr val="1E293B"/>
                </a:solidFill>
                <a:latin typeface="Arial"/>
              </a:rPr>
              <a:t>bẫy</a:t>
            </a:r>
            <a:r>
              <a:rPr lang="en-US" b="0" dirty="0">
                <a:solidFill>
                  <a:srgbClr val="1E293B"/>
                </a:solidFill>
                <a:latin typeface="Arial"/>
              </a:rPr>
              <a:t> CREATE.</a:t>
            </a:r>
            <a:endParaRPr lang="en-US" sz="1600" dirty="0">
              <a:latin typeface="Arial" panose="020B0604020202020204" pitchFamily="34" charset="0"/>
              <a:cs typeface="Arial" panose="020B0604020202020204" pitchFamily="34" charset="0"/>
            </a:endParaRPr>
          </a:p>
          <a:p>
            <a:pPr algn="just">
              <a:spcAft>
                <a:spcPts val="1100"/>
              </a:spcAft>
            </a:pPr>
            <a:r>
              <a:rPr lang="en-US" b="0" dirty="0">
                <a:solidFill>
                  <a:srgbClr val="1E293B"/>
                </a:solidFill>
                <a:latin typeface="Arial" panose="020B0604020202020204" pitchFamily="34" charset="0"/>
                <a:cs typeface="Arial" panose="020B0604020202020204" pitchFamily="34" charset="0"/>
              </a:rPr>
              <a:t>• </a:t>
            </a:r>
            <a:r>
              <a:rPr lang="en-US" b="1" dirty="0">
                <a:solidFill>
                  <a:srgbClr val="1E293B"/>
                </a:solidFill>
                <a:latin typeface="Arial" panose="020B0604020202020204" pitchFamily="34" charset="0"/>
                <a:cs typeface="Arial" panose="020B0604020202020204" pitchFamily="34" charset="0"/>
              </a:rPr>
              <a:t>CREATE</a:t>
            </a:r>
            <a:r>
              <a:rPr lang="en-US" b="0" dirty="0">
                <a:solidFill>
                  <a:srgbClr val="1E293B"/>
                </a:solidFill>
                <a:latin typeface="Arial" panose="020B0604020202020204" pitchFamily="34" charset="0"/>
                <a:cs typeface="Arial" panose="020B0604020202020204" pitchFamily="34" charset="0"/>
              </a:rPr>
              <a:t>: </a:t>
            </a:r>
            <a:r>
              <a:rPr lang="en-US" b="0" dirty="0" err="1">
                <a:solidFill>
                  <a:srgbClr val="1E293B"/>
                </a:solidFill>
                <a:latin typeface="Arial" panose="020B0604020202020204" pitchFamily="34" charset="0"/>
                <a:cs typeface="Arial" panose="020B0604020202020204" pitchFamily="34" charset="0"/>
              </a:rPr>
              <a:t>Đối</a:t>
            </a:r>
            <a:r>
              <a:rPr lang="en-US" b="0" dirty="0">
                <a:solidFill>
                  <a:srgbClr val="1E293B"/>
                </a:solidFill>
                <a:latin typeface="Arial" panose="020B0604020202020204" pitchFamily="34" charset="0"/>
                <a:cs typeface="Arial" panose="020B0604020202020204" pitchFamily="34" charset="0"/>
              </a:rPr>
              <a:t> </a:t>
            </a:r>
            <a:r>
              <a:rPr lang="en-US" b="0" dirty="0" err="1">
                <a:solidFill>
                  <a:srgbClr val="1E293B"/>
                </a:solidFill>
                <a:latin typeface="Arial" panose="020B0604020202020204" pitchFamily="34" charset="0"/>
                <a:cs typeface="Arial" panose="020B0604020202020204" pitchFamily="34" charset="0"/>
              </a:rPr>
              <a:t>chiếu</a:t>
            </a:r>
            <a:r>
              <a:rPr lang="en-US" b="0" dirty="0">
                <a:solidFill>
                  <a:srgbClr val="1E293B"/>
                </a:solidFill>
                <a:latin typeface="Arial" panose="020B0604020202020204" pitchFamily="34" charset="0"/>
                <a:cs typeface="Arial" panose="020B0604020202020204" pitchFamily="34" charset="0"/>
              </a:rPr>
              <a:t> deployer </a:t>
            </a:r>
            <a:r>
              <a:rPr lang="en-US" b="0" dirty="0" err="1">
                <a:solidFill>
                  <a:srgbClr val="1E293B"/>
                </a:solidFill>
                <a:latin typeface="Arial" panose="020B0604020202020204" pitchFamily="34" charset="0"/>
                <a:cs typeface="Arial" panose="020B0604020202020204" pitchFamily="34" charset="0"/>
              </a:rPr>
              <a:t>và</a:t>
            </a:r>
            <a:r>
              <a:rPr lang="en-US" b="0" dirty="0">
                <a:solidFill>
                  <a:srgbClr val="1E293B"/>
                </a:solidFill>
                <a:latin typeface="Arial" panose="020B0604020202020204" pitchFamily="34" charset="0"/>
                <a:cs typeface="Arial" panose="020B0604020202020204" pitchFamily="34" charset="0"/>
              </a:rPr>
              <a:t> nonce </a:t>
            </a:r>
            <a:r>
              <a:rPr lang="en-US" b="0" dirty="0" err="1">
                <a:solidFill>
                  <a:srgbClr val="1E293B"/>
                </a:solidFill>
                <a:latin typeface="Arial" panose="020B0604020202020204" pitchFamily="34" charset="0"/>
                <a:cs typeface="Arial" panose="020B0604020202020204" pitchFamily="34" charset="0"/>
              </a:rPr>
              <a:t>hiện</a:t>
            </a:r>
            <a:r>
              <a:rPr lang="en-US" b="0" dirty="0">
                <a:solidFill>
                  <a:srgbClr val="1E293B"/>
                </a:solidFill>
                <a:latin typeface="Arial" panose="020B0604020202020204" pitchFamily="34" charset="0"/>
                <a:cs typeface="Arial" panose="020B0604020202020204" pitchFamily="34" charset="0"/>
              </a:rPr>
              <a:t> </a:t>
            </a:r>
            <a:r>
              <a:rPr lang="en-US" b="0" dirty="0" err="1">
                <a:solidFill>
                  <a:srgbClr val="1E293B"/>
                </a:solidFill>
                <a:latin typeface="Arial" panose="020B0604020202020204" pitchFamily="34" charset="0"/>
                <a:cs typeface="Arial" panose="020B0604020202020204" pitchFamily="34" charset="0"/>
              </a:rPr>
              <a:t>tại</a:t>
            </a:r>
            <a:r>
              <a:rPr lang="en-US" b="0" dirty="0">
                <a:solidFill>
                  <a:srgbClr val="1E293B"/>
                </a:solidFill>
                <a:latin typeface="Arial" panose="020B0604020202020204" pitchFamily="34" charset="0"/>
                <a:cs typeface="Arial" panose="020B0604020202020204" pitchFamily="34" charset="0"/>
              </a:rPr>
              <a:t> </a:t>
            </a:r>
            <a:r>
              <a:rPr lang="en-US" b="0" dirty="0" err="1">
                <a:solidFill>
                  <a:srgbClr val="1E293B"/>
                </a:solidFill>
                <a:latin typeface="Arial" panose="020B0604020202020204" pitchFamily="34" charset="0"/>
                <a:cs typeface="Arial" panose="020B0604020202020204" pitchFamily="34" charset="0"/>
              </a:rPr>
              <a:t>với</a:t>
            </a:r>
            <a:r>
              <a:rPr lang="en-US" b="0" dirty="0">
                <a:solidFill>
                  <a:srgbClr val="1E293B"/>
                </a:solidFill>
                <a:latin typeface="Arial" panose="020B0604020202020204" pitchFamily="34" charset="0"/>
                <a:cs typeface="Arial" panose="020B0604020202020204" pitchFamily="34" charset="0"/>
              </a:rPr>
              <a:t> nonce </a:t>
            </a:r>
            <a:r>
              <a:rPr lang="en-US" b="0" dirty="0" err="1">
                <a:solidFill>
                  <a:srgbClr val="1E293B"/>
                </a:solidFill>
                <a:latin typeface="Arial" panose="020B0604020202020204" pitchFamily="34" charset="0"/>
                <a:cs typeface="Arial" panose="020B0604020202020204" pitchFamily="34" charset="0"/>
              </a:rPr>
              <a:t>cần</a:t>
            </a:r>
            <a:r>
              <a:rPr lang="en-US" b="0" dirty="0">
                <a:solidFill>
                  <a:srgbClr val="1E293B"/>
                </a:solidFill>
                <a:latin typeface="Arial" panose="020B0604020202020204" pitchFamily="34" charset="0"/>
                <a:cs typeface="Arial" panose="020B0604020202020204" pitchFamily="34" charset="0"/>
              </a:rPr>
              <a:t> </a:t>
            </a:r>
            <a:r>
              <a:rPr lang="en-US" b="0" dirty="0" err="1">
                <a:solidFill>
                  <a:srgbClr val="1E293B"/>
                </a:solidFill>
                <a:latin typeface="Arial" panose="020B0604020202020204" pitchFamily="34" charset="0"/>
                <a:cs typeface="Arial" panose="020B0604020202020204" pitchFamily="34" charset="0"/>
              </a:rPr>
              <a:t>thiết</a:t>
            </a:r>
            <a:r>
              <a:rPr lang="en-US" b="0" dirty="0">
                <a:solidFill>
                  <a:srgbClr val="1E293B"/>
                </a:solidFill>
                <a:latin typeface="Arial" panose="020B0604020202020204" pitchFamily="34" charset="0"/>
                <a:cs typeface="Arial" panose="020B0604020202020204" pitchFamily="34" charset="0"/>
              </a:rPr>
              <a:t> </a:t>
            </a:r>
            <a:r>
              <a:rPr lang="en-US" b="0" dirty="0" err="1">
                <a:solidFill>
                  <a:srgbClr val="1E293B"/>
                </a:solidFill>
                <a:latin typeface="Arial" panose="020B0604020202020204" pitchFamily="34" charset="0"/>
                <a:cs typeface="Arial" panose="020B0604020202020204" pitchFamily="34" charset="0"/>
              </a:rPr>
              <a:t>để</a:t>
            </a:r>
            <a:r>
              <a:rPr lang="en-US" b="0" dirty="0">
                <a:solidFill>
                  <a:srgbClr val="1E293B"/>
                </a:solidFill>
                <a:latin typeface="Arial" panose="020B0604020202020204" pitchFamily="34" charset="0"/>
                <a:cs typeface="Arial" panose="020B0604020202020204" pitchFamily="34" charset="0"/>
              </a:rPr>
              <a:t> </a:t>
            </a:r>
            <a:r>
              <a:rPr lang="en-US" b="0" dirty="0" err="1">
                <a:solidFill>
                  <a:srgbClr val="1E293B"/>
                </a:solidFill>
                <a:latin typeface="Arial" panose="020B0604020202020204" pitchFamily="34" charset="0"/>
                <a:cs typeface="Arial" panose="020B0604020202020204" pitchFamily="34" charset="0"/>
              </a:rPr>
              <a:t>tái</a:t>
            </a:r>
            <a:r>
              <a:rPr lang="en-US" b="0" dirty="0">
                <a:solidFill>
                  <a:srgbClr val="1E293B"/>
                </a:solidFill>
                <a:latin typeface="Arial" panose="020B0604020202020204" pitchFamily="34" charset="0"/>
                <a:cs typeface="Arial" panose="020B0604020202020204" pitchFamily="34" charset="0"/>
              </a:rPr>
              <a:t> </a:t>
            </a:r>
            <a:r>
              <a:rPr lang="en-US" b="0" dirty="0" err="1">
                <a:solidFill>
                  <a:srgbClr val="1E293B"/>
                </a:solidFill>
                <a:latin typeface="Arial" panose="020B0604020202020204" pitchFamily="34" charset="0"/>
                <a:cs typeface="Arial" panose="020B0604020202020204" pitchFamily="34" charset="0"/>
              </a:rPr>
              <a:t>tạo</a:t>
            </a:r>
            <a:r>
              <a:rPr lang="en-US" b="0" dirty="0">
                <a:solidFill>
                  <a:srgbClr val="1E293B"/>
                </a:solidFill>
                <a:latin typeface="Arial" panose="020B0604020202020204" pitchFamily="34" charset="0"/>
                <a:cs typeface="Arial" panose="020B0604020202020204" pitchFamily="34" charset="0"/>
              </a:rPr>
              <a:t> address.</a:t>
            </a:r>
            <a:endParaRPr lang="en-US" sz="1600" dirty="0">
              <a:latin typeface="Arial" panose="020B0604020202020204" pitchFamily="34" charset="0"/>
              <a:cs typeface="Arial" panose="020B0604020202020204" pitchFamily="34" charset="0"/>
            </a:endParaRPr>
          </a:p>
          <a:p>
            <a:pPr algn="just">
              <a:spcAft>
                <a:spcPts val="1100"/>
              </a:spcAft>
            </a:pPr>
            <a:r>
              <a:rPr lang="en-US" b="0" dirty="0">
                <a:solidFill>
                  <a:srgbClr val="1E293B"/>
                </a:solidFill>
                <a:latin typeface="Arial" panose="020B0604020202020204" pitchFamily="34" charset="0"/>
                <a:cs typeface="Arial" panose="020B0604020202020204" pitchFamily="34" charset="0"/>
              </a:rPr>
              <a:t>• </a:t>
            </a:r>
            <a:r>
              <a:rPr lang="en-US" b="1" dirty="0">
                <a:solidFill>
                  <a:srgbClr val="1E293B"/>
                </a:solidFill>
                <a:latin typeface="Arial" panose="020B0604020202020204" pitchFamily="34" charset="0"/>
                <a:cs typeface="Arial" panose="020B0604020202020204" pitchFamily="34" charset="0"/>
              </a:rPr>
              <a:t>CREATE2</a:t>
            </a:r>
            <a:r>
              <a:rPr lang="en-US" b="0" dirty="0">
                <a:solidFill>
                  <a:srgbClr val="1E293B"/>
                </a:solidFill>
                <a:latin typeface="Arial" panose="020B0604020202020204" pitchFamily="34" charset="0"/>
                <a:cs typeface="Arial" panose="020B0604020202020204" pitchFamily="34" charset="0"/>
              </a:rPr>
              <a:t>: Đối chiếu deployer + salt + init-code hash; không phụ thuộc nonce.</a:t>
            </a:r>
            <a:endParaRPr lang="en-US" sz="1600" dirty="0">
              <a:latin typeface="Arial" panose="020B0604020202020204" pitchFamily="34" charset="0"/>
              <a:cs typeface="Arial" panose="020B0604020202020204" pitchFamily="34" charset="0"/>
            </a:endParaRPr>
          </a:p>
          <a:p>
            <a:pPr algn="just">
              <a:spcAft>
                <a:spcPts val="1100"/>
              </a:spcAft>
            </a:pPr>
            <a:r>
              <a:rPr lang="en-US" b="0" dirty="0">
                <a:solidFill>
                  <a:srgbClr val="1E293B"/>
                </a:solidFill>
                <a:latin typeface="Arial" panose="020B0604020202020204" pitchFamily="34" charset="0"/>
                <a:cs typeface="Arial" panose="020B0604020202020204" pitchFamily="34" charset="0"/>
              </a:rPr>
              <a:t>• </a:t>
            </a:r>
            <a:r>
              <a:rPr lang="en-US" b="1" dirty="0">
                <a:solidFill>
                  <a:srgbClr val="1E293B"/>
                </a:solidFill>
                <a:latin typeface="Arial" panose="020B0604020202020204" pitchFamily="34" charset="0"/>
                <a:cs typeface="Arial" panose="020B0604020202020204" pitchFamily="34" charset="0"/>
              </a:rPr>
              <a:t>Đầu ra</a:t>
            </a:r>
            <a:r>
              <a:rPr lang="en-US" b="0" dirty="0">
                <a:solidFill>
                  <a:srgbClr val="1E293B"/>
                </a:solidFill>
                <a:latin typeface="Arial" panose="020B0604020202020204" pitchFamily="34" charset="0"/>
                <a:cs typeface="Arial" panose="020B0604020202020204" pitchFamily="34" charset="0"/>
              </a:rPr>
              <a:t>: Phân biệt address có nguy cơ tái triển khai với trường hợp chỉ kẹt tiền.</a:t>
            </a:r>
            <a:endParaRPr lang="en-US" sz="4000" dirty="0">
              <a:effectLst/>
              <a:latin typeface="Arial" panose="020B0604020202020204" pitchFamily="34" charset="0"/>
              <a:cs typeface="Arial" panose="020B0604020202020204" pitchFamily="34" charset="0"/>
            </a:endParaRPr>
          </a:p>
        </p:txBody>
      </p:sp>
      <p:sp>
        <p:nvSpPr>
          <p:cNvPr id="108" name="Rounded Rectangle 107"/>
          <p:cNvSpPr/>
          <p:nvPr/>
        </p:nvSpPr>
        <p:spPr>
          <a:xfrm>
            <a:off x="6299200" y="1920240"/>
            <a:ext cx="5176520" cy="4297680"/>
          </a:xfrm>
          <a:prstGeom prst="roundRect">
            <a:avLst/>
          </a:prstGeom>
          <a:solidFill>
            <a:srgbClr val="FEF3C7"/>
          </a:solidFill>
          <a:ln w="2286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p:cNvSpPr/>
          <p:nvPr/>
        </p:nvSpPr>
        <p:spPr>
          <a:xfrm>
            <a:off x="6492240" y="2148840"/>
            <a:ext cx="4663440" cy="411480"/>
          </a:xfrm>
          <a:prstGeom prst="roundRect">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D97706"/>
                </a:solidFill>
                <a:latin typeface="Arial"/>
              </a:rPr>
              <a:t>PHÒNG VỆ CHỦ ĐỘNG</a:t>
            </a:r>
          </a:p>
        </p:txBody>
      </p:sp>
      <p:sp>
        <p:nvSpPr>
          <p:cNvPr id="110" name="TextBox 109"/>
          <p:cNvSpPr txBox="1"/>
          <p:nvPr/>
        </p:nvSpPr>
        <p:spPr>
          <a:xfrm>
            <a:off x="6492240" y="2697480"/>
            <a:ext cx="3837654" cy="430887"/>
          </a:xfrm>
          <a:prstGeom prst="rect">
            <a:avLst/>
          </a:prstGeom>
          <a:noFill/>
        </p:spPr>
        <p:txBody>
          <a:bodyPr wrap="none">
            <a:spAutoFit/>
          </a:bodyPr>
          <a:lstStyle/>
          <a:p>
            <a:pPr>
              <a:defRPr sz="1900" b="1">
                <a:solidFill>
                  <a:srgbClr val="0F172A"/>
                </a:solidFill>
                <a:latin typeface="Arial"/>
              </a:defRPr>
            </a:pPr>
            <a:r>
              <a:rPr sz="2200" b="1" dirty="0">
                <a:solidFill>
                  <a:srgbClr val="0F172A"/>
                </a:solidFill>
                <a:latin typeface="Arial"/>
              </a:rPr>
              <a:t>2. WALLET-SIDE WARNING</a:t>
            </a:r>
          </a:p>
        </p:txBody>
      </p:sp>
      <p:sp>
        <p:nvSpPr>
          <p:cNvPr id="111" name="TextBox 110"/>
          <p:cNvSpPr txBox="1"/>
          <p:nvPr/>
        </p:nvSpPr>
        <p:spPr>
          <a:xfrm>
            <a:off x="6492240" y="3291840"/>
            <a:ext cx="4663440" cy="2731517"/>
          </a:xfrm>
          <a:prstGeom prst="rect">
            <a:avLst/>
          </a:prstGeom>
          <a:noFill/>
        </p:spPr>
        <p:txBody>
          <a:bodyPr wrap="square">
            <a:spAutoFit/>
          </a:bodyPr>
          <a:lstStyle/>
          <a:p>
            <a:pPr algn="just">
              <a:spcAft>
                <a:spcPts val="1100"/>
              </a:spcAft>
            </a:pPr>
            <a:r>
              <a:rPr b="0" dirty="0">
                <a:solidFill>
                  <a:srgbClr val="1E293B"/>
                </a:solidFill>
                <a:latin typeface="Arial"/>
              </a:rPr>
              <a:t>• </a:t>
            </a:r>
            <a:r>
              <a:rPr b="1" dirty="0" err="1">
                <a:solidFill>
                  <a:srgbClr val="1E293B"/>
                </a:solidFill>
                <a:latin typeface="Arial"/>
              </a:rPr>
              <a:t>Mục</a:t>
            </a:r>
            <a:r>
              <a:rPr b="1" dirty="0">
                <a:solidFill>
                  <a:srgbClr val="1E293B"/>
                </a:solidFill>
                <a:latin typeface="Arial"/>
              </a:rPr>
              <a:t> </a:t>
            </a:r>
            <a:r>
              <a:rPr b="1" dirty="0" err="1">
                <a:solidFill>
                  <a:srgbClr val="1E293B"/>
                </a:solidFill>
                <a:latin typeface="Arial"/>
              </a:rPr>
              <a:t>tiêu</a:t>
            </a:r>
            <a:r>
              <a:rPr b="0" dirty="0">
                <a:solidFill>
                  <a:srgbClr val="1E293B"/>
                </a:solidFill>
                <a:latin typeface="Arial"/>
              </a:rPr>
              <a:t>: </a:t>
            </a:r>
            <a:r>
              <a:rPr b="0" dirty="0" err="1">
                <a:solidFill>
                  <a:srgbClr val="1E293B"/>
                </a:solidFill>
                <a:latin typeface="Arial"/>
              </a:rPr>
              <a:t>Cảnh</a:t>
            </a:r>
            <a:r>
              <a:rPr b="0" dirty="0">
                <a:solidFill>
                  <a:srgbClr val="1E293B"/>
                </a:solidFill>
                <a:latin typeface="Arial"/>
              </a:rPr>
              <a:t> </a:t>
            </a:r>
            <a:r>
              <a:rPr b="0" dirty="0" err="1">
                <a:solidFill>
                  <a:srgbClr val="1E293B"/>
                </a:solidFill>
                <a:latin typeface="Arial"/>
              </a:rPr>
              <a:t>báo</a:t>
            </a:r>
            <a:r>
              <a:rPr b="0" dirty="0">
                <a:solidFill>
                  <a:srgbClr val="1E293B"/>
                </a:solidFill>
                <a:latin typeface="Arial"/>
              </a:rPr>
              <a:t> </a:t>
            </a:r>
            <a:r>
              <a:rPr b="0" dirty="0" err="1">
                <a:solidFill>
                  <a:srgbClr val="1E293B"/>
                </a:solidFill>
                <a:latin typeface="Arial"/>
              </a:rPr>
              <a:t>ngay</a:t>
            </a:r>
            <a:r>
              <a:rPr b="0" dirty="0">
                <a:solidFill>
                  <a:srgbClr val="1E293B"/>
                </a:solidFill>
                <a:latin typeface="Arial"/>
              </a:rPr>
              <a:t> </a:t>
            </a:r>
            <a:r>
              <a:rPr b="0" dirty="0" err="1">
                <a:solidFill>
                  <a:srgbClr val="1E293B"/>
                </a:solidFill>
                <a:latin typeface="Arial"/>
              </a:rPr>
              <a:t>trước</a:t>
            </a:r>
            <a:r>
              <a:rPr b="0" dirty="0">
                <a:solidFill>
                  <a:srgbClr val="1E293B"/>
                </a:solidFill>
                <a:latin typeface="Arial"/>
              </a:rPr>
              <a:t> </a:t>
            </a:r>
            <a:r>
              <a:rPr b="0" dirty="0" err="1">
                <a:solidFill>
                  <a:srgbClr val="1E293B"/>
                </a:solidFill>
                <a:latin typeface="Arial"/>
              </a:rPr>
              <a:t>khi</a:t>
            </a:r>
            <a:r>
              <a:rPr b="0" dirty="0">
                <a:solidFill>
                  <a:srgbClr val="1E293B"/>
                </a:solidFill>
                <a:latin typeface="Arial"/>
              </a:rPr>
              <a:t> </a:t>
            </a:r>
            <a:r>
              <a:rPr b="0" dirty="0" err="1">
                <a:solidFill>
                  <a:srgbClr val="1E293B"/>
                </a:solidFill>
                <a:latin typeface="Arial"/>
              </a:rPr>
              <a:t>ký</a:t>
            </a:r>
            <a:r>
              <a:rPr b="0" dirty="0">
                <a:solidFill>
                  <a:srgbClr val="1E293B"/>
                </a:solidFill>
                <a:latin typeface="Arial"/>
              </a:rPr>
              <a:t> </a:t>
            </a:r>
            <a:r>
              <a:rPr b="0" dirty="0" err="1">
                <a:solidFill>
                  <a:srgbClr val="1E293B"/>
                </a:solidFill>
                <a:latin typeface="Arial"/>
              </a:rPr>
              <a:t>nếu</a:t>
            </a:r>
            <a:r>
              <a:rPr b="0" dirty="0">
                <a:solidFill>
                  <a:srgbClr val="1E293B"/>
                </a:solidFill>
                <a:latin typeface="Arial"/>
              </a:rPr>
              <a:t> target address </a:t>
            </a:r>
            <a:r>
              <a:rPr b="0" dirty="0" err="1">
                <a:solidFill>
                  <a:srgbClr val="1E293B"/>
                </a:solidFill>
                <a:latin typeface="Arial"/>
              </a:rPr>
              <a:t>có</a:t>
            </a:r>
            <a:r>
              <a:rPr b="0" dirty="0">
                <a:solidFill>
                  <a:srgbClr val="1E293B"/>
                </a:solidFill>
                <a:latin typeface="Arial"/>
              </a:rPr>
              <a:t> </a:t>
            </a:r>
            <a:r>
              <a:rPr b="0" dirty="0" err="1">
                <a:solidFill>
                  <a:srgbClr val="1E293B"/>
                </a:solidFill>
                <a:latin typeface="Arial"/>
              </a:rPr>
              <a:t>dấu</a:t>
            </a:r>
            <a:r>
              <a:rPr b="0" dirty="0">
                <a:solidFill>
                  <a:srgbClr val="1E293B"/>
                </a:solidFill>
                <a:latin typeface="Arial"/>
              </a:rPr>
              <a:t> </a:t>
            </a:r>
            <a:r>
              <a:rPr b="0" dirty="0" err="1">
                <a:solidFill>
                  <a:srgbClr val="1E293B"/>
                </a:solidFill>
                <a:latin typeface="Arial"/>
              </a:rPr>
              <a:t>hiệu</a:t>
            </a:r>
            <a:r>
              <a:rPr b="0" dirty="0">
                <a:solidFill>
                  <a:srgbClr val="1E293B"/>
                </a:solidFill>
                <a:latin typeface="Arial"/>
              </a:rPr>
              <a:t> misuse.</a:t>
            </a:r>
          </a:p>
          <a:p>
            <a:pPr algn="just">
              <a:spcAft>
                <a:spcPts val="1100"/>
              </a:spcAft>
            </a:pPr>
            <a:r>
              <a:rPr b="0" dirty="0">
                <a:solidFill>
                  <a:srgbClr val="1E293B"/>
                </a:solidFill>
                <a:latin typeface="Arial"/>
              </a:rPr>
              <a:t>• </a:t>
            </a:r>
            <a:r>
              <a:rPr b="1" dirty="0">
                <a:solidFill>
                  <a:srgbClr val="1E293B"/>
                </a:solidFill>
                <a:latin typeface="Arial"/>
              </a:rPr>
              <a:t>3 </a:t>
            </a:r>
            <a:r>
              <a:rPr b="1" dirty="0" err="1">
                <a:solidFill>
                  <a:srgbClr val="1E293B"/>
                </a:solidFill>
                <a:latin typeface="Arial"/>
              </a:rPr>
              <a:t>quyết</a:t>
            </a:r>
            <a:r>
              <a:rPr b="1" dirty="0">
                <a:solidFill>
                  <a:srgbClr val="1E293B"/>
                </a:solidFill>
                <a:latin typeface="Arial"/>
              </a:rPr>
              <a:t> </a:t>
            </a:r>
            <a:r>
              <a:rPr b="1" dirty="0" err="1">
                <a:solidFill>
                  <a:srgbClr val="1E293B"/>
                </a:solidFill>
                <a:latin typeface="Arial"/>
              </a:rPr>
              <a:t>định</a:t>
            </a:r>
            <a:r>
              <a:rPr b="0" dirty="0">
                <a:solidFill>
                  <a:srgbClr val="1E293B"/>
                </a:solidFill>
                <a:latin typeface="Arial"/>
              </a:rPr>
              <a:t>: ALLOW / WARN / BLOCK </a:t>
            </a:r>
            <a:r>
              <a:rPr b="0" dirty="0" err="1">
                <a:solidFill>
                  <a:srgbClr val="1E293B"/>
                </a:solidFill>
                <a:latin typeface="Arial"/>
              </a:rPr>
              <a:t>dựa</a:t>
            </a:r>
            <a:r>
              <a:rPr b="0" dirty="0">
                <a:solidFill>
                  <a:srgbClr val="1E293B"/>
                </a:solidFill>
                <a:latin typeface="Arial"/>
              </a:rPr>
              <a:t> </a:t>
            </a:r>
            <a:r>
              <a:rPr b="0" dirty="0" err="1">
                <a:solidFill>
                  <a:srgbClr val="1E293B"/>
                </a:solidFill>
                <a:latin typeface="Arial"/>
              </a:rPr>
              <a:t>trên</a:t>
            </a:r>
            <a:r>
              <a:rPr b="0" dirty="0">
                <a:solidFill>
                  <a:srgbClr val="1E293B"/>
                </a:solidFill>
                <a:latin typeface="Arial"/>
              </a:rPr>
              <a:t> </a:t>
            </a:r>
            <a:r>
              <a:rPr b="0" dirty="0" err="1">
                <a:solidFill>
                  <a:srgbClr val="1E293B"/>
                </a:solidFill>
                <a:latin typeface="Arial"/>
              </a:rPr>
              <a:t>bằng</a:t>
            </a:r>
            <a:r>
              <a:rPr b="0" dirty="0">
                <a:solidFill>
                  <a:srgbClr val="1E293B"/>
                </a:solidFill>
                <a:latin typeface="Arial"/>
              </a:rPr>
              <a:t> </a:t>
            </a:r>
            <a:r>
              <a:rPr b="0" dirty="0" err="1">
                <a:solidFill>
                  <a:srgbClr val="1E293B"/>
                </a:solidFill>
                <a:latin typeface="Arial"/>
              </a:rPr>
              <a:t>chứng</a:t>
            </a:r>
            <a:r>
              <a:rPr b="0" dirty="0">
                <a:solidFill>
                  <a:srgbClr val="1E293B"/>
                </a:solidFill>
                <a:latin typeface="Arial"/>
              </a:rPr>
              <a:t> </a:t>
            </a:r>
            <a:r>
              <a:rPr b="0" dirty="0" err="1">
                <a:solidFill>
                  <a:srgbClr val="1E293B"/>
                </a:solidFill>
                <a:latin typeface="Arial"/>
              </a:rPr>
              <a:t>từ</a:t>
            </a:r>
            <a:r>
              <a:rPr b="0" dirty="0">
                <a:solidFill>
                  <a:srgbClr val="1E293B"/>
                </a:solidFill>
                <a:latin typeface="Arial"/>
              </a:rPr>
              <a:t> detector.</a:t>
            </a:r>
          </a:p>
          <a:p>
            <a:pPr algn="just">
              <a:spcAft>
                <a:spcPts val="1100"/>
              </a:spcAft>
            </a:pPr>
            <a:r>
              <a:rPr b="0" dirty="0">
                <a:solidFill>
                  <a:srgbClr val="1E293B"/>
                </a:solidFill>
                <a:latin typeface="Arial"/>
              </a:rPr>
              <a:t>• </a:t>
            </a:r>
            <a:r>
              <a:rPr b="1" dirty="0" err="1">
                <a:solidFill>
                  <a:srgbClr val="1E293B"/>
                </a:solidFill>
                <a:latin typeface="Arial"/>
              </a:rPr>
              <a:t>Kiểm</a:t>
            </a:r>
            <a:r>
              <a:rPr b="1" dirty="0">
                <a:solidFill>
                  <a:srgbClr val="1E293B"/>
                </a:solidFill>
                <a:latin typeface="Arial"/>
              </a:rPr>
              <a:t> </a:t>
            </a:r>
            <a:r>
              <a:rPr b="1" dirty="0" err="1">
                <a:solidFill>
                  <a:srgbClr val="1E293B"/>
                </a:solidFill>
                <a:latin typeface="Arial"/>
              </a:rPr>
              <a:t>tra</a:t>
            </a:r>
            <a:r>
              <a:rPr b="0" dirty="0">
                <a:solidFill>
                  <a:srgbClr val="1E293B"/>
                </a:solidFill>
                <a:latin typeface="Arial"/>
              </a:rPr>
              <a:t>: </a:t>
            </a:r>
            <a:r>
              <a:rPr b="0" dirty="0" err="1">
                <a:solidFill>
                  <a:srgbClr val="1E293B"/>
                </a:solidFill>
                <a:latin typeface="Arial"/>
              </a:rPr>
              <a:t>chainId</a:t>
            </a:r>
            <a:r>
              <a:rPr b="0" dirty="0">
                <a:solidFill>
                  <a:srgbClr val="1E293B"/>
                </a:solidFill>
                <a:latin typeface="Arial"/>
              </a:rPr>
              <a:t>, to, data, value </a:t>
            </a:r>
            <a:r>
              <a:rPr b="0" dirty="0" err="1">
                <a:solidFill>
                  <a:srgbClr val="1E293B"/>
                </a:solidFill>
                <a:latin typeface="Arial"/>
              </a:rPr>
              <a:t>và</a:t>
            </a:r>
            <a:r>
              <a:rPr b="0" dirty="0">
                <a:solidFill>
                  <a:srgbClr val="1E293B"/>
                </a:solidFill>
                <a:latin typeface="Arial"/>
              </a:rPr>
              <a:t> </a:t>
            </a:r>
            <a:r>
              <a:rPr b="0" dirty="0" err="1">
                <a:solidFill>
                  <a:srgbClr val="1E293B"/>
                </a:solidFill>
                <a:latin typeface="Arial"/>
              </a:rPr>
              <a:t>trạng</a:t>
            </a:r>
            <a:r>
              <a:rPr b="0" dirty="0">
                <a:solidFill>
                  <a:srgbClr val="1E293B"/>
                </a:solidFill>
                <a:latin typeface="Arial"/>
              </a:rPr>
              <a:t> </a:t>
            </a:r>
            <a:r>
              <a:rPr b="0" dirty="0" err="1">
                <a:solidFill>
                  <a:srgbClr val="1E293B"/>
                </a:solidFill>
                <a:latin typeface="Arial"/>
              </a:rPr>
              <a:t>thái</a:t>
            </a:r>
            <a:r>
              <a:rPr b="0" dirty="0">
                <a:solidFill>
                  <a:srgbClr val="1E293B"/>
                </a:solidFill>
                <a:latin typeface="Arial"/>
              </a:rPr>
              <a:t> contract </a:t>
            </a:r>
            <a:r>
              <a:rPr b="0" dirty="0" err="1">
                <a:solidFill>
                  <a:srgbClr val="1E293B"/>
                </a:solidFill>
                <a:latin typeface="Arial"/>
              </a:rPr>
              <a:t>trên</a:t>
            </a:r>
            <a:r>
              <a:rPr b="0" dirty="0">
                <a:solidFill>
                  <a:srgbClr val="1E293B"/>
                </a:solidFill>
                <a:latin typeface="Arial"/>
              </a:rPr>
              <a:t> </a:t>
            </a:r>
            <a:r>
              <a:rPr b="0" dirty="0" err="1">
                <a:solidFill>
                  <a:srgbClr val="1E293B"/>
                </a:solidFill>
                <a:latin typeface="Arial"/>
              </a:rPr>
              <a:t>các</a:t>
            </a:r>
            <a:r>
              <a:rPr b="0" dirty="0">
                <a:solidFill>
                  <a:srgbClr val="1E293B"/>
                </a:solidFill>
                <a:latin typeface="Arial"/>
              </a:rPr>
              <a:t> chain.</a:t>
            </a:r>
          </a:p>
          <a:p>
            <a:pPr algn="just">
              <a:spcAft>
                <a:spcPts val="1100"/>
              </a:spcAft>
            </a:pPr>
            <a:r>
              <a:rPr b="0" dirty="0">
                <a:solidFill>
                  <a:srgbClr val="1E293B"/>
                </a:solidFill>
                <a:latin typeface="Arial"/>
              </a:rPr>
              <a:t>• </a:t>
            </a:r>
            <a:r>
              <a:rPr b="1" dirty="0">
                <a:solidFill>
                  <a:srgbClr val="1E293B"/>
                </a:solidFill>
                <a:latin typeface="Arial"/>
              </a:rPr>
              <a:t>EIP-7702</a:t>
            </a:r>
            <a:r>
              <a:rPr b="0" dirty="0">
                <a:solidFill>
                  <a:srgbClr val="1E293B"/>
                </a:solidFill>
                <a:latin typeface="Arial"/>
              </a:rPr>
              <a:t>: </a:t>
            </a:r>
            <a:r>
              <a:rPr b="0" dirty="0" err="1">
                <a:solidFill>
                  <a:srgbClr val="1E293B"/>
                </a:solidFill>
                <a:latin typeface="Arial"/>
              </a:rPr>
              <a:t>Cảnh</a:t>
            </a:r>
            <a:r>
              <a:rPr b="0" dirty="0">
                <a:solidFill>
                  <a:srgbClr val="1E293B"/>
                </a:solidFill>
                <a:latin typeface="Arial"/>
              </a:rPr>
              <a:t> </a:t>
            </a:r>
            <a:r>
              <a:rPr b="0" dirty="0" err="1">
                <a:solidFill>
                  <a:srgbClr val="1E293B"/>
                </a:solidFill>
                <a:latin typeface="Arial"/>
              </a:rPr>
              <a:t>báo</a:t>
            </a:r>
            <a:r>
              <a:rPr b="0" dirty="0">
                <a:solidFill>
                  <a:srgbClr val="1E293B"/>
                </a:solidFill>
                <a:latin typeface="Arial"/>
              </a:rPr>
              <a:t> </a:t>
            </a:r>
            <a:r>
              <a:rPr b="0" dirty="0" err="1">
                <a:solidFill>
                  <a:srgbClr val="1E293B"/>
                </a:solidFill>
                <a:latin typeface="Arial"/>
              </a:rPr>
              <a:t>khi</a:t>
            </a:r>
            <a:r>
              <a:rPr b="0" dirty="0">
                <a:solidFill>
                  <a:srgbClr val="1E293B"/>
                </a:solidFill>
                <a:latin typeface="Arial"/>
              </a:rPr>
              <a:t> EOA </a:t>
            </a:r>
            <a:r>
              <a:rPr b="0" dirty="0" err="1">
                <a:solidFill>
                  <a:srgbClr val="1E293B"/>
                </a:solidFill>
                <a:latin typeface="Arial"/>
              </a:rPr>
              <a:t>được</a:t>
            </a:r>
            <a:r>
              <a:rPr b="0" dirty="0">
                <a:solidFill>
                  <a:srgbClr val="1E293B"/>
                </a:solidFill>
                <a:latin typeface="Arial"/>
              </a:rPr>
              <a:t> delegate </a:t>
            </a:r>
            <a:r>
              <a:rPr b="0" dirty="0" err="1">
                <a:solidFill>
                  <a:srgbClr val="1E293B"/>
                </a:solidFill>
                <a:latin typeface="Arial"/>
              </a:rPr>
              <a:t>tới</a:t>
            </a:r>
            <a:r>
              <a:rPr b="0" dirty="0">
                <a:solidFill>
                  <a:srgbClr val="1E293B"/>
                </a:solidFill>
                <a:latin typeface="Arial"/>
              </a:rPr>
              <a:t> contract </a:t>
            </a:r>
            <a:r>
              <a:rPr b="0" dirty="0" err="1">
                <a:solidFill>
                  <a:srgbClr val="1E293B"/>
                </a:solidFill>
                <a:latin typeface="Arial"/>
              </a:rPr>
              <a:t>có</a:t>
            </a:r>
            <a:r>
              <a:rPr b="0" dirty="0">
                <a:solidFill>
                  <a:srgbClr val="1E293B"/>
                </a:solidFill>
                <a:latin typeface="Arial"/>
              </a:rPr>
              <a:t> </a:t>
            </a:r>
            <a:r>
              <a:rPr b="0" dirty="0" err="1">
                <a:solidFill>
                  <a:srgbClr val="1E293B"/>
                </a:solidFill>
                <a:latin typeface="Arial"/>
              </a:rPr>
              <a:t>hành</a:t>
            </a:r>
            <a:r>
              <a:rPr b="0" dirty="0">
                <a:solidFill>
                  <a:srgbClr val="1E293B"/>
                </a:solidFill>
                <a:latin typeface="Arial"/>
              </a:rPr>
              <a:t> vi sweep.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20040"/>
            <a:ext cx="3474720" cy="347472"/>
          </a:xfrm>
          <a:prstGeom prst="roundRect">
            <a:avLst/>
          </a:prstGeom>
          <a:solidFill>
            <a:srgbClr val="EEF2FF"/>
          </a:solidFill>
          <a:ln w="15240">
            <a:solidFill>
              <a:srgbClr val="A5B4F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4F46E5"/>
                </a:solidFill>
                <a:latin typeface="Arial"/>
              </a:defRPr>
            </a:pPr>
            <a:r>
              <a:rPr sz="850" b="1">
                <a:solidFill>
                  <a:srgbClr val="4F46E5"/>
                </a:solidFill>
                <a:latin typeface="Arial"/>
              </a:rPr>
              <a:t>[#]  ROADMAP &amp; TAKEAWAYS</a:t>
            </a:r>
          </a:p>
        </p:txBody>
      </p:sp>
      <p:sp>
        <p:nvSpPr>
          <p:cNvPr id="4" name="TextBox 3"/>
          <p:cNvSpPr txBox="1"/>
          <p:nvPr/>
        </p:nvSpPr>
        <p:spPr>
          <a:xfrm>
            <a:off x="731520" y="713232"/>
            <a:ext cx="10789920" cy="492443"/>
          </a:xfrm>
          <a:prstGeom prst="rect">
            <a:avLst/>
          </a:prstGeom>
          <a:noFill/>
        </p:spPr>
        <p:txBody>
          <a:bodyPr wrap="square" lIns="0" tIns="0" rIns="0" bIns="0">
            <a:spAutoFit/>
          </a:bodyPr>
          <a:lstStyle/>
          <a:p>
            <a:r>
              <a:rPr sz="3200" b="1" dirty="0" err="1">
                <a:solidFill>
                  <a:srgbClr val="0F172A"/>
                </a:solidFill>
                <a:latin typeface="Arial"/>
              </a:rPr>
              <a:t>Kết</a:t>
            </a:r>
            <a:r>
              <a:rPr sz="3200" b="1" dirty="0">
                <a:solidFill>
                  <a:srgbClr val="0F172A"/>
                </a:solidFill>
                <a:latin typeface="Arial"/>
              </a:rPr>
              <a:t> </a:t>
            </a:r>
            <a:r>
              <a:rPr sz="3200" b="1" dirty="0" err="1">
                <a:solidFill>
                  <a:srgbClr val="0F172A"/>
                </a:solidFill>
                <a:latin typeface="Arial"/>
              </a:rPr>
              <a:t>luận</a:t>
            </a:r>
            <a:endParaRPr sz="3200" b="1" dirty="0">
              <a:solidFill>
                <a:srgbClr val="0F172A"/>
              </a:solidFill>
              <a:latin typeface="Arial"/>
            </a:endParaRPr>
          </a:p>
        </p:txBody>
      </p:sp>
      <p:sp>
        <p:nvSpPr>
          <p:cNvPr id="103" name="WavyLine_103"/>
          <p:cNvSpPr/>
          <p:nvPr/>
        </p:nvSpPr>
        <p:spPr>
          <a:xfrm>
            <a:off x="731520" y="1536192"/>
            <a:ext cx="7150608" cy="152400"/>
          </a:xfrm>
          <a:custGeom>
            <a:avLst/>
            <a:gdLst/>
            <a:ahLst/>
            <a:cxnLst/>
            <a:rect l="0" t="0" r="7150608" b="152400"/>
            <a:pathLst>
              <a:path w="7150608" h="152400" fill="none">
                <a:moveTo>
                  <a:pt x="0" y="76200"/>
                </a:moveTo>
                <a:cubicBezTo>
                  <a:pt x="59436" y="12700"/>
                  <a:pt x="59436" y="12700"/>
                  <a:pt x="118872" y="76200"/>
                </a:cubicBezTo>
                <a:cubicBezTo>
                  <a:pt x="178308" y="139700"/>
                  <a:pt x="178308" y="139700"/>
                  <a:pt x="237744" y="76200"/>
                </a:cubicBezTo>
                <a:cubicBezTo>
                  <a:pt x="297180" y="12700"/>
                  <a:pt x="297180" y="12700"/>
                  <a:pt x="356616" y="76200"/>
                </a:cubicBezTo>
                <a:cubicBezTo>
                  <a:pt x="416052" y="139700"/>
                  <a:pt x="416052" y="139700"/>
                  <a:pt x="475488" y="76200"/>
                </a:cubicBezTo>
                <a:cubicBezTo>
                  <a:pt x="534924" y="12700"/>
                  <a:pt x="534924" y="12700"/>
                  <a:pt x="594360" y="76200"/>
                </a:cubicBezTo>
                <a:cubicBezTo>
                  <a:pt x="653796" y="139700"/>
                  <a:pt x="653796" y="139700"/>
                  <a:pt x="713232" y="76200"/>
                </a:cubicBezTo>
                <a:cubicBezTo>
                  <a:pt x="772668" y="12700"/>
                  <a:pt x="772668" y="12700"/>
                  <a:pt x="832104" y="76200"/>
                </a:cubicBezTo>
                <a:cubicBezTo>
                  <a:pt x="891540" y="139700"/>
                  <a:pt x="891540" y="139700"/>
                  <a:pt x="950976" y="76200"/>
                </a:cubicBezTo>
                <a:cubicBezTo>
                  <a:pt x="1010412" y="12700"/>
                  <a:pt x="1010412" y="12700"/>
                  <a:pt x="1069848" y="76200"/>
                </a:cubicBezTo>
                <a:cubicBezTo>
                  <a:pt x="1129284" y="139700"/>
                  <a:pt x="1129284" y="139700"/>
                  <a:pt x="1188720" y="76200"/>
                </a:cubicBezTo>
                <a:cubicBezTo>
                  <a:pt x="1248156" y="12700"/>
                  <a:pt x="1248156" y="12700"/>
                  <a:pt x="1307592" y="76200"/>
                </a:cubicBezTo>
                <a:cubicBezTo>
                  <a:pt x="1367028" y="139700"/>
                  <a:pt x="1367028" y="139700"/>
                  <a:pt x="1426464" y="76200"/>
                </a:cubicBezTo>
                <a:cubicBezTo>
                  <a:pt x="1485900" y="12700"/>
                  <a:pt x="1485900" y="12700"/>
                  <a:pt x="1545336" y="76200"/>
                </a:cubicBezTo>
                <a:cubicBezTo>
                  <a:pt x="1604772" y="139700"/>
                  <a:pt x="1604772" y="139700"/>
                  <a:pt x="1664208" y="76200"/>
                </a:cubicBezTo>
                <a:cubicBezTo>
                  <a:pt x="1723644" y="12700"/>
                  <a:pt x="1723644" y="12700"/>
                  <a:pt x="1783080" y="76200"/>
                </a:cubicBezTo>
                <a:cubicBezTo>
                  <a:pt x="1842516" y="139700"/>
                  <a:pt x="1842516" y="139700"/>
                  <a:pt x="1901952" y="76200"/>
                </a:cubicBezTo>
                <a:cubicBezTo>
                  <a:pt x="1961388" y="12700"/>
                  <a:pt x="1961388" y="12700"/>
                  <a:pt x="2020824" y="76200"/>
                </a:cubicBezTo>
                <a:cubicBezTo>
                  <a:pt x="2080260" y="139700"/>
                  <a:pt x="2080260" y="139700"/>
                  <a:pt x="2139696" y="76200"/>
                </a:cubicBezTo>
                <a:cubicBezTo>
                  <a:pt x="2199132" y="12700"/>
                  <a:pt x="2199132" y="12700"/>
                  <a:pt x="2258568" y="76200"/>
                </a:cubicBezTo>
                <a:cubicBezTo>
                  <a:pt x="2318004" y="139700"/>
                  <a:pt x="2318004" y="139700"/>
                  <a:pt x="2377440" y="76200"/>
                </a:cubicBezTo>
                <a:cubicBezTo>
                  <a:pt x="2436876" y="12700"/>
                  <a:pt x="2436876" y="12700"/>
                  <a:pt x="2496312" y="76200"/>
                </a:cubicBezTo>
                <a:cubicBezTo>
                  <a:pt x="2555748" y="139700"/>
                  <a:pt x="2555748" y="139700"/>
                  <a:pt x="2615184" y="76200"/>
                </a:cubicBezTo>
                <a:cubicBezTo>
                  <a:pt x="2674620" y="12700"/>
                  <a:pt x="2674620" y="12700"/>
                  <a:pt x="2734056" y="76200"/>
                </a:cubicBezTo>
                <a:cubicBezTo>
                  <a:pt x="2793492" y="139700"/>
                  <a:pt x="2793492" y="139700"/>
                  <a:pt x="2852928" y="76200"/>
                </a:cubicBezTo>
                <a:cubicBezTo>
                  <a:pt x="2912364" y="12700"/>
                  <a:pt x="2912364" y="12700"/>
                  <a:pt x="2971800" y="76200"/>
                </a:cubicBezTo>
                <a:cubicBezTo>
                  <a:pt x="3031236" y="139700"/>
                  <a:pt x="3031236" y="139700"/>
                  <a:pt x="3090672" y="76200"/>
                </a:cubicBezTo>
                <a:cubicBezTo>
                  <a:pt x="3150108" y="12700"/>
                  <a:pt x="3150108" y="12700"/>
                  <a:pt x="3209544" y="76200"/>
                </a:cubicBezTo>
                <a:cubicBezTo>
                  <a:pt x="3268980" y="139700"/>
                  <a:pt x="3268980" y="139700"/>
                  <a:pt x="3328416" y="76200"/>
                </a:cubicBezTo>
                <a:cubicBezTo>
                  <a:pt x="3387852" y="12700"/>
                  <a:pt x="3387852" y="12700"/>
                  <a:pt x="3447288" y="76200"/>
                </a:cubicBezTo>
                <a:cubicBezTo>
                  <a:pt x="3506724" y="139700"/>
                  <a:pt x="3506724" y="139700"/>
                  <a:pt x="3566160" y="76200"/>
                </a:cubicBezTo>
                <a:cubicBezTo>
                  <a:pt x="3625596" y="12700"/>
                  <a:pt x="3625596" y="12700"/>
                  <a:pt x="3685032" y="76200"/>
                </a:cubicBezTo>
                <a:cubicBezTo>
                  <a:pt x="3744468" y="139700"/>
                  <a:pt x="3744468" y="139700"/>
                  <a:pt x="3803904" y="76200"/>
                </a:cubicBezTo>
                <a:cubicBezTo>
                  <a:pt x="3863340" y="12700"/>
                  <a:pt x="3863340" y="12700"/>
                  <a:pt x="3922776" y="76200"/>
                </a:cubicBezTo>
                <a:cubicBezTo>
                  <a:pt x="3982212" y="139700"/>
                  <a:pt x="3982212" y="139700"/>
                  <a:pt x="4041648" y="76200"/>
                </a:cubicBezTo>
                <a:cubicBezTo>
                  <a:pt x="4101084" y="12700"/>
                  <a:pt x="4101084" y="12700"/>
                  <a:pt x="4160520" y="76200"/>
                </a:cubicBezTo>
                <a:cubicBezTo>
                  <a:pt x="4219956" y="139700"/>
                  <a:pt x="4219956" y="139700"/>
                  <a:pt x="4279392" y="76200"/>
                </a:cubicBezTo>
                <a:cubicBezTo>
                  <a:pt x="4338828" y="12700"/>
                  <a:pt x="4338828" y="12700"/>
                  <a:pt x="4398264" y="76200"/>
                </a:cubicBezTo>
                <a:cubicBezTo>
                  <a:pt x="4457700" y="139700"/>
                  <a:pt x="4457700" y="139700"/>
                  <a:pt x="4517136" y="76200"/>
                </a:cubicBezTo>
                <a:cubicBezTo>
                  <a:pt x="4576572" y="12700"/>
                  <a:pt x="4576572" y="12700"/>
                  <a:pt x="4636008" y="76200"/>
                </a:cubicBezTo>
                <a:cubicBezTo>
                  <a:pt x="4695444" y="139700"/>
                  <a:pt x="4695444" y="139700"/>
                  <a:pt x="4754880" y="76200"/>
                </a:cubicBezTo>
                <a:cubicBezTo>
                  <a:pt x="4814316" y="12700"/>
                  <a:pt x="4814316" y="12700"/>
                  <a:pt x="4873752" y="76200"/>
                </a:cubicBezTo>
                <a:cubicBezTo>
                  <a:pt x="4933188" y="139700"/>
                  <a:pt x="4933188" y="139700"/>
                  <a:pt x="4992624" y="76200"/>
                </a:cubicBezTo>
                <a:cubicBezTo>
                  <a:pt x="5052060" y="12700"/>
                  <a:pt x="5052060" y="12700"/>
                  <a:pt x="5111496" y="76200"/>
                </a:cubicBezTo>
                <a:cubicBezTo>
                  <a:pt x="5170932" y="139700"/>
                  <a:pt x="5170932" y="139700"/>
                  <a:pt x="5230368" y="76200"/>
                </a:cubicBezTo>
                <a:cubicBezTo>
                  <a:pt x="5289804" y="12700"/>
                  <a:pt x="5289804" y="12700"/>
                  <a:pt x="5349240" y="76200"/>
                </a:cubicBezTo>
                <a:cubicBezTo>
                  <a:pt x="5408676" y="139700"/>
                  <a:pt x="5408676" y="139700"/>
                  <a:pt x="5468112" y="76200"/>
                </a:cubicBezTo>
                <a:cubicBezTo>
                  <a:pt x="5527548" y="12700"/>
                  <a:pt x="5527548" y="12700"/>
                  <a:pt x="5586984" y="76200"/>
                </a:cubicBezTo>
                <a:cubicBezTo>
                  <a:pt x="5646420" y="139700"/>
                  <a:pt x="5646420" y="139700"/>
                  <a:pt x="5705856" y="76200"/>
                </a:cubicBezTo>
                <a:cubicBezTo>
                  <a:pt x="5765292" y="12700"/>
                  <a:pt x="5765292" y="12700"/>
                  <a:pt x="5824728" y="76200"/>
                </a:cubicBezTo>
                <a:cubicBezTo>
                  <a:pt x="5884164" y="139700"/>
                  <a:pt x="5884164" y="139700"/>
                  <a:pt x="5943600" y="76200"/>
                </a:cubicBezTo>
                <a:cubicBezTo>
                  <a:pt x="6003036" y="12700"/>
                  <a:pt x="6003036" y="12700"/>
                  <a:pt x="6062472" y="76200"/>
                </a:cubicBezTo>
                <a:cubicBezTo>
                  <a:pt x="6121908" y="139700"/>
                  <a:pt x="6121908" y="139700"/>
                  <a:pt x="6181344" y="76200"/>
                </a:cubicBezTo>
                <a:cubicBezTo>
                  <a:pt x="6240780" y="12700"/>
                  <a:pt x="6240780" y="12700"/>
                  <a:pt x="6300216" y="76200"/>
                </a:cubicBezTo>
                <a:cubicBezTo>
                  <a:pt x="6359652" y="139700"/>
                  <a:pt x="6359652" y="139700"/>
                  <a:pt x="6419088" y="76200"/>
                </a:cubicBezTo>
                <a:cubicBezTo>
                  <a:pt x="6478524" y="12700"/>
                  <a:pt x="6478524" y="12700"/>
                  <a:pt x="6537960" y="76200"/>
                </a:cubicBezTo>
                <a:cubicBezTo>
                  <a:pt x="6597396" y="139700"/>
                  <a:pt x="6597396" y="139700"/>
                  <a:pt x="6656832" y="76200"/>
                </a:cubicBezTo>
                <a:cubicBezTo>
                  <a:pt x="6716268" y="12700"/>
                  <a:pt x="6716268" y="12700"/>
                  <a:pt x="6775704" y="76200"/>
                </a:cubicBezTo>
                <a:cubicBezTo>
                  <a:pt x="6835140" y="139700"/>
                  <a:pt x="6835140" y="139700"/>
                  <a:pt x="6894576" y="76200"/>
                </a:cubicBezTo>
                <a:cubicBezTo>
                  <a:pt x="6954012" y="12700"/>
                  <a:pt x="6954012" y="12700"/>
                  <a:pt x="7013448" y="76200"/>
                </a:cubicBezTo>
                <a:cubicBezTo>
                  <a:pt x="7072884" y="139700"/>
                  <a:pt x="7072884" y="139700"/>
                  <a:pt x="7132320" y="76200"/>
                </a:cubicBezTo>
              </a:path>
            </a:pathLst>
          </a:custGeom>
          <a:ln w="42000">
            <a:solidFill>
              <a:srgbClr val="4F46E5"/>
            </a:solidFill>
            <a:round/>
          </a:ln>
        </p:spPr>
        <p:txBody>
          <a:bodyPr/>
          <a:lstStyle/>
          <a:p>
            <a:endParaRPr lang="en-US"/>
          </a:p>
        </p:txBody>
      </p:sp>
      <p:sp>
        <p:nvSpPr>
          <p:cNvPr id="108" name="Rounded Rectangle 107"/>
          <p:cNvSpPr/>
          <p:nvPr/>
        </p:nvSpPr>
        <p:spPr>
          <a:xfrm>
            <a:off x="538480" y="1920240"/>
            <a:ext cx="11328400" cy="4537026"/>
          </a:xfrm>
          <a:prstGeom prst="roundRect">
            <a:avLst/>
          </a:prstGeom>
          <a:solidFill>
            <a:srgbClr val="D1FAE5"/>
          </a:solidFill>
          <a:ln w="254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p:cNvSpPr/>
          <p:nvPr/>
        </p:nvSpPr>
        <p:spPr>
          <a:xfrm>
            <a:off x="1219200" y="2079297"/>
            <a:ext cx="9672320" cy="411480"/>
          </a:xfrm>
          <a:prstGeom prst="roundRect">
            <a:avLst/>
          </a:prstGeom>
          <a:solidFill>
            <a:srgbClr val="FFFFFF"/>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Arial"/>
              </a:defRPr>
            </a:pPr>
            <a:r>
              <a:rPr sz="1600" b="1" dirty="0">
                <a:solidFill>
                  <a:srgbClr val="10B981"/>
                </a:solidFill>
                <a:latin typeface="Arial"/>
              </a:rPr>
              <a:t>[*]  TỔNG KẾT &amp; TẦM NHÌN</a:t>
            </a:r>
          </a:p>
        </p:txBody>
      </p:sp>
      <p:sp>
        <p:nvSpPr>
          <p:cNvPr id="110" name="TextBox 109"/>
          <p:cNvSpPr txBox="1"/>
          <p:nvPr/>
        </p:nvSpPr>
        <p:spPr>
          <a:xfrm>
            <a:off x="1219200" y="2619164"/>
            <a:ext cx="9672320" cy="430887"/>
          </a:xfrm>
          <a:prstGeom prst="rect">
            <a:avLst/>
          </a:prstGeom>
          <a:noFill/>
        </p:spPr>
        <p:txBody>
          <a:bodyPr wrap="square">
            <a:spAutoFit/>
          </a:bodyPr>
          <a:lstStyle/>
          <a:p>
            <a:pPr algn="ctr">
              <a:defRPr sz="2200" b="1">
                <a:solidFill>
                  <a:srgbClr val="0F172A"/>
                </a:solidFill>
                <a:latin typeface="Arial"/>
              </a:defRPr>
            </a:pPr>
            <a:r>
              <a:rPr b="1" dirty="0">
                <a:solidFill>
                  <a:srgbClr val="0F172A"/>
                </a:solidFill>
                <a:latin typeface="Arial"/>
              </a:rPr>
              <a:t>THÔNG ĐIỆP KẾT LUẬN</a:t>
            </a:r>
          </a:p>
        </p:txBody>
      </p:sp>
      <p:sp>
        <p:nvSpPr>
          <p:cNvPr id="111" name="TextBox 110"/>
          <p:cNvSpPr txBox="1"/>
          <p:nvPr/>
        </p:nvSpPr>
        <p:spPr>
          <a:xfrm>
            <a:off x="1087120" y="3637856"/>
            <a:ext cx="10302240" cy="1661993"/>
          </a:xfrm>
          <a:prstGeom prst="rect">
            <a:avLst/>
          </a:prstGeom>
          <a:noFill/>
        </p:spPr>
        <p:txBody>
          <a:bodyPr wrap="square">
            <a:spAutoFit/>
          </a:bodyPr>
          <a:lstStyle/>
          <a:p>
            <a:pPr algn="just">
              <a:spcAft>
                <a:spcPts val="1200"/>
              </a:spcAft>
            </a:pPr>
            <a:r>
              <a:rPr b="0" dirty="0">
                <a:solidFill>
                  <a:srgbClr val="1E293B"/>
                </a:solidFill>
                <a:latin typeface="Arial"/>
              </a:rPr>
              <a:t>• Paper cho thấy Address Misuse xuất hiện trên quy mô lớn và gây tổn thất tài sản đáng kể.</a:t>
            </a:r>
          </a:p>
          <a:p>
            <a:pPr algn="just">
              <a:spcAft>
                <a:spcPts val="1200"/>
              </a:spcAft>
            </a:pPr>
            <a:r>
              <a:rPr b="0" dirty="0">
                <a:solidFill>
                  <a:srgbClr val="1E293B"/>
                </a:solidFill>
                <a:latin typeface="Arial"/>
              </a:rPr>
              <a:t>• Hai vector tấn công mới: CREATE-based CA trap và EIP-7702-based EOA theft.</a:t>
            </a:r>
          </a:p>
          <a:p>
            <a:pPr algn="just">
              <a:spcAft>
                <a:spcPts val="1200"/>
              </a:spcAft>
            </a:pPr>
            <a:r>
              <a:rPr b="0" dirty="0">
                <a:solidFill>
                  <a:srgbClr val="1E293B"/>
                </a:solidFill>
                <a:latin typeface="Arial"/>
              </a:rPr>
              <a:t>• Bài học cốt lõi: cùng một address có thể có semantics khác nhau giữa các chain.</a:t>
            </a:r>
          </a:p>
          <a:p>
            <a:pPr algn="just">
              <a:spcAft>
                <a:spcPts val="1200"/>
              </a:spcAft>
            </a:pPr>
            <a:r>
              <a:rPr b="0" dirty="0">
                <a:solidFill>
                  <a:srgbClr val="1E293B"/>
                </a:solidFill>
                <a:latin typeface="Arial"/>
              </a:rPr>
              <a:t>• Hướng tiếp theo: Cross-chain consistency + Wallet-side Warning.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2323</Words>
  <Application>Microsoft Office PowerPoint</Application>
  <PresentationFormat>Widescreen</PresentationFormat>
  <Paragraphs>162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Nguyễn Hoàng Long</cp:lastModifiedBy>
  <cp:revision>31</cp:revision>
  <dcterms:created xsi:type="dcterms:W3CDTF">2013-01-27T09:14:16Z</dcterms:created>
  <dcterms:modified xsi:type="dcterms:W3CDTF">2026-10-02T07:56:00Z</dcterms:modified>
  <cp:category/>
</cp:coreProperties>
</file>